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7087457f3f44a9" /><Relationship Type="http://schemas.openxmlformats.org/officeDocument/2006/relationships/extended-properties" Target="/docProps/app.xml" Id="Rde69d2e3a68142ec" /><Relationship Type="http://schemas.openxmlformats.org/officeDocument/2006/relationships/officeDocument" Target="/ppt/presentation.xml" Id="R6f220260819948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7eaebe716f4cdd"/>
  </p:sldMasterIdLst>
  <p:notesMasterIdLst>
    <p:notesMasterId xmlns:r="http://schemas.openxmlformats.org/officeDocument/2006/relationships" r:id="R094fe958ef6448c7"/>
  </p:notesMasterIdLst>
  <p:sldIdLst>
    <p:sldId xmlns:r="http://schemas.openxmlformats.org/officeDocument/2006/relationships" id="256" r:id="Rd5859bb8a20849b7"/>
    <p:sldId xmlns:r="http://schemas.openxmlformats.org/officeDocument/2006/relationships" id="257" r:id="R463324f8b6224b37"/>
    <p:sldId xmlns:r="http://schemas.openxmlformats.org/officeDocument/2006/relationships" id="258" r:id="R9809f43968514a70"/>
    <p:sldId xmlns:r="http://schemas.openxmlformats.org/officeDocument/2006/relationships" id="259" r:id="Ra0d3df6abc9440f3"/>
    <p:sldId xmlns:r="http://schemas.openxmlformats.org/officeDocument/2006/relationships" id="260" r:id="Rb8fb5579a0b2412b"/>
    <p:sldId xmlns:r="http://schemas.openxmlformats.org/officeDocument/2006/relationships" id="261" r:id="Raf74f540309a4d5a"/>
    <p:sldId xmlns:r="http://schemas.openxmlformats.org/officeDocument/2006/relationships" id="262" r:id="R96a8cc74a13c498b"/>
    <p:sldId xmlns:r="http://schemas.openxmlformats.org/officeDocument/2006/relationships" id="263" r:id="R039ecc482c914041"/>
    <p:sldId xmlns:r="http://schemas.openxmlformats.org/officeDocument/2006/relationships" id="264" r:id="R56a1dfdbacb14808"/>
    <p:sldId xmlns:r="http://schemas.openxmlformats.org/officeDocument/2006/relationships" id="265" r:id="R79fa691a141f4c01"/>
    <p:sldId xmlns:r="http://schemas.openxmlformats.org/officeDocument/2006/relationships" id="266" r:id="Rca316fc5d6e64894"/>
    <p:sldId xmlns:r="http://schemas.openxmlformats.org/officeDocument/2006/relationships" id="267" r:id="R0f64168eff5d45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6d6dba287040b4" /><Relationship Type="http://schemas.openxmlformats.org/officeDocument/2006/relationships/slideMaster" Target="/ppt/slideMasters/slideMaster1.xml" Id="Ra47eaebe716f4cdd" /><Relationship Type="http://schemas.openxmlformats.org/officeDocument/2006/relationships/notesMaster" Target="/ppt/notesMasters/notesMaster1.xml" Id="R094fe958ef6448c7" /><Relationship Type="http://schemas.openxmlformats.org/officeDocument/2006/relationships/presProps" Target="/ppt/presProps.xml" Id="R3c8cfb241d5d42e5" /><Relationship Type="http://schemas.openxmlformats.org/officeDocument/2006/relationships/tableStyles" Target="/ppt/tableStyles.xml" Id="Rb43b3446a8114e3a" /><Relationship Type="http://schemas.openxmlformats.org/officeDocument/2006/relationships/slide" Target="/ppt/slides/slide1.xml" Id="Rd5859bb8a20849b7" /><Relationship Type="http://schemas.openxmlformats.org/officeDocument/2006/relationships/slide" Target="/ppt/slides/slide2.xml" Id="R463324f8b6224b37" /><Relationship Type="http://schemas.openxmlformats.org/officeDocument/2006/relationships/slide" Target="/ppt/slides/slide3.xml" Id="R9809f43968514a70" /><Relationship Type="http://schemas.openxmlformats.org/officeDocument/2006/relationships/slide" Target="/ppt/slides/slide4.xml" Id="Ra0d3df6abc9440f3" /><Relationship Type="http://schemas.openxmlformats.org/officeDocument/2006/relationships/slide" Target="/ppt/slides/slide5.xml" Id="Rb8fb5579a0b2412b" /><Relationship Type="http://schemas.openxmlformats.org/officeDocument/2006/relationships/slide" Target="/ppt/slides/slide6.xml" Id="Raf74f540309a4d5a" /><Relationship Type="http://schemas.openxmlformats.org/officeDocument/2006/relationships/slide" Target="/ppt/slides/slide7.xml" Id="R96a8cc74a13c498b" /><Relationship Type="http://schemas.openxmlformats.org/officeDocument/2006/relationships/slide" Target="/ppt/slides/slide8.xml" Id="R039ecc482c914041" /><Relationship Type="http://schemas.openxmlformats.org/officeDocument/2006/relationships/slide" Target="/ppt/slides/slide9.xml" Id="R56a1dfdbacb14808" /><Relationship Type="http://schemas.openxmlformats.org/officeDocument/2006/relationships/slide" Target="/ppt/slides/slide10.xml" Id="R79fa691a141f4c01" /><Relationship Type="http://schemas.openxmlformats.org/officeDocument/2006/relationships/slide" Target="/ppt/slides/slide11.xml" Id="Rca316fc5d6e64894" /><Relationship Type="http://schemas.openxmlformats.org/officeDocument/2006/relationships/slide" Target="/ppt/slides/slide12.xml" Id="R0f64168eff5d45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301ba8b58f43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98ede01384456d" /><Relationship Type="http://schemas.openxmlformats.org/officeDocument/2006/relationships/notesMaster" Target="/ppt/notesMasters/notesMaster1.xml" Id="R89e2b93dd34241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0f49f83d2548e3" /><Relationship Type="http://schemas.openxmlformats.org/officeDocument/2006/relationships/notesMaster" Target="/ppt/notesMasters/notesMaster1.xml" Id="R66ecba0c209042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16801f2e2c4775" /><Relationship Type="http://schemas.openxmlformats.org/officeDocument/2006/relationships/notesMaster" Target="/ppt/notesMasters/notesMaster1.xml" Id="R04aa176d43f047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025c7145d24148" /><Relationship Type="http://schemas.openxmlformats.org/officeDocument/2006/relationships/notesMaster" Target="/ppt/notesMasters/notesMaster1.xml" Id="R40605755d16c4e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ef9379ae6142a8" /><Relationship Type="http://schemas.openxmlformats.org/officeDocument/2006/relationships/notesMaster" Target="/ppt/notesMasters/notesMaster1.xml" Id="R7cde06bd165243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c4aefcdb6547ff" /><Relationship Type="http://schemas.openxmlformats.org/officeDocument/2006/relationships/notesMaster" Target="/ppt/notesMasters/notesMaster1.xml" Id="R56b20d8728fa4c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9fb84846c84494" /><Relationship Type="http://schemas.openxmlformats.org/officeDocument/2006/relationships/notesMaster" Target="/ppt/notesMasters/notesMaster1.xml" Id="R3571c778397741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d4ba8f0be442f2" /><Relationship Type="http://schemas.openxmlformats.org/officeDocument/2006/relationships/notesMaster" Target="/ppt/notesMasters/notesMaster1.xml" Id="Rde14a6678ec646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43c257842a046bb" /><Relationship Type="http://schemas.openxmlformats.org/officeDocument/2006/relationships/notesMaster" Target="/ppt/notesMasters/notesMaster1.xml" Id="Rf2f31d327102409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d71a38b6e7e4f6b" /><Relationship Type="http://schemas.openxmlformats.org/officeDocument/2006/relationships/notesMaster" Target="/ppt/notesMasters/notesMaster1.xml" Id="Rd8ece73a30424cc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e760170b5af4906" /><Relationship Type="http://schemas.openxmlformats.org/officeDocument/2006/relationships/notesMaster" Target="/ppt/notesMasters/notesMaster1.xml" Id="R42bb27ed860a405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8340b05cf564207" /><Relationship Type="http://schemas.openxmlformats.org/officeDocument/2006/relationships/notesMaster" Target="/ppt/notesMasters/notesMaster1.xml" Id="R27108568057547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as a technical student presentation. Keep the focus on design, implementation decisions, and FA-1 distributed systems concepts.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D:/Engg/diss/distributed_search_engine_project_context.md</a:t>
            </a:r>
          </a:p>
          <a:p xmlns:a="http://schemas.openxmlformats.org/drawingml/2006/main">
            <a:r>
              <a:t>D:/Engg/diss/distributed-search-engine/README.md</a:t>
            </a:r>
          </a:p>
          <a:p xmlns:a="http://schemas.openxmlformats.org/drawingml/2006/main">
            <a:r>
              <a:t>D:/Engg/diss/distributed-search-engine/app.py</a:t>
            </a:r>
          </a:p>
          <a:p xmlns:a="http://schemas.openxmlformats.org/drawingml/2006/main">
            <a:r>
              <a:t>D:/Engg/diss/distributed-search-engine/crawler/crawler.py</a:t>
            </a:r>
          </a:p>
          <a:p xmlns:a="http://schemas.openxmlformats.org/drawingml/2006/main">
            <a:r>
              <a:t>D:/Engg/diss/distributed-search-engine/parser/html_parser.py</a:t>
            </a:r>
          </a:p>
          <a:p xmlns:a="http://schemas.openxmlformats.org/drawingml/2006/main">
            <a:r>
              <a:t>D:/Engg/diss/distributed-search-engine/indexing/partitioner.py</a:t>
            </a:r>
          </a:p>
          <a:p xmlns:a="http://schemas.openxmlformats.org/drawingml/2006/main">
            <a:r>
              <a:t>D:/Engg/diss/distributed-search-engine/indexing/index_builder.py</a:t>
            </a:r>
          </a:p>
          <a:p xmlns:a="http://schemas.openxmlformats.org/drawingml/2006/main">
            <a:r>
              <a:t>Verified local command: python app.py stats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shift from one machine doing all storage and query work to independent nodes coordinated through communication.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D:/Engg/diss/distributed_search_engine_project_context.md</a:t>
            </a:r>
          </a:p>
          <a:p xmlns:a="http://schemas.openxmlformats.org/drawingml/2006/main">
            <a:r>
              <a:t>D:/Engg/diss/distributed-search-engine/README.md</a:t>
            </a:r>
          </a:p>
          <a:p xmlns:a="http://schemas.openxmlformats.org/drawingml/2006/main">
            <a:r>
              <a:t>D:/Engg/diss/distributed-search-engine/app.py</a:t>
            </a:r>
          </a:p>
          <a:p xmlns:a="http://schemas.openxmlformats.org/drawingml/2006/main">
            <a:r>
              <a:t>D:/Engg/diss/distributed-search-engine/crawler/crawler.py</a:t>
            </a:r>
          </a:p>
          <a:p xmlns:a="http://schemas.openxmlformats.org/drawingml/2006/main">
            <a:r>
              <a:t>D:/Engg/diss/distributed-search-engine/parser/html_parser.py</a:t>
            </a:r>
          </a:p>
          <a:p xmlns:a="http://schemas.openxmlformats.org/drawingml/2006/main">
            <a:r>
              <a:t>D:/Engg/diss/distributed-search-engine/indexing/partitioner.py</a:t>
            </a:r>
          </a:p>
          <a:p xmlns:a="http://schemas.openxmlformats.org/drawingml/2006/main">
            <a:r>
              <a:t>D:/Engg/diss/distributed-search-engine/indexing/index_builder.py</a:t>
            </a:r>
          </a:p>
          <a:p xmlns:a="http://schemas.openxmlformats.org/drawingml/2006/main">
            <a:r>
              <a:t>Verified local command: python app.py stats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boundary between Member 1 and Member 2 without making the deck look like separate files. The architecture is one linked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D:/Engg/diss/distributed_search_engine_project_context.md</a:t>
            </a:r>
          </a:p>
          <a:p xmlns:a="http://schemas.openxmlformats.org/drawingml/2006/main">
            <a:r>
              <a:t>D:/Engg/diss/distributed-search-engine/README.md</a:t>
            </a:r>
          </a:p>
          <a:p xmlns:a="http://schemas.openxmlformats.org/drawingml/2006/main">
            <a:r>
              <a:t>D:/Engg/diss/distributed-search-engine/app.py</a:t>
            </a:r>
          </a:p>
          <a:p xmlns:a="http://schemas.openxmlformats.org/drawingml/2006/main">
            <a:r>
              <a:t>D:/Engg/diss/distributed-search-engine/crawler/crawler.py</a:t>
            </a:r>
          </a:p>
          <a:p xmlns:a="http://schemas.openxmlformats.org/drawingml/2006/main">
            <a:r>
              <a:t>D:/Engg/diss/distributed-search-engine/parser/html_parser.py</a:t>
            </a:r>
          </a:p>
          <a:p xmlns:a="http://schemas.openxmlformats.org/drawingml/2006/main">
            <a:r>
              <a:t>D:/Engg/diss/distributed-search-engine/indexing/partitioner.py</a:t>
            </a:r>
          </a:p>
          <a:p xmlns:a="http://schemas.openxmlformats.org/drawingml/2006/main">
            <a:r>
              <a:t>D:/Engg/diss/distributed-search-engine/indexing/index_builder.py</a:t>
            </a:r>
          </a:p>
          <a:p xmlns:a="http://schemas.openxmlformats.org/drawingml/2006/main">
            <a:r>
              <a:t>Verified local command: python app.py stats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answer how two team members divided work while still building one connected distributed search engine.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D:/Engg/diss/distributed_search_engine_project_context.md</a:t>
            </a:r>
          </a:p>
          <a:p xmlns:a="http://schemas.openxmlformats.org/drawingml/2006/main">
            <a:r>
              <a:t>D:/Engg/diss/distributed-search-engine/README.md</a:t>
            </a:r>
          </a:p>
          <a:p xmlns:a="http://schemas.openxmlformats.org/drawingml/2006/main">
            <a:r>
              <a:t>D:/Engg/diss/distributed-search-engine/app.py</a:t>
            </a:r>
          </a:p>
          <a:p xmlns:a="http://schemas.openxmlformats.org/drawingml/2006/main">
            <a:r>
              <a:t>D:/Engg/diss/distributed-search-engine/crawler/crawler.py</a:t>
            </a:r>
          </a:p>
          <a:p xmlns:a="http://schemas.openxmlformats.org/drawingml/2006/main">
            <a:r>
              <a:t>D:/Engg/diss/distributed-search-engine/parser/html_parser.py</a:t>
            </a:r>
          </a:p>
          <a:p xmlns:a="http://schemas.openxmlformats.org/drawingml/2006/main">
            <a:r>
              <a:t>D:/Engg/diss/distributed-search-engine/indexing/partitioner.py</a:t>
            </a:r>
          </a:p>
          <a:p xmlns:a="http://schemas.openxmlformats.org/drawingml/2006/main">
            <a:r>
              <a:t>D:/Engg/diss/distributed-search-engine/indexing/index_builder.py</a:t>
            </a:r>
          </a:p>
          <a:p xmlns:a="http://schemas.openxmlformats.org/drawingml/2006/main">
            <a:r>
              <a:t>Verified local command: python app.py stats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modules from configured seed URLs to the generated indexes. Emphasize separation of concerns.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D:/Engg/diss/distributed_search_engine_project_context.md</a:t>
            </a:r>
          </a:p>
          <a:p xmlns:a="http://schemas.openxmlformats.org/drawingml/2006/main">
            <a:r>
              <a:t>D:/Engg/diss/distributed-search-engine/README.md</a:t>
            </a:r>
          </a:p>
          <a:p xmlns:a="http://schemas.openxmlformats.org/drawingml/2006/main">
            <a:r>
              <a:t>D:/Engg/diss/distributed-search-engine/app.py</a:t>
            </a:r>
          </a:p>
          <a:p xmlns:a="http://schemas.openxmlformats.org/drawingml/2006/main">
            <a:r>
              <a:t>D:/Engg/diss/distributed-search-engine/crawler/crawler.py</a:t>
            </a:r>
          </a:p>
          <a:p xmlns:a="http://schemas.openxmlformats.org/drawingml/2006/main">
            <a:r>
              <a:t>D:/Engg/diss/distributed-search-engine/parser/html_parser.py</a:t>
            </a:r>
          </a:p>
          <a:p xmlns:a="http://schemas.openxmlformats.org/drawingml/2006/main">
            <a:r>
              <a:t>D:/Engg/diss/distributed-search-engine/indexing/partitioner.py</a:t>
            </a:r>
          </a:p>
          <a:p xmlns:a="http://schemas.openxmlformats.org/drawingml/2006/main">
            <a:r>
              <a:t>D:/Engg/diss/distributed-search-engine/indexing/index_builder.py</a:t>
            </a:r>
          </a:p>
          <a:p xmlns:a="http://schemas.openxmlformats.org/drawingml/2006/main">
            <a:r>
              <a:t>Verified local command: python app.py stats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crawler is intentionally limited for an academic demo: it is controlled by configuration and produces repeatable offline input.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D:/Engg/diss/distributed_search_engine_project_context.md</a:t>
            </a:r>
          </a:p>
          <a:p xmlns:a="http://schemas.openxmlformats.org/drawingml/2006/main">
            <a:r>
              <a:t>D:/Engg/diss/distributed-search-engine/README.md</a:t>
            </a:r>
          </a:p>
          <a:p xmlns:a="http://schemas.openxmlformats.org/drawingml/2006/main">
            <a:r>
              <a:t>D:/Engg/diss/distributed-search-engine/app.py</a:t>
            </a:r>
          </a:p>
          <a:p xmlns:a="http://schemas.openxmlformats.org/drawingml/2006/main">
            <a:r>
              <a:t>D:/Engg/diss/distributed-search-engine/crawler/crawler.py</a:t>
            </a:r>
          </a:p>
          <a:p xmlns:a="http://schemas.openxmlformats.org/drawingml/2006/main">
            <a:r>
              <a:t>D:/Engg/diss/distributed-search-engine/parser/html_parser.py</a:t>
            </a:r>
          </a:p>
          <a:p xmlns:a="http://schemas.openxmlformats.org/drawingml/2006/main">
            <a:r>
              <a:t>D:/Engg/diss/distributed-search-engine/indexing/partitioner.py</a:t>
            </a:r>
          </a:p>
          <a:p xmlns:a="http://schemas.openxmlformats.org/drawingml/2006/main">
            <a:r>
              <a:t>D:/Engg/diss/distributed-search-engine/indexing/index_builder.py</a:t>
            </a:r>
          </a:p>
          <a:p xmlns:a="http://schemas.openxmlformats.org/drawingml/2006/main">
            <a:r>
              <a:t>Verified local command: python app.py stats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parser as the boundary between messy web pages and clean searchable documents.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D:/Engg/diss/distributed_search_engine_project_context.md</a:t>
            </a:r>
          </a:p>
          <a:p xmlns:a="http://schemas.openxmlformats.org/drawingml/2006/main">
            <a:r>
              <a:t>D:/Engg/diss/distributed-search-engine/README.md</a:t>
            </a:r>
          </a:p>
          <a:p xmlns:a="http://schemas.openxmlformats.org/drawingml/2006/main">
            <a:r>
              <a:t>D:/Engg/diss/distributed-search-engine/app.py</a:t>
            </a:r>
          </a:p>
          <a:p xmlns:a="http://schemas.openxmlformats.org/drawingml/2006/main">
            <a:r>
              <a:t>D:/Engg/diss/distributed-search-engine/crawler/crawler.py</a:t>
            </a:r>
          </a:p>
          <a:p xmlns:a="http://schemas.openxmlformats.org/drawingml/2006/main">
            <a:r>
              <a:t>D:/Engg/diss/distributed-search-engine/parser/html_parser.py</a:t>
            </a:r>
          </a:p>
          <a:p xmlns:a="http://schemas.openxmlformats.org/drawingml/2006/main">
            <a:r>
              <a:t>D:/Engg/diss/distributed-search-engine/indexing/partitioner.py</a:t>
            </a:r>
          </a:p>
          <a:p xmlns:a="http://schemas.openxmlformats.org/drawingml/2006/main">
            <a:r>
              <a:t>D:/Engg/diss/distributed-search-engine/indexing/index_builder.py</a:t>
            </a:r>
          </a:p>
          <a:p xmlns:a="http://schemas.openxmlformats.org/drawingml/2006/main">
            <a:r>
              <a:t>Verified local command: python app.py stats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each node holds a partition and builds a local inverted index. Global statistics keep scores comparable when results are merged.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D:/Engg/diss/distributed_search_engine_project_context.md</a:t>
            </a:r>
          </a:p>
          <a:p xmlns:a="http://schemas.openxmlformats.org/drawingml/2006/main">
            <a:r>
              <a:t>D:/Engg/diss/distributed-search-engine/README.md</a:t>
            </a:r>
          </a:p>
          <a:p xmlns:a="http://schemas.openxmlformats.org/drawingml/2006/main">
            <a:r>
              <a:t>D:/Engg/diss/distributed-search-engine/app.py</a:t>
            </a:r>
          </a:p>
          <a:p xmlns:a="http://schemas.openxmlformats.org/drawingml/2006/main">
            <a:r>
              <a:t>D:/Engg/diss/distributed-search-engine/crawler/crawler.py</a:t>
            </a:r>
          </a:p>
          <a:p xmlns:a="http://schemas.openxmlformats.org/drawingml/2006/main">
            <a:r>
              <a:t>D:/Engg/diss/distributed-search-engine/parser/html_parser.py</a:t>
            </a:r>
          </a:p>
          <a:p xmlns:a="http://schemas.openxmlformats.org/drawingml/2006/main">
            <a:r>
              <a:t>D:/Engg/diss/distributed-search-engine/indexing/partitioner.py</a:t>
            </a:r>
          </a:p>
          <a:p xmlns:a="http://schemas.openxmlformats.org/drawingml/2006/main">
            <a:r>
              <a:t>D:/Engg/diss/distributed-search-engine/indexing/index_builder.py</a:t>
            </a:r>
          </a:p>
          <a:p xmlns:a="http://schemas.openxmlformats.org/drawingml/2006/main">
            <a:r>
              <a:t>Verified local command: python app.py stats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connect Member 1 outputs to Unit 2 communication. The query path is the runtime layer built on top of the prepared indexes.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D:/Engg/diss/distributed_search_engine_project_context.md</a:t>
            </a:r>
          </a:p>
          <a:p xmlns:a="http://schemas.openxmlformats.org/drawingml/2006/main">
            <a:r>
              <a:t>D:/Engg/diss/distributed-search-engine/README.md</a:t>
            </a:r>
          </a:p>
          <a:p xmlns:a="http://schemas.openxmlformats.org/drawingml/2006/main">
            <a:r>
              <a:t>D:/Engg/diss/distributed-search-engine/app.py</a:t>
            </a:r>
          </a:p>
          <a:p xmlns:a="http://schemas.openxmlformats.org/drawingml/2006/main">
            <a:r>
              <a:t>D:/Engg/diss/distributed-search-engine/crawler/crawler.py</a:t>
            </a:r>
          </a:p>
          <a:p xmlns:a="http://schemas.openxmlformats.org/drawingml/2006/main">
            <a:r>
              <a:t>D:/Engg/diss/distributed-search-engine/parser/html_parser.py</a:t>
            </a:r>
          </a:p>
          <a:p xmlns:a="http://schemas.openxmlformats.org/drawingml/2006/main">
            <a:r>
              <a:t>D:/Engg/diss/distributed-search-engine/indexing/partitioner.py</a:t>
            </a:r>
          </a:p>
          <a:p xmlns:a="http://schemas.openxmlformats.org/drawingml/2006/main">
            <a:r>
              <a:t>D:/Engg/diss/distributed-search-engine/indexing/index_builder.py</a:t>
            </a:r>
          </a:p>
          <a:p xmlns:a="http://schemas.openxmlformats.org/drawingml/2006/main">
            <a:r>
              <a:t>Verified local command: python app.py stats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intended fault-tolerance behavior for the project. Member 1's independent shards make this possible because each node can work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D:/Engg/diss/distributed_search_engine_project_context.md</a:t>
            </a:r>
          </a:p>
          <a:p xmlns:a="http://schemas.openxmlformats.org/drawingml/2006/main">
            <a:r>
              <a:t>D:/Engg/diss/distributed-search-engine/README.md</a:t>
            </a:r>
          </a:p>
          <a:p xmlns:a="http://schemas.openxmlformats.org/drawingml/2006/main">
            <a:r>
              <a:t>D:/Engg/diss/distributed-search-engine/app.py</a:t>
            </a:r>
          </a:p>
          <a:p xmlns:a="http://schemas.openxmlformats.org/drawingml/2006/main">
            <a:r>
              <a:t>D:/Engg/diss/distributed-search-engine/crawler/crawler.py</a:t>
            </a:r>
          </a:p>
          <a:p xmlns:a="http://schemas.openxmlformats.org/drawingml/2006/main">
            <a:r>
              <a:t>D:/Engg/diss/distributed-search-engine/parser/html_parser.py</a:t>
            </a:r>
          </a:p>
          <a:p xmlns:a="http://schemas.openxmlformats.org/drawingml/2006/main">
            <a:r>
              <a:t>D:/Engg/diss/distributed-search-engine/indexing/partitioner.py</a:t>
            </a:r>
          </a:p>
          <a:p xmlns:a="http://schemas.openxmlformats.org/drawingml/2006/main">
            <a:r>
              <a:t>D:/Engg/diss/distributed-search-engine/indexing/index_builder.py</a:t>
            </a:r>
          </a:p>
          <a:p xmlns:a="http://schemas.openxmlformats.org/drawingml/2006/main">
            <a:r>
              <a:t>Verified local command: python app.py stats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for faculty alignment with FA-1 guidelines. Keep answers precise and tied to visible implementation pieces.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D:/Engg/diss/distributed_search_engine_project_context.md</a:t>
            </a:r>
          </a:p>
          <a:p xmlns:a="http://schemas.openxmlformats.org/drawingml/2006/main">
            <a:r>
              <a:t>D:/Engg/diss/distributed-search-engine/README.md</a:t>
            </a:r>
          </a:p>
          <a:p xmlns:a="http://schemas.openxmlformats.org/drawingml/2006/main">
            <a:r>
              <a:t>D:/Engg/diss/distributed-search-engine/app.py</a:t>
            </a:r>
          </a:p>
          <a:p xmlns:a="http://schemas.openxmlformats.org/drawingml/2006/main">
            <a:r>
              <a:t>D:/Engg/diss/distributed-search-engine/crawler/crawler.py</a:t>
            </a:r>
          </a:p>
          <a:p xmlns:a="http://schemas.openxmlformats.org/drawingml/2006/main">
            <a:r>
              <a:t>D:/Engg/diss/distributed-search-engine/parser/html_parser.py</a:t>
            </a:r>
          </a:p>
          <a:p xmlns:a="http://schemas.openxmlformats.org/drawingml/2006/main">
            <a:r>
              <a:t>D:/Engg/diss/distributed-search-engine/indexing/partitioner.py</a:t>
            </a:r>
          </a:p>
          <a:p xmlns:a="http://schemas.openxmlformats.org/drawingml/2006/main">
            <a:r>
              <a:t>D:/Engg/diss/distributed-search-engine/indexing/index_builder.py</a:t>
            </a:r>
          </a:p>
          <a:p xmlns:a="http://schemas.openxmlformats.org/drawingml/2006/main">
            <a:r>
              <a:t>Verified local command: python app.py stats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an evaluation-ready flow. The student should be able to run commands and explain each generated artifact.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D:/Engg/diss/distributed_search_engine_project_context.md</a:t>
            </a:r>
          </a:p>
          <a:p xmlns:a="http://schemas.openxmlformats.org/drawingml/2006/main">
            <a:r>
              <a:t>D:/Engg/diss/distributed-search-engine/README.md</a:t>
            </a:r>
          </a:p>
          <a:p xmlns:a="http://schemas.openxmlformats.org/drawingml/2006/main">
            <a:r>
              <a:t>D:/Engg/diss/distributed-search-engine/app.py</a:t>
            </a:r>
          </a:p>
          <a:p xmlns:a="http://schemas.openxmlformats.org/drawingml/2006/main">
            <a:r>
              <a:t>D:/Engg/diss/distributed-search-engine/crawler/crawler.py</a:t>
            </a:r>
          </a:p>
          <a:p xmlns:a="http://schemas.openxmlformats.org/drawingml/2006/main">
            <a:r>
              <a:t>D:/Engg/diss/distributed-search-engine/parser/html_parser.py</a:t>
            </a:r>
          </a:p>
          <a:p xmlns:a="http://schemas.openxmlformats.org/drawingml/2006/main">
            <a:r>
              <a:t>D:/Engg/diss/distributed-search-engine/indexing/partitioner.py</a:t>
            </a:r>
          </a:p>
          <a:p xmlns:a="http://schemas.openxmlformats.org/drawingml/2006/main">
            <a:r>
              <a:t>D:/Engg/diss/distributed-search-engine/indexing/index_builder.py</a:t>
            </a:r>
          </a:p>
          <a:p xmlns:a="http://schemas.openxmlformats.org/drawingml/2006/main">
            <a:r>
              <a:t>Verified local command: python app.py stats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6614452abd41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c6fddb2edb4b8c" /><Relationship Type="http://schemas.openxmlformats.org/officeDocument/2006/relationships/slideLayout" Target="/ppt/slideLayouts/slideLayout1.xml" Id="R2bc4f3a5e9c84b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c4f3a5e9c84b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b6e4124a5a4b7f" /><Relationship Type="http://schemas.openxmlformats.org/officeDocument/2006/relationships/notesSlide" Target="/ppt/notesSlides/notesSlide1.xml" Id="R41db029cecb744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7b20fb581c4815" /><Relationship Type="http://schemas.openxmlformats.org/officeDocument/2006/relationships/notesSlide" Target="/ppt/notesSlides/notesSlide2.xml" Id="R4e25be1233954c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e8f65c814e4607" /><Relationship Type="http://schemas.openxmlformats.org/officeDocument/2006/relationships/notesSlide" Target="/ppt/notesSlides/notesSlide3.xml" Id="Rf4cb33c952894f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c9113051b145f4" /><Relationship Type="http://schemas.openxmlformats.org/officeDocument/2006/relationships/notesSlide" Target="/ppt/notesSlides/notesSlide4.xml" Id="R902761c785274f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00d27f96b9471d" /><Relationship Type="http://schemas.openxmlformats.org/officeDocument/2006/relationships/notesSlide" Target="/ppt/notesSlides/notesSlide5.xml" Id="R1ab481d9e6eb47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0f122ccee84b14" /><Relationship Type="http://schemas.openxmlformats.org/officeDocument/2006/relationships/notesSlide" Target="/ppt/notesSlides/notesSlide6.xml" Id="Rfda18f4961c140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9368e65dc24ae3" /><Relationship Type="http://schemas.openxmlformats.org/officeDocument/2006/relationships/notesSlide" Target="/ppt/notesSlides/notesSlide7.xml" Id="Re0fa26f17bd148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5cfeda241a402b" /><Relationship Type="http://schemas.openxmlformats.org/officeDocument/2006/relationships/notesSlide" Target="/ppt/notesSlides/notesSlide8.xml" Id="R45358fba20ed4a6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7b58a3e2a94c40" /><Relationship Type="http://schemas.openxmlformats.org/officeDocument/2006/relationships/notesSlide" Target="/ppt/notesSlides/notesSlide9.xml" Id="Rc1bf6b173d1442f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70f36172eb4ca3" /><Relationship Type="http://schemas.openxmlformats.org/officeDocument/2006/relationships/notesSlide" Target="/ppt/notesSlides/notesSlide10.xml" Id="Rd3b7fd2febcf486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bbe97551fe49e8" /><Relationship Type="http://schemas.openxmlformats.org/officeDocument/2006/relationships/notesSlide" Target="/ppt/notesSlides/notesSlide11.xml" Id="R7e8001c261284c7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731698ec864aa1" /><Relationship Type="http://schemas.openxmlformats.org/officeDocument/2006/relationships/notesSlide" Target="/ppt/notesSlides/notesSlide12.xml" Id="Rb30c8e47b43a4c3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A41364-2F18-4D41-AA3E-E863CA7E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4E6ABD-26E2-4FD2-B3B6-3A5ADAA1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23950"/>
            <a:ext cx="8001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2A43"/>
                </a:solidFill>
              </a:defRPr>
            </a:pPr>
            <a:r>
              <a:rPr sz="3900" b="1">
                <a:solidFill>
                  <a:srgbClr val="102A43"/>
                </a:solidFill>
              </a:rPr>
              <a:t>Fault-Tolerant Distributed Search Engine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E42C5D-3781-49E4-A46A-DB69C665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96A7A"/>
                </a:solidFill>
              </a:defRPr>
            </a:pPr>
            <a:r>
              <a:rPr sz="1800" b="0">
                <a:solidFill>
                  <a:srgbClr val="596A7A"/>
                </a:solidFill>
              </a:rPr>
              <a:t>Partitioned indexing and parallel query processing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F5B4A1-96BA-4904-86E1-D8E14305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280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7C7B"/>
                </a:solidFill>
              </a:defRPr>
            </a:pPr>
            <a:r>
              <a:rPr sz="1500" b="1">
                <a:solidFill>
                  <a:srgbClr val="0E7C7B"/>
                </a:solidFill>
              </a:rPr>
              <a:t>FA-1 Technical Presentation | Distributed Systems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E68AF2-E606-4080-B6A8-154299CF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62100"/>
            <a:ext cx="2724150" cy="2838450"/>
          </a:xfrm>
          <a:prstGeom xmlns:a="http://schemas.openxmlformats.org/drawingml/2006/main" prst="roundRect">
            <a:avLst>
              <a:gd name="adj" fmla="val 34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6752ED-7CFC-47E8-A58D-E975B9CE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431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Presentation focus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D58C2B-4971-4052-A410-CD98337F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B8AB91-65C8-4945-8EA5-A0176B2F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479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system architecture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333DBF-B33F-4DDE-BCF2-1A8865A3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19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7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7988E4-41FA-46C1-99D4-EDFB3E57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432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Member 1 implementation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1CF98C-11D9-40A7-8F3B-7E5267C9E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14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115F19-8885-4060-B73D-26C93145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6385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FA-1 concepts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BFAC61-6C43-4E23-A498-417172DD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151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A7A"/>
                </a:solidFill>
              </a:defRPr>
            </a:pPr>
            <a:r>
              <a:rPr sz="975" b="0">
                <a:solidFill>
                  <a:srgbClr val="596A7A"/>
                </a:solidFill>
              </a:rPr>
              <a:t>Distributed Search Engine | FA-1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F88094-A381-49BF-B231-897CA3F5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96A7A"/>
                </a:solidFill>
              </a:defRPr>
            </a:pPr>
            <a:r>
              <a:rPr sz="1050" b="1">
                <a:solidFill>
                  <a:srgbClr val="596A7A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344644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D4DB0B-359B-4928-B94B-674461FB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Why search is a distributed-systems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195C34-71DC-428C-A835-78DE32AE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A7A"/>
                </a:solidFill>
              </a:defRPr>
            </a:pPr>
            <a:r>
              <a:rPr sz="1350" b="0">
                <a:solidFill>
                  <a:srgbClr val="596A7A"/>
                </a:solidFill>
              </a:rPr>
              <a:t>Large document collections create storage, processing, and availability challenges.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1FA767-82F2-461A-B442-9167355D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609832-1120-4C3A-9E01-602D4250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151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A7A"/>
                </a:solidFill>
              </a:defRPr>
            </a:pPr>
            <a:r>
              <a:rPr sz="975" b="0">
                <a:solidFill>
                  <a:srgbClr val="596A7A"/>
                </a:solidFill>
              </a:rPr>
              <a:t>Distributed Search Engine | FA-1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9A28AD-2A88-435C-A164-C60F2D4B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96A7A"/>
                </a:solidFill>
              </a:defRPr>
            </a:pPr>
            <a:r>
              <a:rPr sz="1050" b="1">
                <a:solidFill>
                  <a:srgbClr val="596A7A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EFCB92-A353-43D5-9D64-9D19A764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812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Centralized approach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1F0025-31A6-4EB4-89D8-4045ECB3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81300"/>
            <a:ext cx="1905000" cy="93345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Single server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index + queries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1F9A64-3F27-4D0B-A882-3BE8D38A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14750"/>
            <a:ext cx="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96A7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6DE416-546B-4D41-95FF-DA1E9AC1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76750"/>
            <a:ext cx="186690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2413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bottleneck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445FCD-2EAF-4A90-98CE-A0ECBB3E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5780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Limited CPU and storage; one failure can stop search.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D18999-03B6-49C3-AB03-EC0657AD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812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Distributed approach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61C47A-C01E-442E-95A2-1B9CD258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86050"/>
            <a:ext cx="16573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Coordinator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C623B9-4937-4288-83BF-4E1A0DD3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38600"/>
            <a:ext cx="125730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Node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C6A8B4-1CF8-42B3-BC6E-CA761D41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38600"/>
            <a:ext cx="125730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3267B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Node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9F339E-CD61-43A6-855C-8ED2E346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038600"/>
            <a:ext cx="125730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6C5C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Node 3</a:t>
            </a:r>
          </a:p>
        </p:txBody>
      </p:sp>
      <p:cxnSp>
        <p:nvCxnSpPr>
          <p:cNvPr id="35" name=""/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7200900" y="3238500"/>
            <a:ext cx="1724025" cy="8001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96A7A"/>
            </a:solidFill>
            <a:prstDash val="solid"/>
            <a:headEnd type="none" w="med" len="med"/>
          </a:ln>
        </p:spPr>
      </p:cxnSp>
      <p:cxnSp>
        <p:nvCxnSpPr>
          <p:cNvPr id="36" name=""/>
          <p:cNvCxnSpPr>
            <a:stCxn xmlns:a="http://schemas.openxmlformats.org/drawingml/2006/main" id="12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8924925" y="3238500"/>
            <a:ext cx="66675" cy="8001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96A7A"/>
            </a:solidFill>
            <a:prstDash val="solid"/>
            <a:headEnd type="none" w="med" len="med"/>
          </a:ln>
        </p:spPr>
      </p:cxnSp>
      <p:cxnSp>
        <p:nvCxnSpPr>
          <p:cNvPr id="37" name=""/>
          <p:cNvCxnSpPr>
            <a:stCxn xmlns:a="http://schemas.openxmlformats.org/drawingml/2006/main" id="12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8924925" y="3238500"/>
            <a:ext cx="1857375" cy="8001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96A7A"/>
            </a:solidFill>
            <a:prstDash val="solid"/>
            <a:headEnd type="non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B72E0F-8A0E-477C-9199-BC63DB60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578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Documents are partitioned; query work happens in parallel.</a:t>
            </a:r>
          </a:p>
        </p:txBody>
      </p:sp>
    </p:spTree>
    <p:extLst>
      <p:ext uri="{BB962C8B-B14F-4D97-AF65-F5344CB8AC3E}">
        <p14:creationId xmlns:p14="http://schemas.microsoft.com/office/powerpoint/2010/main" val="2345280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838A9A-E1F0-4594-A5EC-2130471D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Architecture separates indexing from query serving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A4010C-B542-4373-993B-79DDE061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A7A"/>
                </a:solidFill>
              </a:defRPr>
            </a:pPr>
            <a:r>
              <a:rPr sz="1350" b="0">
                <a:solidFill>
                  <a:srgbClr val="596A7A"/>
                </a:solidFill>
              </a:rPr>
              <a:t>FA-1 establishes the offline foundation; FA-2 can extend the online distributed runtime.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9AA72B-E127-43DA-A078-525C1D9B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8696D0-6631-464E-90DB-0C7782AC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151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A7A"/>
                </a:solidFill>
              </a:defRPr>
            </a:pPr>
            <a:r>
              <a:rPr sz="975" b="0">
                <a:solidFill>
                  <a:srgbClr val="596A7A"/>
                </a:solidFill>
              </a:rPr>
              <a:t>Distributed Search Engine | FA-1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76D05A-9442-4B18-A027-8FF0ECBB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96A7A"/>
                </a:solidFill>
              </a:defRPr>
            </a:pPr>
            <a:r>
              <a:rPr sz="1050" b="1">
                <a:solidFill>
                  <a:srgbClr val="596A7A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CDB7BC-C27B-4439-AB4C-A266CBB4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7C7B"/>
                </a:solidFill>
              </a:defRPr>
            </a:pPr>
            <a:r>
              <a:rPr sz="1875" b="1">
                <a:solidFill>
                  <a:srgbClr val="0E7C7B"/>
                </a:solidFill>
              </a:rPr>
              <a:t>Offline indexing 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352A1E-824B-4BC9-84BF-EC22C455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12573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Crawler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258CF6-9435-4E71-B416-A2BE11B9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990850"/>
            <a:ext cx="3429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96A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ABBC21-24C2-4B8F-B0A6-8E7CAA44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81300"/>
            <a:ext cx="12573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3267B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Parser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70EAA1-A9B5-49F8-81E0-8975F9E6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90850"/>
            <a:ext cx="3429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96A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CA0DF9-EADC-4AEB-8C48-C66DDFF0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781300"/>
            <a:ext cx="12573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6C5C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Partitioner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A409FD-C96E-4521-BFBC-F3E77BD5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990850"/>
            <a:ext cx="3429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96A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E37482-3E24-49F9-8103-583083E1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81300"/>
            <a:ext cx="12573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Index builder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211C3B-8562-40F1-A837-61EC080F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0"/>
            <a:ext cx="5695950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5F4"/>
          </a:solidFill>
          <a:ln xmlns:a="http://schemas.openxmlformats.org/drawingml/2006/main" w="9525">
            <a:solidFill>
              <a:srgbClr val="B8DE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9209A0-88CA-4FF1-B916-A94B6D27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672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Output: document shards + local inverted indexes + global statistics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3ADF3E-1591-473B-AAFA-5C3D4669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431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267B1"/>
                </a:solidFill>
              </a:defRPr>
            </a:pPr>
            <a:r>
              <a:rPr sz="1875" b="1">
                <a:solidFill>
                  <a:srgbClr val="3267B1"/>
                </a:solidFill>
              </a:rPr>
              <a:t>Online query path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4F3116-444B-4387-B07D-DCCE6C6B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24150"/>
            <a:ext cx="12001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Client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AE9FD5-C9CB-4584-A063-2858B595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24150"/>
            <a:ext cx="14287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Coordinator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A817CE-678E-4769-AE57-B41ACBFB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765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96A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C8291E-0B9B-4500-9B44-D20C541D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43350"/>
            <a:ext cx="139065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3267B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Search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nodes</a:t>
            </a:r>
          </a:p>
        </p:txBody>
      </p:sp>
      <p:cxnSp>
        <p:nvCxnSpPr>
          <p:cNvPr id="44" name=""/>
          <p:cNvCxnSpPr>
            <a:stCxn xmlns:a="http://schemas.openxmlformats.org/drawingml/2006/main" id="18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 flipH="1">
            <a:off x="9324975" y="3219450"/>
            <a:ext cx="800100" cy="7239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96A7A"/>
            </a:solidFill>
            <a:prstDash val="solid"/>
            <a:headEnd type="none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A128C2-8FBA-4848-A545-EEE6505A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86350"/>
            <a:ext cx="36576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2E158F-78A2-4AA4-AF90-704DB163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2578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gRPC calls and result aggregation are Member 2's runtime layer.</a:t>
            </a:r>
          </a:p>
        </p:txBody>
      </p:sp>
    </p:spTree>
    <p:extLst>
      <p:ext uri="{BB962C8B-B14F-4D97-AF65-F5344CB8AC3E}">
        <p14:creationId xmlns:p14="http://schemas.microsoft.com/office/powerpoint/2010/main" val="8913911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F18CD2-65FB-4A80-9CA6-A66253B7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Team split keeps one continuous system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84ED2F-CEE9-41F7-AE7E-97DA6712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A7A"/>
                </a:solidFill>
              </a:defRPr>
            </a:pPr>
            <a:r>
              <a:rPr sz="1350" b="0">
                <a:solidFill>
                  <a:srgbClr val="596A7A"/>
                </a:solidFill>
              </a:rPr>
              <a:t>Both members understand the whole design, but each part has a clear responsibility.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D4C584-62B9-4A87-9D28-A4F2AF6E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DFB8FB-8937-408A-8745-1F44DC15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151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A7A"/>
                </a:solidFill>
              </a:defRPr>
            </a:pPr>
            <a:r>
              <a:rPr sz="975" b="0">
                <a:solidFill>
                  <a:srgbClr val="596A7A"/>
                </a:solidFill>
              </a:rPr>
              <a:t>Distributed Search Engine | FA-1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899154-4120-4A3F-97A6-D612A0BB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96A7A"/>
                </a:solidFill>
              </a:defRPr>
            </a:pPr>
            <a:r>
              <a:rPr sz="1050" b="1">
                <a:solidFill>
                  <a:srgbClr val="596A7A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52BD36-A8C6-4801-8782-3323F107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431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7C7B"/>
                </a:solidFill>
              </a:defRPr>
            </a:pPr>
            <a:r>
              <a:rPr sz="1875" b="1">
                <a:solidFill>
                  <a:srgbClr val="0E7C7B"/>
                </a:solidFill>
              </a:rPr>
              <a:t>Member 1: data and indexing layer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225780-2951-4D77-AFAE-243706BF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67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6397B1-2041-4BDB-9D12-7675C7EF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908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controlled crawling and offline storage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481655-386D-456D-81EA-E0D3B5A1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00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EBFB80-BF23-4666-A8C4-2AFBEAAD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242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HTML parsing into document records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089620-B8EC-4D20-9BDD-F1274E19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58C7B0-EB3D-45CE-9738-EDBC6AA3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576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partitioned shards for future nodes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48897A-8216-4735-A1EA-640DEF24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67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B09863-9BD1-4B5C-A2ED-4D49BD58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910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local inverted indexes and global stats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6DABE0-4356-431E-849E-FAE0A6C5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431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267B1"/>
                </a:solidFill>
              </a:defRPr>
            </a:pPr>
            <a:r>
              <a:rPr sz="1875" b="1">
                <a:solidFill>
                  <a:srgbClr val="3267B1"/>
                </a:solidFill>
              </a:rPr>
              <a:t>Member 2: distributed query layer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4F7B88-B7E2-496C-A8AD-2AADA648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67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7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388EC0-728B-46C2-8991-76C2BE9C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908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gRPC services for search nodes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60C7E9-4D95-4E73-8F93-76C018C0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00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7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E9663C-E07E-4610-9319-DCAD476C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242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coordinator fan-out and merge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8B33DF-9BBC-43A2-80E3-9CF0B161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33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7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90898B-BB86-431A-9372-2AF32EA3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576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parallel query processing demo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ACD20B-A448-4DD1-B185-50E9F10B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67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7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CF2531-C6BF-4CED-9AF7-C236CA38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910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timeouts and partial-result handling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24FDBD-713D-41F7-84C4-608377C7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19700"/>
            <a:ext cx="66675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F8EA"/>
          </a:solidFill>
          <a:ln xmlns:a="http://schemas.openxmlformats.org/drawingml/2006/main" w="9525">
            <a:solidFill>
              <a:srgbClr val="F4D49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1A1E43-3EF3-4BC3-B7B4-7B5259C9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372100"/>
            <a:ext cx="598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2B"/>
                </a:solidFill>
              </a:defRPr>
            </a:pPr>
            <a:r>
              <a:rPr sz="1500" b="1">
                <a:solidFill>
                  <a:srgbClr val="17212B"/>
                </a:solidFill>
              </a:rPr>
              <a:t>Shared contract: node_id, shard file, local index file, result schema</a:t>
            </a:r>
          </a:p>
        </p:txBody>
      </p:sp>
    </p:spTree>
    <p:extLst>
      <p:ext uri="{BB962C8B-B14F-4D97-AF65-F5344CB8AC3E}">
        <p14:creationId xmlns:p14="http://schemas.microsoft.com/office/powerpoint/2010/main" val="4977887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EE2AC-9528-49D2-9069-EEA74D11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Member 1 pipeline creates the searchable corpus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76CF6F-98A9-4584-AF48-E6B128C0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A7A"/>
                </a:solidFill>
              </a:defRPr>
            </a:pPr>
            <a:r>
              <a:rPr sz="1350" b="0">
                <a:solidFill>
                  <a:srgbClr val="596A7A"/>
                </a:solidFill>
              </a:rPr>
              <a:t>The output of each stage becomes the input for the next stage.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B4940D-5A3E-4C2C-A4D9-E9B59625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A19450-CCCE-4FE9-9EB0-CA2BE929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151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A7A"/>
                </a:solidFill>
              </a:defRPr>
            </a:pPr>
            <a:r>
              <a:rPr sz="975" b="0">
                <a:solidFill>
                  <a:srgbClr val="596A7A"/>
                </a:solidFill>
              </a:rPr>
              <a:t>Distributed Search Engine | FA-1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B839FF-33A6-4390-B486-C4E72FBC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96A7A"/>
                </a:solidFill>
              </a:defRPr>
            </a:pPr>
            <a:r>
              <a:rPr sz="1050" b="1">
                <a:solidFill>
                  <a:srgbClr val="596A7A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5BA3EC-ED6A-4F4B-82CA-6BEBA600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12192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Seed URLs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881F97-42F1-487B-B316-C3368E2E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140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configured allowlist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69CDFD-0826-4541-8B4C-E1484355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533650"/>
            <a:ext cx="3429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96A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6C8025-6021-40F3-8DB8-F31A830D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62200"/>
            <a:ext cx="12192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Crawler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4BDAF8-BC07-4257-8BBD-3194D997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86100"/>
            <a:ext cx="140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robots, BFS, delay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C471A4-7EA2-4215-A54C-5214A105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533650"/>
            <a:ext cx="3429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96A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2926A1-1687-4BD6-AFF4-6CDA394F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62200"/>
            <a:ext cx="12192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Raw HTML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A89406-07B8-4190-BCCD-EB236D75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86100"/>
            <a:ext cx="140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offline page files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6C9C68-E2B8-4485-9021-C1265581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533650"/>
            <a:ext cx="3429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96A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FAFC03-B22C-4F67-A090-17283333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12192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3267B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Parser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320601-495F-4B0B-BBE6-CCAE16FB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86100"/>
            <a:ext cx="140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visible text extraction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FE6AD6-52C1-4EE8-BA00-7056BDC3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33650"/>
            <a:ext cx="3429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96A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CADFCD-195A-453A-B246-1B1A9C9F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62200"/>
            <a:ext cx="12192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6C5C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Documents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0A5957-EA3A-424F-BCC2-7AEE4408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86100"/>
            <a:ext cx="140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JSONL records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D45197-D29F-4AEE-B10D-DD225A6B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33650"/>
            <a:ext cx="3429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96A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75757D-3611-4D2B-B72E-9AEA9472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62200"/>
            <a:ext cx="12192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Indexes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8A73AA-876C-4E35-9725-C35983C6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086100"/>
            <a:ext cx="140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postings + IDF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C8B83F-2886-4BA6-9067-40B98044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76750"/>
            <a:ext cx="9144000" cy="762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486BB4-446D-4DE4-AA03-78EF6A0D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705350"/>
            <a:ext cx="830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Design decision: crawling, parsing, partitioning, and indexing are separate modules so each stage can be tested or replaced independently.</a:t>
            </a:r>
          </a:p>
        </p:txBody>
      </p:sp>
    </p:spTree>
    <p:extLst>
      <p:ext uri="{BB962C8B-B14F-4D97-AF65-F5344CB8AC3E}">
        <p14:creationId xmlns:p14="http://schemas.microsoft.com/office/powerpoint/2010/main" val="6640660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4F8DF3-34F4-4954-AA11-EB022298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Crawler design is controlled, polite, and reproducible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A9EB10-33EB-40E2-89BD-9BCE6C60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A7A"/>
                </a:solidFill>
              </a:defRPr>
            </a:pPr>
            <a:r>
              <a:rPr sz="1350" b="0">
                <a:solidFill>
                  <a:srgbClr val="596A7A"/>
                </a:solidFill>
              </a:rPr>
              <a:t>For FA-1, the crawler stores web pages offline before processing them.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BBC642-6AAC-4150-BC6F-3F8430AE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E192BF-A393-473F-8F5D-879E912F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151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A7A"/>
                </a:solidFill>
              </a:defRPr>
            </a:pPr>
            <a:r>
              <a:rPr sz="975" b="0">
                <a:solidFill>
                  <a:srgbClr val="596A7A"/>
                </a:solidFill>
              </a:rPr>
              <a:t>Distributed Search Engine | FA-1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545672-3933-4537-8D7F-2EF92634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96A7A"/>
                </a:solidFill>
              </a:defRPr>
            </a:pPr>
            <a:r>
              <a:rPr sz="1050" b="1">
                <a:solidFill>
                  <a:srgbClr val="596A7A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750804-6788-4F87-9EF4-45E36706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4000500" cy="3333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74A4B6-E8EC-4904-9C14-DAB270FF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241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Control rules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67D30A-1D04-4935-8618-116002AD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09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5F6514-08A9-47F7-ADB3-1FB5E221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9337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only allowed domains are visited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04BF8F-970F-4F64-89F6-DD5E3DB9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43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44EBCD-0CCE-4701-BC7D-6414FFFE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671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robots.txt is checked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45F657-F89A-40D1-8B21-450DE32C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76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76445B-FF5C-497C-A47C-42012D70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005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request delay prevents aggressive crawling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33B902-9B71-4EEC-BCB2-0C3BC76A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10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7F8F36-8877-45F9-908E-8A755B3D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339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HTML is saved before parsing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5F511B-9B28-4F49-AE98-15308725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002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Crawler sequence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1792B2-475E-49D8-A1F1-5B0962B5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05100"/>
            <a:ext cx="2000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3267B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queue URL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55CB80-3931-4900-BD78-E270F457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16230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96A7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33CA1E-ADA0-465F-9737-1242C8E1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48050"/>
            <a:ext cx="2000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fetch page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F0AD01-A026-4591-90A1-6BB694E8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90525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96A7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4F9B82-D4DA-4254-8C59-385239A3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91000"/>
            <a:ext cx="2000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3267B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extract links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3366E9-8453-4622-A51F-0F67B974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64820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96A7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730317-A42F-4067-91D5-003957E1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33950"/>
            <a:ext cx="2000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save metadata</a:t>
            </a:r>
          </a:p>
        </p:txBody>
      </p:sp>
    </p:spTree>
    <p:extLst>
      <p:ext uri="{BB962C8B-B14F-4D97-AF65-F5344CB8AC3E}">
        <p14:creationId xmlns:p14="http://schemas.microsoft.com/office/powerpoint/2010/main" val="18994064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ACB465-6AAA-42A6-B061-93DF5349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Parser converts HTML pages into logical documents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BAF857-FC00-45A3-AB85-AC5890EA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A7A"/>
                </a:solidFill>
              </a:defRPr>
            </a:pPr>
            <a:r>
              <a:rPr sz="1350" b="0">
                <a:solidFill>
                  <a:srgbClr val="596A7A"/>
                </a:solidFill>
              </a:rPr>
              <a:t>Indexing should work on clean text and stable metadata, not raw HTML.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1A8AA9-BA5A-4FF1-86EC-35FD18D0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3749B0-D9B5-4CE7-9B9A-26EEF0F4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151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A7A"/>
                </a:solidFill>
              </a:defRPr>
            </a:pPr>
            <a:r>
              <a:rPr sz="975" b="0">
                <a:solidFill>
                  <a:srgbClr val="596A7A"/>
                </a:solidFill>
              </a:rPr>
              <a:t>Distributed Search Engine | FA-1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21D8B0-9A20-447F-A4ED-294059EF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96A7A"/>
                </a:solidFill>
              </a:defRPr>
            </a:pPr>
            <a:r>
              <a:rPr sz="1050" b="1">
                <a:solidFill>
                  <a:srgbClr val="596A7A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7AF1A9-542C-4504-BB42-91A4ACC0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193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Raw HTML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59BC0B-E838-4981-930F-DC8C0D5D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3105150" cy="24765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EFF0AF-EA47-4C47-83D2-A617359A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14650"/>
            <a:ext cx="23812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&lt;html&gt;</a:t>
            </a:r>
          </a:p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  &lt;title&gt;...&lt;/title&gt;</a:t>
            </a:r>
          </a:p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  &lt;nav&gt;...&lt;/nav&gt;</a:t>
            </a:r>
          </a:p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  &lt;main&gt;</a:t>
            </a:r>
          </a:p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    Visible content</a:t>
            </a:r>
          </a:p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  &lt;/main&gt;</a:t>
            </a:r>
          </a:p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&lt;/html&gt;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B0ABF7-196B-4AF7-A92A-8FE26668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19500"/>
            <a:ext cx="6667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96A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CE3EC8-53D6-46F4-9395-D9837B6A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193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Document 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452E81-DADC-40E5-A203-C9F939FA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52700"/>
            <a:ext cx="4305300" cy="24765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4CDD3E-2F1A-4718-B2FA-F18D1079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76550"/>
            <a:ext cx="285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{</a:t>
            </a:r>
          </a:p>
          <a:p xmlns:a="http://schemas.openxmlformats.org/drawingml/2006/main">
            <a:pPr algn="l"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  doc_id,</a:t>
            </a:r>
          </a:p>
          <a:p xmlns:a="http://schemas.openxmlformats.org/drawingml/2006/main">
            <a:pPr algn="l"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  url,</a:t>
            </a:r>
          </a:p>
          <a:p xmlns:a="http://schemas.openxmlformats.org/drawingml/2006/main">
            <a:pPr algn="l"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  source_domain,</a:t>
            </a:r>
          </a:p>
          <a:p xmlns:a="http://schemas.openxmlformats.org/drawingml/2006/main">
            <a:pPr algn="l"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  title,</a:t>
            </a:r>
          </a:p>
          <a:p xmlns:a="http://schemas.openxmlformats.org/drawingml/2006/main">
            <a:pPr algn="l"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  text,</a:t>
            </a:r>
          </a:p>
          <a:p xmlns:a="http://schemas.openxmlformats.org/drawingml/2006/main">
            <a:pPr algn="l"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  token_count</a:t>
            </a:r>
          </a:p>
          <a:p xmlns:a="http://schemas.openxmlformats.org/drawingml/2006/main">
            <a:pPr algn="l"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B2115E-187F-46F3-9671-1578D16E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29250"/>
            <a:ext cx="765810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F5F4"/>
          </a:solidFill>
          <a:ln xmlns:a="http://schemas.openxmlformats.org/drawingml/2006/main" w="9525">
            <a:solidFill>
              <a:srgbClr val="B8DE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301EDA-7720-4667-83C3-73B74BCB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6260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This step makes search independent from website-specific HTML structure.</a:t>
            </a:r>
          </a:p>
        </p:txBody>
      </p:sp>
    </p:spTree>
    <p:extLst>
      <p:ext uri="{BB962C8B-B14F-4D97-AF65-F5344CB8AC3E}">
        <p14:creationId xmlns:p14="http://schemas.microsoft.com/office/powerpoint/2010/main" val="14787591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1F3730-78B2-4C75-B33E-207407FC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Partitioned inverted indexes make local node search possible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DF45E9-3F86-4620-8425-A7E1A2F3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A7A"/>
                </a:solidFill>
              </a:defRPr>
            </a:pPr>
            <a:r>
              <a:rPr sz="1350" b="0">
                <a:solidFill>
                  <a:srgbClr val="596A7A"/>
                </a:solidFill>
              </a:rPr>
              <a:t>Each search node can answer using only its shard and index.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E9590B-A8DE-458C-90E5-B7591A01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C426C1-090B-410A-8DAE-7D2FF0A9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151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A7A"/>
                </a:solidFill>
              </a:defRPr>
            </a:pPr>
            <a:r>
              <a:rPr sz="975" b="0">
                <a:solidFill>
                  <a:srgbClr val="596A7A"/>
                </a:solidFill>
              </a:rPr>
              <a:t>Distributed Search Engine | FA-1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206BEC-7459-493C-8BEA-240D79D5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96A7A"/>
                </a:solidFill>
              </a:defRPr>
            </a:pPr>
            <a:r>
              <a:rPr sz="1050" b="1">
                <a:solidFill>
                  <a:srgbClr val="596A7A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5EF2D-C07E-4236-9741-9016D7DA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050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Partitioning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ED5EA8-C9A4-4CF3-B91C-4EE1D7E1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47950"/>
            <a:ext cx="14287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documents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41BDB3-13DD-47FF-AFD3-E30A3806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00350"/>
            <a:ext cx="476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96A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CB8EF5-DAF1-4CBE-A727-64D4DBF5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09800"/>
            <a:ext cx="1238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shard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54276B-E177-4450-92B5-B73995BD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14650"/>
            <a:ext cx="1238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3267B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shard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1F42AC-BCC6-473C-988A-0FD4F0BB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19500"/>
            <a:ext cx="1238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6C5C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shard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F19E68-DD65-43C7-A204-6CD83BDA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96A7A"/>
                </a:solidFill>
              </a:defRPr>
            </a:pPr>
            <a:r>
              <a:rPr sz="1425" b="0">
                <a:solidFill>
                  <a:srgbClr val="596A7A"/>
                </a:solidFill>
              </a:rPr>
              <a:t>range-based split by document order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02FED2-7AD1-40D2-B06B-5EBA3843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050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Index per shard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1B521B-39ED-4D6D-8C5A-424EE22E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95550"/>
            <a:ext cx="3752850" cy="2133600"/>
          </a:xfrm>
          <a:prstGeom xmlns:a="http://schemas.openxmlformats.org/drawingml/2006/main" prst="roundRect">
            <a:avLst>
              <a:gd name="adj" fmla="val 446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3205D1-5DE6-4F7F-82B3-2F988BFA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194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E7C7B"/>
                </a:solidFill>
              </a:defRPr>
            </a:pPr>
            <a:r>
              <a:rPr sz="1800" b="1">
                <a:solidFill>
                  <a:srgbClr val="0E7C7B"/>
                </a:solidFill>
              </a:rPr>
              <a:t>term -&gt; posting list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E4BA86-2689-4B24-A56D-07E98137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352800"/>
            <a:ext cx="304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distributed -&gt; [(D17, tf=3), (D82, tf=2)]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indexing -&gt; [(D04, tf=5), (D91, tf=1)]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query -&gt; [(D11, tf=2), (D54, tf=4)]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60DD3F-CA9C-4C7B-B279-439BFC8A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911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global_stats.json stores corpus-level values used during ranking.</a:t>
            </a:r>
          </a:p>
        </p:txBody>
      </p:sp>
    </p:spTree>
    <p:extLst>
      <p:ext uri="{BB962C8B-B14F-4D97-AF65-F5344CB8AC3E}">
        <p14:creationId xmlns:p14="http://schemas.microsoft.com/office/powerpoint/2010/main" val="4780949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78A0C6-D7B2-4CEB-A718-0214A519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Parallel query processing is the next layer over these indexes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9BDEFF-7F3C-4DF7-A7F6-3E5E2D5F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A7A"/>
                </a:solidFill>
              </a:defRPr>
            </a:pPr>
            <a:r>
              <a:rPr sz="1350" b="0">
                <a:solidFill>
                  <a:srgbClr val="596A7A"/>
                </a:solidFill>
              </a:rPr>
              <a:t>The same query is sent to all search nodes, then the coordinator merges results.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49C00-60ED-43F5-A052-07FBBCC6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CDDA17-404A-4BA4-B581-947507BA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151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A7A"/>
                </a:solidFill>
              </a:defRPr>
            </a:pPr>
            <a:r>
              <a:rPr sz="975" b="0">
                <a:solidFill>
                  <a:srgbClr val="596A7A"/>
                </a:solidFill>
              </a:rPr>
              <a:t>Distributed Search Engine | FA-1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5828D5-EE9A-4EF0-BAFC-531E115C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96A7A"/>
                </a:solidFill>
              </a:defRPr>
            </a:pPr>
            <a:r>
              <a:rPr sz="1050" b="1">
                <a:solidFill>
                  <a:srgbClr val="596A7A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553603-89C4-49D6-A185-F064BCBE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67050"/>
            <a:ext cx="14287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User query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6D661B-ECA0-45CB-AF4F-42330870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19450"/>
            <a:ext cx="5143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96A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E7FBF1-5E62-40F3-B9A7-5863D44C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09900"/>
            <a:ext cx="15621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Coordinator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485F61-AF14-4F6C-AE29-CB594DAA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14550"/>
            <a:ext cx="161925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Node 1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local top-K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D1CF05-8295-4792-B610-367F531F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48000"/>
            <a:ext cx="161925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3267B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Node 2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local top-K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7C6D71-B9ED-4AE9-9C9F-963244C7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81450"/>
            <a:ext cx="161925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6C5C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Node 3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local top-K</a:t>
            </a:r>
          </a:p>
        </p:txBody>
      </p:sp>
      <p:cxnSp>
        <p:nvCxnSpPr>
          <p:cNvPr id="30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4933950" y="2428875"/>
            <a:ext cx="177165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96A7A"/>
            </a:solidFill>
            <a:prstDash val="solid"/>
            <a:headEnd type="none" w="med" len="med"/>
          </a:ln>
        </p:spPr>
      </p:cxnSp>
      <p:cxnSp>
        <p:nvCxnSpPr>
          <p:cNvPr id="31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933950" y="3343275"/>
            <a:ext cx="17716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96A7A"/>
            </a:solidFill>
            <a:prstDash val="solid"/>
            <a:headEnd type="none" w="med" len="med"/>
          </a:ln>
        </p:spPr>
      </p:cxn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933950" y="3343275"/>
            <a:ext cx="177165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96A7A"/>
            </a:solidFill>
            <a:prstDash val="solid"/>
            <a:headEnd type="non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D686AD-74FE-481D-BBF2-7C143B13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19450"/>
            <a:ext cx="5143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96A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9F473F-4A7E-4041-819C-1DB5D9C8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09900"/>
            <a:ext cx="161925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Merged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ranked list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F05AB6-A652-4739-9EE9-CD08A0AD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19700"/>
            <a:ext cx="74295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327BDC-1A5C-45DC-9422-7293C7AF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372100"/>
            <a:ext cx="681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FA-1 prepares the shard/index files; Member 2 exposes them through RPC services.</a:t>
            </a:r>
          </a:p>
        </p:txBody>
      </p:sp>
    </p:spTree>
    <p:extLst>
      <p:ext uri="{BB962C8B-B14F-4D97-AF65-F5344CB8AC3E}">
        <p14:creationId xmlns:p14="http://schemas.microsoft.com/office/powerpoint/2010/main" val="20011922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2EC61D-24DB-4647-BC32-024BDBEF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Fault tolerance is handled through node independence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B17B6A-B415-4454-8C4C-A7C7812E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A7A"/>
                </a:solidFill>
              </a:defRPr>
            </a:pPr>
            <a:r>
              <a:rPr sz="1350" b="0">
                <a:solidFill>
                  <a:srgbClr val="596A7A"/>
                </a:solidFill>
              </a:rPr>
              <a:t>A failed shard reduces coverage but should not stop the complete system.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84A5F7-908D-4383-A02C-73AFA84D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DA1FA6-F8A4-4AE9-B808-2C80DAFC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151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A7A"/>
                </a:solidFill>
              </a:defRPr>
            </a:pPr>
            <a:r>
              <a:rPr sz="975" b="0">
                <a:solidFill>
                  <a:srgbClr val="596A7A"/>
                </a:solidFill>
              </a:rPr>
              <a:t>Distributed Search Engine | FA-1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B39A69-B9C9-424E-8F65-77124948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96A7A"/>
                </a:solidFill>
              </a:defRPr>
            </a:pPr>
            <a:r>
              <a:rPr sz="1050" b="1">
                <a:solidFill>
                  <a:srgbClr val="596A7A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CF66B8-F403-4723-9B39-4E150512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38350"/>
            <a:ext cx="16192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Coordinator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49351E-3F0D-4471-B58C-CCA0AB68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19500"/>
            <a:ext cx="15240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Node 1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available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77D226-A9F8-4552-A75C-8E2CB08A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0"/>
            <a:ext cx="15240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C2413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Node 2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timeout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924853-D5EA-441B-9372-B782C63D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0"/>
            <a:ext cx="15240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6C5C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Node 3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available</a:t>
            </a:r>
          </a:p>
        </p:txBody>
      </p:sp>
      <p:cxnSp>
        <p:nvCxnSpPr>
          <p:cNvPr id="24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3143250" y="2590800"/>
            <a:ext cx="2771775" cy="10287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96A7A"/>
            </a:solidFill>
            <a:prstDash val="solid"/>
            <a:headEnd type="none" w="med" len="med"/>
          </a:ln>
        </p:spPr>
      </p:cxnSp>
      <p:cxnSp>
        <p:nvCxnSpPr>
          <p:cNvPr id="25" name=""/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5915025" y="2590800"/>
            <a:ext cx="180975" cy="10287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96A7A"/>
            </a:solidFill>
            <a:prstDash val="solid"/>
            <a:headEnd type="none" w="med" len="med"/>
          </a:ln>
        </p:spPr>
      </p:cxnSp>
      <p:cxnSp>
        <p:nvCxnSpPr>
          <p:cNvPr id="26" name=""/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5915025" y="2590800"/>
            <a:ext cx="3133725" cy="10287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96A7A"/>
            </a:solidFill>
            <a:prstDash val="solid"/>
            <a:headEnd type="non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967B6B-639B-435C-B246-5965D3C4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972050"/>
            <a:ext cx="880110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FF8EA"/>
          </a:solidFill>
          <a:ln xmlns:a="http://schemas.openxmlformats.org/drawingml/2006/main" w="9525">
            <a:solidFill>
              <a:srgbClr val="F4D49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E8AD85-B1A6-4C33-99F9-A59053F9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62550"/>
            <a:ext cx="800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Coordinator returns partial results and reports the unavailable node instead of failing the whole query.</a:t>
            </a:r>
          </a:p>
        </p:txBody>
      </p:sp>
    </p:spTree>
    <p:extLst>
      <p:ext uri="{BB962C8B-B14F-4D97-AF65-F5344CB8AC3E}">
        <p14:creationId xmlns:p14="http://schemas.microsoft.com/office/powerpoint/2010/main" val="19130680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7F2D90-3AC0-482F-9599-56B95676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FA-1 syllabus concepts are directly represented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A5FE7D-EFC3-487D-9C7B-DE593D72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A7A"/>
                </a:solidFill>
              </a:defRPr>
            </a:pPr>
            <a:r>
              <a:rPr sz="1350" b="0">
                <a:solidFill>
                  <a:srgbClr val="596A7A"/>
                </a:solidFill>
              </a:rPr>
              <a:t>The implementation maps to Unit 1 and Unit 2 rather than only being a coding exercise.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94F634-B54C-4B94-9461-87D5CC10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1DDA8E-7DB5-4D0D-B65C-422044DB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151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A7A"/>
                </a:solidFill>
              </a:defRPr>
            </a:pPr>
            <a:r>
              <a:rPr sz="975" b="0">
                <a:solidFill>
                  <a:srgbClr val="596A7A"/>
                </a:solidFill>
              </a:rPr>
              <a:t>Distributed Search Engine | FA-1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BEF4F3-DD8F-4834-BE3B-5CE683C9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96A7A"/>
                </a:solidFill>
              </a:defRPr>
            </a:pPr>
            <a:r>
              <a:rPr sz="1050" b="1">
                <a:solidFill>
                  <a:srgbClr val="596A7A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A9740C-631A-4067-9219-ACE744E8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574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7C7B"/>
                </a:solidFill>
              </a:defRPr>
            </a:pPr>
            <a:r>
              <a:rPr sz="1875" b="1">
                <a:solidFill>
                  <a:srgbClr val="0E7C7B"/>
                </a:solidFill>
              </a:rPr>
              <a:t>Unit 1: Distributed Systems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BC44B2-D667-4AA7-B64E-EC302A0A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00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5A9967-35B9-4FB8-9BFF-C13C030C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241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architecture: coordinator and search nodes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196622-3370-458E-B482-DD9CAC54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71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48A081-D619-4F06-9D90-B1545F86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956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design issue: partitioning and ranking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A150DC-F4BD-41FB-95A2-807F7819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43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3B9A51-5F05-40CE-9D22-CA7254FB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671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scalability: add nodes and shards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E71501-0156-4AC3-AB7C-AD5D004E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14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17B923-8B27-4D4B-A11B-A3582E67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386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middleware boundary between services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16E37E-8F75-4FCB-A314-6397971F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574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267B1"/>
                </a:solidFill>
              </a:defRPr>
            </a:pPr>
            <a:r>
              <a:rPr sz="1875" b="1">
                <a:solidFill>
                  <a:srgbClr val="3267B1"/>
                </a:solidFill>
              </a:rPr>
              <a:t>Unit 2: Communication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7D49F4-DFC8-4FAB-AF78-595C1301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00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7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E33D21-043F-4278-9379-B08454D2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241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RPC: gRPC coordinator-to-node calls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D1E63C-7E33-45C7-8358-1FA95358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71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7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21A278-DF44-45C7-8CD1-622A922B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956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message flow: fan-out and gather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5CC343-3155-489A-8B1C-D0FA721F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43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7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BE2C47-36D7-4F8B-93A1-40885016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671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identifiers: node IDs and addresses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A8A1AF-A78F-44AF-A757-7F975EB0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514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7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B34339-70DC-4A2A-8432-40D4BB19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386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fault tolerance: timeout and partial result</a:t>
            </a:r>
          </a:p>
        </p:txBody>
      </p:sp>
    </p:spTree>
    <p:extLst>
      <p:ext uri="{BB962C8B-B14F-4D97-AF65-F5344CB8AC3E}">
        <p14:creationId xmlns:p14="http://schemas.microsoft.com/office/powerpoint/2010/main" val="878658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67115F-0C37-4525-A966-C05F22B3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Demonstration plan for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CFF959-D469-4D0D-B8FF-87132533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A7A"/>
                </a:solidFill>
              </a:defRPr>
            </a:pPr>
            <a:r>
              <a:rPr sz="1350" b="0">
                <a:solidFill>
                  <a:srgbClr val="596A7A"/>
                </a:solidFill>
              </a:rPr>
              <a:t>The demo should prove the implementation step by step.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80BA80-FE92-496B-8AD5-F607495A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584894-967D-45D6-8630-711DABE2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151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A7A"/>
                </a:solidFill>
              </a:defRPr>
            </a:pPr>
            <a:r>
              <a:rPr sz="975" b="0">
                <a:solidFill>
                  <a:srgbClr val="596A7A"/>
                </a:solidFill>
              </a:rPr>
              <a:t>Distributed Search Engine | FA-1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41A88B-06D3-4F85-ABD3-5E8DEDB1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96A7A"/>
                </a:solidFill>
              </a:defRPr>
            </a:pPr>
            <a:r>
              <a:rPr sz="1050" b="1">
                <a:solidFill>
                  <a:srgbClr val="596A7A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3151EA-9E03-4821-8576-D13FE920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5143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934746-3375-4A40-A1EC-3B0C35D9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866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Show configuration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D8F55A-9A76-4F93-881B-DE796A69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2288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A7A"/>
                </a:solidFill>
              </a:defRPr>
            </a:pPr>
            <a:r>
              <a:rPr sz="1350" b="0">
                <a:solidFill>
                  <a:srgbClr val="596A7A"/>
                </a:solidFill>
              </a:rPr>
              <a:t>allowed domains, per-site limits, crawler settings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3637EC-7624-433D-AD64-8428A585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47950"/>
            <a:ext cx="5143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4CDFC6-EE30-4833-841C-27CF7655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628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Run pipeline command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3DBD46-89DC-4003-B37B-09004A8E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9908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A7A"/>
                </a:solidFill>
              </a:defRPr>
            </a:pPr>
            <a:r>
              <a:rPr sz="1350" b="0">
                <a:solidFill>
                  <a:srgbClr val="596A7A"/>
                </a:solidFill>
              </a:rPr>
              <a:t>crawl -&gt; parse -&gt; shard -&gt; index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6279CC-3119-4553-8EFB-614AF092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09950"/>
            <a:ext cx="5143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587595-9093-48F1-8EB7-CBBFD230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390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Inspect generated files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060270-096F-4B17-9013-39D08A53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7528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A7A"/>
                </a:solidFill>
              </a:defRPr>
            </a:pPr>
            <a:r>
              <a:rPr sz="1350" b="0">
                <a:solidFill>
                  <a:srgbClr val="596A7A"/>
                </a:solidFill>
              </a:rPr>
              <a:t>raw pages, JSONL documents, shard files, indexes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1F48EC-D618-48EF-B45A-90ED1EC5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71950"/>
            <a:ext cx="5143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8F6E1D-7477-452A-98C3-EED02C6B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152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Run local search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AF9799-5BE7-491A-81D8-785A800A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5148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A7A"/>
                </a:solidFill>
              </a:defRPr>
            </a:pPr>
            <a:r>
              <a:rPr sz="1350" b="0">
                <a:solidFill>
                  <a:srgbClr val="596A7A"/>
                </a:solidFill>
              </a:rPr>
              <a:t>verify index lookup before distributed runtime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26499E-C0CF-450A-84E6-031771E9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33950"/>
            <a:ext cx="5143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FDF7D6-43C5-49BF-8785-CBBAC8B7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914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Connect Member 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9CC2A1-E1D1-43C7-95F5-6BCB233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2768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A7A"/>
                </a:solidFill>
              </a:defRPr>
            </a:pPr>
            <a:r>
              <a:rPr sz="1350" b="0">
                <a:solidFill>
                  <a:srgbClr val="596A7A"/>
                </a:solidFill>
              </a:rPr>
              <a:t>start nodes, send RPC query, aggregate results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053939-A179-4FCD-8BE4-58620CBD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00600"/>
            <a:ext cx="276225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8F5F4"/>
          </a:solidFill>
          <a:ln xmlns:a="http://schemas.openxmlformats.org/drawingml/2006/main" w="9525">
            <a:solidFill>
              <a:srgbClr val="B8DE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9039BE-AFB7-4586-B56C-8C99C31F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9339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Expected viva answer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B90B37-BA95-4D35-85CC-B5DD4AC6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578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Distribution comes from partitioned indexes and parallel node processing.</a:t>
            </a:r>
          </a:p>
        </p:txBody>
      </p:sp>
    </p:spTree>
    <p:extLst>
      <p:ext uri="{BB962C8B-B14F-4D97-AF65-F5344CB8AC3E}">
        <p14:creationId xmlns:p14="http://schemas.microsoft.com/office/powerpoint/2010/main" val="17988352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2026-09-02T16:25:04.2850000Z</dcterms:created>
  <dcterms:modified xsi:type="dcterms:W3CDTF">2026-09-02T16:25:04.2850000Z</dcterms:modified>
</coreProperties>
</file>