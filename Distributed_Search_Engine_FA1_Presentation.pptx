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060c24d1dc34cb9" /><Relationship Type="http://schemas.openxmlformats.org/officeDocument/2006/relationships/extended-properties" Target="/docProps/app.xml" Id="R3d817ac1a1b540e2" /><Relationship Type="http://schemas.openxmlformats.org/officeDocument/2006/relationships/officeDocument" Target="/ppt/presentation.xml" Id="R2556e506c3d54aa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ae5d0b767944405"/>
  </p:sldMasterIdLst>
  <p:notesMasterIdLst>
    <p:notesMasterId xmlns:r="http://schemas.openxmlformats.org/officeDocument/2006/relationships" r:id="Ra6d3d6eddf1f439b"/>
  </p:notesMasterIdLst>
  <p:sldIdLst>
    <p:sldId xmlns:r="http://schemas.openxmlformats.org/officeDocument/2006/relationships" id="256" r:id="Rd780e3d1eb144159"/>
    <p:sldId xmlns:r="http://schemas.openxmlformats.org/officeDocument/2006/relationships" id="257" r:id="Rde3255986c714137"/>
    <p:sldId xmlns:r="http://schemas.openxmlformats.org/officeDocument/2006/relationships" id="258" r:id="R0665350bab8b4f10"/>
    <p:sldId xmlns:r="http://schemas.openxmlformats.org/officeDocument/2006/relationships" id="259" r:id="Rcb73d0684b6b48c0"/>
    <p:sldId xmlns:r="http://schemas.openxmlformats.org/officeDocument/2006/relationships" id="260" r:id="Rfe5308b6f08e4da6"/>
    <p:sldId xmlns:r="http://schemas.openxmlformats.org/officeDocument/2006/relationships" id="261" r:id="Rdb8a3b60fdba49b2"/>
    <p:sldId xmlns:r="http://schemas.openxmlformats.org/officeDocument/2006/relationships" id="262" r:id="Rf675c93f26e24377"/>
    <p:sldId xmlns:r="http://schemas.openxmlformats.org/officeDocument/2006/relationships" id="263" r:id="Raa5e1996af6142af"/>
    <p:sldId xmlns:r="http://schemas.openxmlformats.org/officeDocument/2006/relationships" id="264" r:id="R11eb5a5ebe60454c"/>
    <p:sldId xmlns:r="http://schemas.openxmlformats.org/officeDocument/2006/relationships" id="265" r:id="Ra441a2d8095e463c"/>
    <p:sldId xmlns:r="http://schemas.openxmlformats.org/officeDocument/2006/relationships" id="266" r:id="R10e0ab09697a44e7"/>
    <p:sldId xmlns:r="http://schemas.openxmlformats.org/officeDocument/2006/relationships" id="267" r:id="R754d93252e5042ce"/>
    <p:sldId xmlns:r="http://schemas.openxmlformats.org/officeDocument/2006/relationships" id="268" r:id="R0afb17a9624a49d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8a384a9576f4319" /><Relationship Type="http://schemas.openxmlformats.org/officeDocument/2006/relationships/slideMaster" Target="/ppt/slideMasters/slideMaster1.xml" Id="Rcae5d0b767944405" /><Relationship Type="http://schemas.openxmlformats.org/officeDocument/2006/relationships/notesMaster" Target="/ppt/notesMasters/notesMaster1.xml" Id="Ra6d3d6eddf1f439b" /><Relationship Type="http://schemas.openxmlformats.org/officeDocument/2006/relationships/presProps" Target="/ppt/presProps.xml" Id="R38796b0b79194282" /><Relationship Type="http://schemas.openxmlformats.org/officeDocument/2006/relationships/tableStyles" Target="/ppt/tableStyles.xml" Id="Re2845d2f29e6412b" /><Relationship Type="http://schemas.openxmlformats.org/officeDocument/2006/relationships/slide" Target="/ppt/slides/slide1.xml" Id="Rd780e3d1eb144159" /><Relationship Type="http://schemas.openxmlformats.org/officeDocument/2006/relationships/slide" Target="/ppt/slides/slide2.xml" Id="Rde3255986c714137" /><Relationship Type="http://schemas.openxmlformats.org/officeDocument/2006/relationships/slide" Target="/ppt/slides/slide3.xml" Id="R0665350bab8b4f10" /><Relationship Type="http://schemas.openxmlformats.org/officeDocument/2006/relationships/slide" Target="/ppt/slides/slide4.xml" Id="Rcb73d0684b6b48c0" /><Relationship Type="http://schemas.openxmlformats.org/officeDocument/2006/relationships/slide" Target="/ppt/slides/slide5.xml" Id="Rfe5308b6f08e4da6" /><Relationship Type="http://schemas.openxmlformats.org/officeDocument/2006/relationships/slide" Target="/ppt/slides/slide6.xml" Id="Rdb8a3b60fdba49b2" /><Relationship Type="http://schemas.openxmlformats.org/officeDocument/2006/relationships/slide" Target="/ppt/slides/slide7.xml" Id="Rf675c93f26e24377" /><Relationship Type="http://schemas.openxmlformats.org/officeDocument/2006/relationships/slide" Target="/ppt/slides/slide8.xml" Id="Raa5e1996af6142af" /><Relationship Type="http://schemas.openxmlformats.org/officeDocument/2006/relationships/slide" Target="/ppt/slides/slide9.xml" Id="R11eb5a5ebe60454c" /><Relationship Type="http://schemas.openxmlformats.org/officeDocument/2006/relationships/slide" Target="/ppt/slides/slide10.xml" Id="Ra441a2d8095e463c" /><Relationship Type="http://schemas.openxmlformats.org/officeDocument/2006/relationships/slide" Target="/ppt/slides/slide11.xml" Id="R10e0ab09697a44e7" /><Relationship Type="http://schemas.openxmlformats.org/officeDocument/2006/relationships/slide" Target="/ppt/slides/slide12.xml" Id="R754d93252e5042ce" /><Relationship Type="http://schemas.openxmlformats.org/officeDocument/2006/relationships/slide" Target="/ppt/slides/slide13.xml" Id="R0afb17a9624a49d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5b943c7768a404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95eb44937b54697" /><Relationship Type="http://schemas.openxmlformats.org/officeDocument/2006/relationships/notesMaster" Target="/ppt/notesMasters/notesMaster1.xml" Id="R0b5a434bf8d647e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b0d39ab01794236" /><Relationship Type="http://schemas.openxmlformats.org/officeDocument/2006/relationships/notesMaster" Target="/ppt/notesMasters/notesMaster1.xml" Id="Rfbfe1627213f43e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ec1d4ea7f89469f" /><Relationship Type="http://schemas.openxmlformats.org/officeDocument/2006/relationships/notesMaster" Target="/ppt/notesMasters/notesMaster1.xml" Id="Rf8c1bd4ad03740a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178e00a58b04585" /><Relationship Type="http://schemas.openxmlformats.org/officeDocument/2006/relationships/notesMaster" Target="/ppt/notesMasters/notesMaster1.xml" Id="R75a2577f8d8f4ae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af134d840f644ca" /><Relationship Type="http://schemas.openxmlformats.org/officeDocument/2006/relationships/notesMaster" Target="/ppt/notesMasters/notesMaster1.xml" Id="Rca3216d2be72420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1fdfe6732834a99" /><Relationship Type="http://schemas.openxmlformats.org/officeDocument/2006/relationships/notesMaster" Target="/ppt/notesMasters/notesMaster1.xml" Id="R75249ad30bd74e2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507918ad3d541c2" /><Relationship Type="http://schemas.openxmlformats.org/officeDocument/2006/relationships/notesMaster" Target="/ppt/notesMasters/notesMaster1.xml" Id="R49d0017a0d5d4c4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04670e1cb65446a" /><Relationship Type="http://schemas.openxmlformats.org/officeDocument/2006/relationships/notesMaster" Target="/ppt/notesMasters/notesMaster1.xml" Id="Rc77c2507799142f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e634ba8fb4c4b0e" /><Relationship Type="http://schemas.openxmlformats.org/officeDocument/2006/relationships/notesMaster" Target="/ppt/notesMasters/notesMaster1.xml" Id="Re5aa2380b9674b3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c0414a442664a9e" /><Relationship Type="http://schemas.openxmlformats.org/officeDocument/2006/relationships/notesMaster" Target="/ppt/notesMasters/notesMaster1.xml" Id="R36ffd30e837c416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66e9b8d13cd4c4e" /><Relationship Type="http://schemas.openxmlformats.org/officeDocument/2006/relationships/notesMaster" Target="/ppt/notesMasters/notesMaster1.xml" Id="R1c0eab287a6e43b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304bbca1a7b4a4d" /><Relationship Type="http://schemas.openxmlformats.org/officeDocument/2006/relationships/notesMaster" Target="/ppt/notesMasters/notesMaster1.xml" Id="Rd3589b3c25534b1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e019d1f8ec64acf" /><Relationship Type="http://schemas.openxmlformats.org/officeDocument/2006/relationships/notesMaster" Target="/ppt/notesMasters/notesMaster1.xml" Id="Rb0333c052e7644d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by stating that the presentation now covers both members' parts of the same distributed search engine.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D:/Engg/diss/distributed-search-engine/app.py</a:t>
            </a:r>
          </a:p>
          <a:p xmlns:a="http://schemas.openxmlformats.org/drawingml/2006/main">
            <a:r>
              <a:t>D:/Engg/diss/distributed-search-engine/crawler/crawler.py</a:t>
            </a:r>
          </a:p>
          <a:p xmlns:a="http://schemas.openxmlformats.org/drawingml/2006/main">
            <a:r>
              <a:t>D:/Engg/diss/distributed-search-engine/parser/html_parser.py</a:t>
            </a:r>
          </a:p>
          <a:p xmlns:a="http://schemas.openxmlformats.org/drawingml/2006/main">
            <a:r>
              <a:t>D:/Engg/diss/distributed-search-engine/indexing/partitioner.py</a:t>
            </a:r>
          </a:p>
          <a:p xmlns:a="http://schemas.openxmlformats.org/drawingml/2006/main">
            <a:r>
              <a:t>D:/Engg/diss/distributed-search-engine/indexing/index_builder.py</a:t>
            </a:r>
          </a:p>
          <a:p xmlns:a="http://schemas.openxmlformats.org/drawingml/2006/main">
            <a:r>
              <a:t>Verified local command: python app.py stats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project motivation using distributed-systems terms: scalability, parallel processing, and fault tolerance.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D:/Engg/diss/distributed-search-engine/app.py</a:t>
            </a:r>
          </a:p>
          <a:p xmlns:a="http://schemas.openxmlformats.org/drawingml/2006/main">
            <a:r>
              <a:t>D:/Engg/diss/distributed-search-engine/crawler/crawler.py</a:t>
            </a:r>
          </a:p>
          <a:p xmlns:a="http://schemas.openxmlformats.org/drawingml/2006/main">
            <a:r>
              <a:t>D:/Engg/diss/distributed-search-engine/parser/html_parser.py</a:t>
            </a:r>
          </a:p>
          <a:p xmlns:a="http://schemas.openxmlformats.org/drawingml/2006/main">
            <a:r>
              <a:t>D:/Engg/diss/distributed-search-engine/indexing/partitioner.py</a:t>
            </a:r>
          </a:p>
          <a:p xmlns:a="http://schemas.openxmlformats.org/drawingml/2006/main">
            <a:r>
              <a:t>D:/Engg/diss/distributed-search-engine/indexing/index_builder.py</a:t>
            </a:r>
          </a:p>
          <a:p xmlns:a="http://schemas.openxmlformats.org/drawingml/2006/main">
            <a:r>
              <a:t>Verified local command: python app.py stats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as the linked-system overview. The deck should not look like separate files; it should show a continuous architecture.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D:/Engg/diss/distributed-search-engine/app.py</a:t>
            </a:r>
          </a:p>
          <a:p xmlns:a="http://schemas.openxmlformats.org/drawingml/2006/main">
            <a:r>
              <a:t>D:/Engg/diss/distributed-search-engine/crawler/crawler.py</a:t>
            </a:r>
          </a:p>
          <a:p xmlns:a="http://schemas.openxmlformats.org/drawingml/2006/main">
            <a:r>
              <a:t>D:/Engg/diss/distributed-search-engine/parser/html_parser.py</a:t>
            </a:r>
          </a:p>
          <a:p xmlns:a="http://schemas.openxmlformats.org/drawingml/2006/main">
            <a:r>
              <a:t>D:/Engg/diss/distributed-search-engine/indexing/partitioner.py</a:t>
            </a:r>
          </a:p>
          <a:p xmlns:a="http://schemas.openxmlformats.org/drawingml/2006/main">
            <a:r>
              <a:t>D:/Engg/diss/distributed-search-engine/indexing/index_builder.py</a:t>
            </a:r>
          </a:p>
          <a:p xmlns:a="http://schemas.openxmlformats.org/drawingml/2006/main">
            <a:r>
              <a:t>Verified local command: python app.py stats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division of labor while making clear both members understand the complete system.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D:/Engg/diss/distributed-search-engine/app.py</a:t>
            </a:r>
          </a:p>
          <a:p xmlns:a="http://schemas.openxmlformats.org/drawingml/2006/main">
            <a:r>
              <a:t>D:/Engg/diss/distributed-search-engine/crawler/crawler.py</a:t>
            </a:r>
          </a:p>
          <a:p xmlns:a="http://schemas.openxmlformats.org/drawingml/2006/main">
            <a:r>
              <a:t>D:/Engg/diss/distributed-search-engine/parser/html_parser.py</a:t>
            </a:r>
          </a:p>
          <a:p xmlns:a="http://schemas.openxmlformats.org/drawingml/2006/main">
            <a:r>
              <a:t>D:/Engg/diss/distributed-search-engine/indexing/partitioner.py</a:t>
            </a:r>
          </a:p>
          <a:p xmlns:a="http://schemas.openxmlformats.org/drawingml/2006/main">
            <a:r>
              <a:t>D:/Engg/diss/distributed-search-engine/indexing/index_builder.py</a:t>
            </a:r>
          </a:p>
          <a:p xmlns:a="http://schemas.openxmlformats.org/drawingml/2006/main">
            <a:r>
              <a:t>Verified local command: python app.py stats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Describe Member 1 as the offline indexing layer. Mention that generated artifacts are stored and can be inspected.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D:/Engg/diss/distributed-search-engine/app.py</a:t>
            </a:r>
          </a:p>
          <a:p xmlns:a="http://schemas.openxmlformats.org/drawingml/2006/main">
            <a:r>
              <a:t>D:/Engg/diss/distributed-search-engine/crawler/crawler.py</a:t>
            </a:r>
          </a:p>
          <a:p xmlns:a="http://schemas.openxmlformats.org/drawingml/2006/main">
            <a:r>
              <a:t>D:/Engg/diss/distributed-search-engine/parser/html_parser.py</a:t>
            </a:r>
          </a:p>
          <a:p xmlns:a="http://schemas.openxmlformats.org/drawingml/2006/main">
            <a:r>
              <a:t>D:/Engg/diss/distributed-search-engine/indexing/partitioner.py</a:t>
            </a:r>
          </a:p>
          <a:p xmlns:a="http://schemas.openxmlformats.org/drawingml/2006/main">
            <a:r>
              <a:t>D:/Engg/diss/distributed-search-engine/indexing/index_builder.py</a:t>
            </a:r>
          </a:p>
          <a:p xmlns:a="http://schemas.openxmlformats.org/drawingml/2006/main">
            <a:r>
              <a:t>Verified local command: python app.py stats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why independent shards are important for Member 2's search-node processes.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D:/Engg/diss/distributed-search-engine/app.py</a:t>
            </a:r>
          </a:p>
          <a:p xmlns:a="http://schemas.openxmlformats.org/drawingml/2006/main">
            <a:r>
              <a:t>D:/Engg/diss/distributed-search-engine/crawler/crawler.py</a:t>
            </a:r>
          </a:p>
          <a:p xmlns:a="http://schemas.openxmlformats.org/drawingml/2006/main">
            <a:r>
              <a:t>D:/Engg/diss/distributed-search-engine/parser/html_parser.py</a:t>
            </a:r>
          </a:p>
          <a:p xmlns:a="http://schemas.openxmlformats.org/drawingml/2006/main">
            <a:r>
              <a:t>D:/Engg/diss/distributed-search-engine/indexing/partitioner.py</a:t>
            </a:r>
          </a:p>
          <a:p xmlns:a="http://schemas.openxmlformats.org/drawingml/2006/main">
            <a:r>
              <a:t>D:/Engg/diss/distributed-search-engine/indexing/index_builder.py</a:t>
            </a:r>
          </a:p>
          <a:p xmlns:a="http://schemas.openxmlformats.org/drawingml/2006/main">
            <a:r>
              <a:t>Verified local command: python app.py stats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adds Member 2's concrete technical responsibilities: services, coordinator, interface, and configuration.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D:/Engg/diss/distributed-search-engine/app.py</a:t>
            </a:r>
          </a:p>
          <a:p xmlns:a="http://schemas.openxmlformats.org/drawingml/2006/main">
            <a:r>
              <a:t>D:/Engg/diss/distributed-search-engine/crawler/crawler.py</a:t>
            </a:r>
          </a:p>
          <a:p xmlns:a="http://schemas.openxmlformats.org/drawingml/2006/main">
            <a:r>
              <a:t>D:/Engg/diss/distributed-search-engine/parser/html_parser.py</a:t>
            </a:r>
          </a:p>
          <a:p xmlns:a="http://schemas.openxmlformats.org/drawingml/2006/main">
            <a:r>
              <a:t>D:/Engg/diss/distributed-search-engine/indexing/partitioner.py</a:t>
            </a:r>
          </a:p>
          <a:p xmlns:a="http://schemas.openxmlformats.org/drawingml/2006/main">
            <a:r>
              <a:t>D:/Engg/diss/distributed-search-engine/indexing/index_builder.py</a:t>
            </a:r>
          </a:p>
          <a:p xmlns:a="http://schemas.openxmlformats.org/drawingml/2006/main">
            <a:r>
              <a:t>Verified local command: python app.py stats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Map this to Unit 2 RPC and message-oriented communication: the proto schema becomes the formal interface between processes.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D:/Engg/diss/distributed-search-engine/app.py</a:t>
            </a:r>
          </a:p>
          <a:p xmlns:a="http://schemas.openxmlformats.org/drawingml/2006/main">
            <a:r>
              <a:t>D:/Engg/diss/distributed-search-engine/crawler/crawler.py</a:t>
            </a:r>
          </a:p>
          <a:p xmlns:a="http://schemas.openxmlformats.org/drawingml/2006/main">
            <a:r>
              <a:t>D:/Engg/diss/distributed-search-engine/parser/html_parser.py</a:t>
            </a:r>
          </a:p>
          <a:p xmlns:a="http://schemas.openxmlformats.org/drawingml/2006/main">
            <a:r>
              <a:t>D:/Engg/diss/distributed-search-engine/indexing/partitioner.py</a:t>
            </a:r>
          </a:p>
          <a:p xmlns:a="http://schemas.openxmlformats.org/drawingml/2006/main">
            <a:r>
              <a:t>D:/Engg/diss/distributed-search-engine/indexing/index_builder.py</a:t>
            </a:r>
          </a:p>
          <a:p xmlns:a="http://schemas.openxmlformats.org/drawingml/2006/main">
            <a:r>
              <a:t>Verified local command: python app.py stats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coordinator algorithm in viva terms. This is the part where parallel query processing is managed.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D:/Engg/diss/distributed-search-engine/app.py</a:t>
            </a:r>
          </a:p>
          <a:p xmlns:a="http://schemas.openxmlformats.org/drawingml/2006/main">
            <a:r>
              <a:t>D:/Engg/diss/distributed-search-engine/crawler/crawler.py</a:t>
            </a:r>
          </a:p>
          <a:p xmlns:a="http://schemas.openxmlformats.org/drawingml/2006/main">
            <a:r>
              <a:t>D:/Engg/diss/distributed-search-engine/parser/html_parser.py</a:t>
            </a:r>
          </a:p>
          <a:p xmlns:a="http://schemas.openxmlformats.org/drawingml/2006/main">
            <a:r>
              <a:t>D:/Engg/diss/distributed-search-engine/indexing/partitioner.py</a:t>
            </a:r>
          </a:p>
          <a:p xmlns:a="http://schemas.openxmlformats.org/drawingml/2006/main">
            <a:r>
              <a:t>D:/Engg/diss/distributed-search-engine/indexing/index_builder.py</a:t>
            </a:r>
          </a:p>
          <a:p xmlns:a="http://schemas.openxmlformats.org/drawingml/2006/main">
            <a:r>
              <a:t>Verified local command: python app.py stats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Discuss search-node responsibility and scalability. The node has local state and a small RPC interface.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D:/Engg/diss/distributed-search-engine/app.py</a:t>
            </a:r>
          </a:p>
          <a:p xmlns:a="http://schemas.openxmlformats.org/drawingml/2006/main">
            <a:r>
              <a:t>D:/Engg/diss/distributed-search-engine/crawler/crawler.py</a:t>
            </a:r>
          </a:p>
          <a:p xmlns:a="http://schemas.openxmlformats.org/drawingml/2006/main">
            <a:r>
              <a:t>D:/Engg/diss/distributed-search-engine/parser/html_parser.py</a:t>
            </a:r>
          </a:p>
          <a:p xmlns:a="http://schemas.openxmlformats.org/drawingml/2006/main">
            <a:r>
              <a:t>D:/Engg/diss/distributed-search-engine/indexing/partitioner.py</a:t>
            </a:r>
          </a:p>
          <a:p xmlns:a="http://schemas.openxmlformats.org/drawingml/2006/main">
            <a:r>
              <a:t>D:/Engg/diss/distributed-search-engine/indexing/index_builder.py</a:t>
            </a:r>
          </a:p>
          <a:p xmlns:a="http://schemas.openxmlformats.org/drawingml/2006/main">
            <a:r>
              <a:t>Verified local command: python app.py stats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adds the user-facing and fault-tolerant pieces of Member 2. It links to Unit 2 fault-tolerance self-study.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D:/Engg/diss/distributed-search-engine/app.py</a:t>
            </a:r>
          </a:p>
          <a:p xmlns:a="http://schemas.openxmlformats.org/drawingml/2006/main">
            <a:r>
              <a:t>D:/Engg/diss/distributed-search-engine/crawler/crawler.py</a:t>
            </a:r>
          </a:p>
          <a:p xmlns:a="http://schemas.openxmlformats.org/drawingml/2006/main">
            <a:r>
              <a:t>D:/Engg/diss/distributed-search-engine/parser/html_parser.py</a:t>
            </a:r>
          </a:p>
          <a:p xmlns:a="http://schemas.openxmlformats.org/drawingml/2006/main">
            <a:r>
              <a:t>D:/Engg/diss/distributed-search-engine/indexing/partitioner.py</a:t>
            </a:r>
          </a:p>
          <a:p xmlns:a="http://schemas.openxmlformats.org/drawingml/2006/main">
            <a:r>
              <a:t>D:/Engg/diss/distributed-search-engine/indexing/index_builder.py</a:t>
            </a:r>
          </a:p>
          <a:p xmlns:a="http://schemas.openxmlformats.org/drawingml/2006/main">
            <a:r>
              <a:t>Verified local command: python app.py stats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as the direct mapping to the FA-1 syllabus expected by faculty.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D:/Engg/diss/distributed-search-engine/app.py</a:t>
            </a:r>
          </a:p>
          <a:p xmlns:a="http://schemas.openxmlformats.org/drawingml/2006/main">
            <a:r>
              <a:t>D:/Engg/diss/distributed-search-engine/crawler/crawler.py</a:t>
            </a:r>
          </a:p>
          <a:p xmlns:a="http://schemas.openxmlformats.org/drawingml/2006/main">
            <a:r>
              <a:t>D:/Engg/diss/distributed-search-engine/parser/html_parser.py</a:t>
            </a:r>
          </a:p>
          <a:p xmlns:a="http://schemas.openxmlformats.org/drawingml/2006/main">
            <a:r>
              <a:t>D:/Engg/diss/distributed-search-engine/indexing/partitioner.py</a:t>
            </a:r>
          </a:p>
          <a:p xmlns:a="http://schemas.openxmlformats.org/drawingml/2006/main">
            <a:r>
              <a:t>D:/Engg/diss/distributed-search-engine/indexing/index_builder.py</a:t>
            </a:r>
          </a:p>
          <a:p xmlns:a="http://schemas.openxmlformats.org/drawingml/2006/main">
            <a:r>
              <a:t>Verified local command: python app.py stats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with the exact demonstration plan. It covers Member 1 artifacts and Member 2 runtime behavior.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D:/Engg/diss/distributed-search-engine/app.py</a:t>
            </a:r>
          </a:p>
          <a:p xmlns:a="http://schemas.openxmlformats.org/drawingml/2006/main">
            <a:r>
              <a:t>D:/Engg/diss/distributed-search-engine/crawler/crawler.py</a:t>
            </a:r>
          </a:p>
          <a:p xmlns:a="http://schemas.openxmlformats.org/drawingml/2006/main">
            <a:r>
              <a:t>D:/Engg/diss/distributed-search-engine/parser/html_parser.py</a:t>
            </a:r>
          </a:p>
          <a:p xmlns:a="http://schemas.openxmlformats.org/drawingml/2006/main">
            <a:r>
              <a:t>D:/Engg/diss/distributed-search-engine/indexing/partitioner.py</a:t>
            </a:r>
          </a:p>
          <a:p xmlns:a="http://schemas.openxmlformats.org/drawingml/2006/main">
            <a:r>
              <a:t>D:/Engg/diss/distributed-search-engine/indexing/index_builder.py</a:t>
            </a:r>
          </a:p>
          <a:p xmlns:a="http://schemas.openxmlformats.org/drawingml/2006/main">
            <a:r>
              <a:t>Verified local command: python app.py stats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8c46a8e8e6c421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67ee837b76b47b6" /><Relationship Type="http://schemas.openxmlformats.org/officeDocument/2006/relationships/slideLayout" Target="/ppt/slideLayouts/slideLayout1.xml" Id="Rdd5c4a9c2e274ea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d5c4a9c2e274ea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e4feb9e87f46e5" /><Relationship Type="http://schemas.openxmlformats.org/officeDocument/2006/relationships/notesSlide" Target="/ppt/notesSlides/notesSlide1.xml" Id="R60b9fcf7dc984f1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44d1d796bf42f2" /><Relationship Type="http://schemas.openxmlformats.org/officeDocument/2006/relationships/notesSlide" Target="/ppt/notesSlides/notesSlide2.xml" Id="Rb5d9aaf48889408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c62df3ee1e49fe" /><Relationship Type="http://schemas.openxmlformats.org/officeDocument/2006/relationships/notesSlide" Target="/ppt/notesSlides/notesSlide3.xml" Id="R358638d2ba244e0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f71552dccd49bd" /><Relationship Type="http://schemas.openxmlformats.org/officeDocument/2006/relationships/notesSlide" Target="/ppt/notesSlides/notesSlide4.xml" Id="R92fd9f210e69423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1481dd728140a4" /><Relationship Type="http://schemas.openxmlformats.org/officeDocument/2006/relationships/notesSlide" Target="/ppt/notesSlides/notesSlide5.xml" Id="R59da8e1a29594d6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0fd09e04914e54" /><Relationship Type="http://schemas.openxmlformats.org/officeDocument/2006/relationships/notesSlide" Target="/ppt/notesSlides/notesSlide6.xml" Id="Rf14133cab4c943c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999a56dad34168" /><Relationship Type="http://schemas.openxmlformats.org/officeDocument/2006/relationships/notesSlide" Target="/ppt/notesSlides/notesSlide7.xml" Id="Ra22cfc6f523c48c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ef3fb5275046f2" /><Relationship Type="http://schemas.openxmlformats.org/officeDocument/2006/relationships/notesSlide" Target="/ppt/notesSlides/notesSlide8.xml" Id="Rd970b78f3d9642e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b32513853347e5" /><Relationship Type="http://schemas.openxmlformats.org/officeDocument/2006/relationships/notesSlide" Target="/ppt/notesSlides/notesSlide9.xml" Id="R72819b49b69e4b0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c156fac4104e4c" /><Relationship Type="http://schemas.openxmlformats.org/officeDocument/2006/relationships/notesSlide" Target="/ppt/notesSlides/notesSlide10.xml" Id="Rbf8da3546280446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5118c63aec4291" /><Relationship Type="http://schemas.openxmlformats.org/officeDocument/2006/relationships/notesSlide" Target="/ppt/notesSlides/notesSlide11.xml" Id="Racf15c826174402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c3456cb5ad4149" /><Relationship Type="http://schemas.openxmlformats.org/officeDocument/2006/relationships/notesSlide" Target="/ppt/notesSlides/notesSlide12.xml" Id="R151c9d4b3cd8418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9782baabed4698" /><Relationship Type="http://schemas.openxmlformats.org/officeDocument/2006/relationships/notesSlide" Target="/ppt/notesSlides/notesSlide13.xml" Id="Ra25ce3b5dfa1447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F52E6C-7840-4E50-8F45-1E27C4686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721B0B-93ED-4B74-8288-BBAD98993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19200"/>
            <a:ext cx="80962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Fault-Tolerant Distributed Search Engine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859C1D-677D-46F6-8717-43C8E7601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86050"/>
            <a:ext cx="7429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D6B78"/>
                </a:solidFill>
              </a:defRPr>
            </a:pPr>
            <a:r>
              <a:rPr sz="1800" b="0">
                <a:solidFill>
                  <a:srgbClr val="5D6B78"/>
                </a:solidFill>
              </a:rPr>
              <a:t>Partitioned indexing and parallel query processing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FA3A42-5C4B-40BB-AB57-7724BAB6C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5280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E7C7B"/>
                </a:solidFill>
              </a:defRPr>
            </a:pPr>
            <a:r>
              <a:rPr sz="1500" b="1">
                <a:solidFill>
                  <a:srgbClr val="0E7C7B"/>
                </a:solidFill>
              </a:rPr>
              <a:t>FA-1 Technical Presentation | Distributed Systems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56727D-4491-4DA4-81EC-B65FC234F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71650"/>
            <a:ext cx="27241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1BDB30-2BCB-4292-B81A-89C106C6F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13360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02A43"/>
                </a:solidFill>
              </a:defRPr>
            </a:pPr>
            <a:r>
              <a:rPr sz="1875" b="1">
                <a:solidFill>
                  <a:srgbClr val="102A43"/>
                </a:solidFill>
              </a:rPr>
              <a:t>Scope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A8E324-30F1-43D9-A14E-3F54E7A41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003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654C64-886B-4C62-8518-54622E57A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72415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12B"/>
                </a:solidFill>
              </a:defRPr>
            </a:pPr>
            <a:r>
              <a:rPr sz="1350" b="0">
                <a:solidFill>
                  <a:srgbClr val="17212B"/>
                </a:solidFill>
              </a:rPr>
              <a:t>Member 1: indexing layer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E4A951-3422-4434-BD15-0DB762AC2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295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8D9A12-D6B4-44C9-8826-911C8A4FE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21945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12B"/>
                </a:solidFill>
              </a:defRPr>
            </a:pPr>
            <a:r>
              <a:rPr sz="1350" b="0">
                <a:solidFill>
                  <a:srgbClr val="17212B"/>
                </a:solidFill>
              </a:rPr>
              <a:t>Member 2: query layer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BB0D96-7B66-46A6-B442-4914A5189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151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Distributed Search Engine | FA-1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366EA0-3833-4FF0-A058-5EDCFB42B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1162453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C4B1C6-92B7-462D-96B0-60CFFF0DE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Why search is a distributed-systems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B1EB4E-0C7D-4688-B1DC-36E64287A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906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A centralized search system limits scalability and availability.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5C4C00-28D3-40F5-81B2-A5FE38A0A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66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968302-6BCD-4852-9959-C539C1066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151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Distributed Search Engine | FA-1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EFB27C-1229-42D8-970C-48CE39CE9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04A2A1-5B7F-4D9A-B330-6F5383943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00025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2A43"/>
                </a:solidFill>
              </a:defRPr>
            </a:pPr>
            <a:r>
              <a:rPr sz="1875" b="1">
                <a:solidFill>
                  <a:srgbClr val="102A43"/>
                </a:solidFill>
              </a:rPr>
              <a:t>Centralized search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4F998F-9AAE-4CA0-9E99-F3285CFF1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895600"/>
            <a:ext cx="21907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single index</a:t>
            </a:r>
          </a:p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single query processor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B2ED2D-B2EF-43D3-9173-1C6F93B55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514850"/>
            <a:ext cx="26670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C2413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bottleneck / single failure point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64155B-22E5-432E-BE30-679A5DEB8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00025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2A43"/>
                </a:solidFill>
              </a:defRPr>
            </a:pPr>
            <a:r>
              <a:rPr sz="1875" b="1">
                <a:solidFill>
                  <a:srgbClr val="102A43"/>
                </a:solidFill>
              </a:rPr>
              <a:t>Distributed search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BC0A19-8EC1-4588-A453-873406B32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724150"/>
            <a:ext cx="16192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Coordinator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16B954-F6AC-43E4-B104-54AB368BD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1719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Node 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60838B-0159-4FF3-B97B-ECC817565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1719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Node 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E97B0D-7886-4CA4-9A95-42EDFA1EE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41719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6C5CE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Node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71E649-63C3-49C6-A96A-EA05DC622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00650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7212B"/>
                </a:solidFill>
              </a:defRPr>
            </a:pPr>
            <a:r>
              <a:rPr sz="1500" b="0">
                <a:solidFill>
                  <a:srgbClr val="17212B"/>
                </a:solidFill>
              </a:rPr>
              <a:t>Data is partitioned and query work is sent to multiple nodes in parallel.</a:t>
            </a:r>
          </a:p>
        </p:txBody>
      </p:sp>
    </p:spTree>
    <p:extLst>
      <p:ext uri="{BB962C8B-B14F-4D97-AF65-F5344CB8AC3E}">
        <p14:creationId xmlns:p14="http://schemas.microsoft.com/office/powerpoint/2010/main" val="100513309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D419779-F64B-4C1F-ACAD-961A26327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Architecture has an offline layer and an online layer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7DAEB0-9ADF-4860-89F9-43E3F21F7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906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Member 1 prepares shard/index files; Member 2 serves distributed queries using those files.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F47AF6-8814-42F2-BB7F-CEF89FBBC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66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E93E45-0BEC-494C-8B4E-B435798FC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151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Distributed Search Engine | FA-1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06C2E6-BCD7-41B3-83D6-4B71DB622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1425B8-CBE7-46E7-8D92-4AC8B3083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85750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Crawl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1738C9-C370-40A5-B58A-7A7B25FE8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028950"/>
            <a:ext cx="3238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D6B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40F189-0C1B-488B-9064-978682A5E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85750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Parse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10231E-A84F-46E1-A1DC-589DFF987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028950"/>
            <a:ext cx="3238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D6B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663468-3644-47AE-B14A-24FD420EE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85750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6C5CE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Shard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88CE20-7187-46E7-9F1F-C094BB826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028950"/>
            <a:ext cx="3238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D6B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628B66-F951-4BD1-AE04-E0CB04E45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85750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Index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99DE61-4CCF-4194-907E-5C52281AF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028950"/>
            <a:ext cx="3238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D6B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9A2F10-0CFF-464B-8CD4-575B38D09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85750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Search nodes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3E7BAD-2236-4D14-9220-B5A546C0A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028950"/>
            <a:ext cx="3238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D6B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EEE8F9-1294-47B3-9248-0A555B3DB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85750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Coordinator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616763-B463-492A-9FC9-51A2E638E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028950"/>
            <a:ext cx="3238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D6B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42F3F3C-5A69-42B4-9EEA-55D9EC617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85750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2E7D3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Web UI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CDD7FE-70A3-4525-B2AB-645D09B6D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17170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E7C7B"/>
                </a:solidFill>
              </a:defRPr>
            </a:pPr>
            <a:r>
              <a:rPr sz="1875" b="1">
                <a:solidFill>
                  <a:srgbClr val="0E7C7B"/>
                </a:solidFill>
              </a:rPr>
              <a:t>Member 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186383B-95F6-4569-B047-385A0568A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17170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3267B1"/>
                </a:solidFill>
              </a:defRPr>
            </a:pPr>
            <a:r>
              <a:rPr sz="1875" b="1">
                <a:solidFill>
                  <a:srgbClr val="3267B1"/>
                </a:solidFill>
              </a:rPr>
              <a:t>Member 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35C2A2B-91EC-4D12-B90C-E73870E02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91000"/>
            <a:ext cx="47625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E8F5F4"/>
          </a:solidFill>
          <a:ln xmlns:a="http://schemas.openxmlformats.org/drawingml/2006/main" w="9525">
            <a:solidFill>
              <a:srgbClr val="B8DEDC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B203220-EFEA-48CD-94E5-0D73605A4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400550"/>
            <a:ext cx="415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Offline output: raw pages, documents.jsonl, shard files, index files, global statistics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1D17F58-9514-405A-88B0-5C6389236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191000"/>
            <a:ext cx="47625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EEF3FA"/>
          </a:solidFill>
          <a:ln xmlns:a="http://schemas.openxmlformats.org/drawingml/2006/main" w="9525">
            <a:solidFill>
              <a:srgbClr val="BDD0E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0AED479-C0EA-450F-927D-CB331BACB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400550"/>
            <a:ext cx="415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Runtime output: user query, parallel node responses, merged ranked result list</a:t>
            </a:r>
          </a:p>
        </p:txBody>
      </p:sp>
    </p:spTree>
    <p:extLst>
      <p:ext uri="{BB962C8B-B14F-4D97-AF65-F5344CB8AC3E}">
        <p14:creationId xmlns:p14="http://schemas.microsoft.com/office/powerpoint/2010/main" val="182636932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558AD31-80F0-46CB-919B-4AF56F2A6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Team implementation is divided into two connected layers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CF5EBC-0EF8-41A6-9539-182CA59F8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906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The final system is one distributed search engine, not two isolated programs.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1F2944-965F-4AF4-966F-BEA35E9B5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66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B0DE0F-9657-4469-A2C4-BF3C1F369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151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Distributed Search Engine | FA-1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96798D-AB7E-476C-976F-5F689195C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8FB533-7316-4782-B9FC-187E8AA17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057400"/>
            <a:ext cx="419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E7C7B"/>
                </a:solidFill>
              </a:defRPr>
            </a:pPr>
            <a:r>
              <a:rPr sz="1875" b="1">
                <a:solidFill>
                  <a:srgbClr val="0E7C7B"/>
                </a:solidFill>
              </a:rPr>
              <a:t>Member 1: data/indexing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9DCB4A-CC37-482E-AB6B-2E3071C28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8003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7A42AF-325A-4BC8-81EA-C4E91EE16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7241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controlled crawling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8FA85E-557E-4D12-8DA1-F078F8CD7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352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D6CE9C-6D95-4388-9DDB-F9F55313D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2766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HTML parsing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158406-5789-49B9-9E17-564F277A2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9052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763DA5-6305-4DED-8624-BC5A16F31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8290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document partitioning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11C05A-811E-44B9-839C-6EAE4673A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457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0EFEBB-F0AB-4C0D-8604-D8A2AB228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3815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local inverted indexes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2FCF20-22B4-4775-8804-41F63F5E0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057400"/>
            <a:ext cx="419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3267B1"/>
                </a:solidFill>
              </a:defRPr>
            </a:pPr>
            <a:r>
              <a:rPr sz="1875" b="1">
                <a:solidFill>
                  <a:srgbClr val="3267B1"/>
                </a:solidFill>
              </a:rPr>
              <a:t>Member 2: query/runtime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2BE6B4-0B0A-4836-83D7-C2647D4BC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8003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865600-7FF0-4C0D-9588-1829675D9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7241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gRPC search-node services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F032F51-237D-4E18-9A41-B62D39D8E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352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88A4CE-3C72-40A2-84FB-1A0C085CF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2766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coordinator fan-out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F66A335-2C88-4760-9AF1-2E7E01D15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9052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E22D367-025E-4C2A-8EDD-C69D394FF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8290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ranking aggregation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2385FFC-3F46-478C-8D57-85EB774A4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457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50B8D7B-9CDC-4CFF-AE08-628DF45D7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3815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web/API result display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558E688-7634-4322-B081-345ABE85D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219700"/>
            <a:ext cx="6286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8EA"/>
          </a:solidFill>
          <a:ln xmlns:a="http://schemas.openxmlformats.org/drawingml/2006/main" w="9525">
            <a:solidFill>
              <a:srgbClr val="F4D49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C51569F-200D-4533-A64D-A1CC5F4F1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5372100"/>
            <a:ext cx="5638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212B"/>
                </a:solidFill>
              </a:defRPr>
            </a:pPr>
            <a:r>
              <a:rPr sz="1425" b="1">
                <a:solidFill>
                  <a:srgbClr val="17212B"/>
                </a:solidFill>
              </a:rPr>
              <a:t>Common contract: node_id, shard path, index path, QueryRequest, SearchResult</a:t>
            </a:r>
          </a:p>
        </p:txBody>
      </p:sp>
    </p:spTree>
    <p:extLst>
      <p:ext uri="{BB962C8B-B14F-4D97-AF65-F5344CB8AC3E}">
        <p14:creationId xmlns:p14="http://schemas.microsoft.com/office/powerpoint/2010/main" val="180663973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99B4BE-C9BF-4F24-A7E6-17866AF96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Member 1 builds the data and index foundation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4A422E-983A-49E8-AF89-7D78B54CA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906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The completed FA-1 implementation prepares the files loaded by search nodes.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E87473-20D5-4881-B816-9C7DD278C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66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2B51E0-AA25-443C-B294-CD71FF19E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151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Distributed Search Engine | FA-1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E2369D-460C-4623-811B-724B380ED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C880E4-67A9-47AE-812A-0AB4CCD68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0002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E7C7B"/>
                </a:solidFill>
              </a:defRPr>
            </a:pPr>
            <a:r>
              <a:rPr sz="1800" b="1">
                <a:solidFill>
                  <a:srgbClr val="0E7C7B"/>
                </a:solidFill>
              </a:rPr>
              <a:t>Crawler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B135D4-341C-4707-A3F8-6F04E710C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019300"/>
            <a:ext cx="657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12B"/>
                </a:solidFill>
              </a:defRPr>
            </a:pPr>
            <a:r>
              <a:rPr sz="1500" b="0">
                <a:solidFill>
                  <a:srgbClr val="17212B"/>
                </a:solidFill>
              </a:rPr>
              <a:t>Visits allowed domains, respects limits, saves raw HTML offline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0FC4A5-D05B-4E16-AF5B-EC7213FA5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95550"/>
            <a:ext cx="857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EE410D-C512-4A69-AB73-715970F62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8194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267B1"/>
                </a:solidFill>
              </a:defRPr>
            </a:pPr>
            <a:r>
              <a:rPr sz="1800" b="1">
                <a:solidFill>
                  <a:srgbClr val="3267B1"/>
                </a:solidFill>
              </a:rPr>
              <a:t>Parser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0207D8-C1FD-4DB9-81C5-B66B0617B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838450"/>
            <a:ext cx="657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12B"/>
                </a:solidFill>
              </a:defRPr>
            </a:pPr>
            <a:r>
              <a:rPr sz="1500" b="0">
                <a:solidFill>
                  <a:srgbClr val="17212B"/>
                </a:solidFill>
              </a:rPr>
              <a:t>Extracts title, URL, source domain, visible text, and token count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8DAFDA-BC06-4ACE-A453-9D992ABAB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314700"/>
            <a:ext cx="857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E05BF7-142B-4388-8317-7FDB5F7D1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6385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C5CE7"/>
                </a:solidFill>
              </a:defRPr>
            </a:pPr>
            <a:r>
              <a:rPr sz="1800" b="1">
                <a:solidFill>
                  <a:srgbClr val="6C5CE7"/>
                </a:solidFill>
              </a:rPr>
              <a:t>Partitioner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A207B5-9F88-4F08-8523-6DE436ECF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657600"/>
            <a:ext cx="657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12B"/>
                </a:solidFill>
              </a:defRPr>
            </a:pPr>
            <a:r>
              <a:rPr sz="1500" b="0">
                <a:solidFill>
                  <a:srgbClr val="17212B"/>
                </a:solidFill>
              </a:rPr>
              <a:t>Splits documents into node-owned shard files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DFB10F-BEE7-4E75-90FD-1345F60D8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133850"/>
            <a:ext cx="857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DC9CEB-B3D1-4E2A-B2CB-6E7CB7706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4577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2A93B"/>
                </a:solidFill>
              </a:defRPr>
            </a:pPr>
            <a:r>
              <a:rPr sz="1800" b="1">
                <a:solidFill>
                  <a:srgbClr val="F2A93B"/>
                </a:solidFill>
              </a:rPr>
              <a:t>Index builder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EE4FB1-C5C3-476D-AB30-107E7D2A5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476750"/>
            <a:ext cx="657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12B"/>
                </a:solidFill>
              </a:defRPr>
            </a:pPr>
            <a:r>
              <a:rPr sz="1500" b="0">
                <a:solidFill>
                  <a:srgbClr val="17212B"/>
                </a:solidFill>
              </a:rPr>
              <a:t>Creates local postings and global IDF statistics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DA7A9CA-5DEE-463C-9359-5D2DFAC2B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953000"/>
            <a:ext cx="857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97706774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2D8C18-1909-4DED-B63C-37C205604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Partitioned indexing makes each node independent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52BAEB-4B7C-48B3-8961-EDC05D835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906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Each search node can load only its shard and its local index.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E109FE-8547-4708-A286-F959085C9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66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38C9C6-E9C7-4298-B054-B5FF64E83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151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Distributed Search Engine | FA-1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F3ABBF-569C-4759-BBAF-8A5A22B79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0EF24E-237B-4409-B8A5-FE8096FD2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724150"/>
            <a:ext cx="14287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documents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86F35D-4F57-4393-8107-F673CBE05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876550"/>
            <a:ext cx="4191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D6B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63B366-E30B-48E8-A0C1-BCEF70EF2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228850"/>
            <a:ext cx="1238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shard 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231E31-BF5A-440F-8BBA-C21053A28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952750"/>
            <a:ext cx="1238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shard 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6E6820-3212-4D50-9E98-0760C7A24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676650"/>
            <a:ext cx="1238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6C5CE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shard 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62BF40-509F-40AA-9E4F-48AEA553E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3434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02A43"/>
                </a:solidFill>
              </a:defRPr>
            </a:pPr>
            <a:r>
              <a:rPr sz="1575" b="1">
                <a:solidFill>
                  <a:srgbClr val="102A43"/>
                </a:solidFill>
              </a:rPr>
              <a:t>Range partitioning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15CB99-E443-4726-9514-F7F2A0E61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09800"/>
            <a:ext cx="3810000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7F0774-25FB-400A-8BB8-4AF4818FD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59080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E7C7B"/>
                </a:solidFill>
              </a:defRPr>
            </a:pPr>
            <a:r>
              <a:rPr sz="1800" b="1">
                <a:solidFill>
                  <a:srgbClr val="0E7C7B"/>
                </a:solidFill>
              </a:rPr>
              <a:t>Local inverted index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C7E1AE-52E7-4B3A-9550-3C85276D0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124200"/>
            <a:ext cx="295275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term -&gt; [(doc_id, tf, positions)]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query terms are matched locally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scores use global_stats.json</a:t>
            </a:r>
          </a:p>
        </p:txBody>
      </p:sp>
    </p:spTree>
    <p:extLst>
      <p:ext uri="{BB962C8B-B14F-4D97-AF65-F5344CB8AC3E}">
        <p14:creationId xmlns:p14="http://schemas.microsoft.com/office/powerpoint/2010/main" val="27452265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29A9127-4860-495E-A62B-52A63D62C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Member 2 implements the distributed query runtime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787E1B-E2C0-4F9D-B84D-CA2EA38DD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906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This part turns prepared indexes into a searchable distributed service.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25F867-7F95-46EB-AB04-CFFC6F2E5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66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A566F5-8A6A-42BC-AFC7-A0C0DE701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151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Distributed Search Engine | FA-1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BC94A0-800A-4CBF-B204-A4FB9137D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F8E47F-2AA0-479D-85BD-6F2D32D8D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924050"/>
            <a:ext cx="1000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A05050-8341-4A28-BBD1-2A23F3F76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764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267B1"/>
                </a:solidFill>
              </a:defRPr>
            </a:pPr>
            <a:r>
              <a:rPr sz="1650" b="1">
                <a:solidFill>
                  <a:srgbClr val="3267B1"/>
                </a:solidFill>
              </a:rPr>
              <a:t>Search node service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338D2F-5B6A-49FB-A71B-2F1D7864F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095500"/>
            <a:ext cx="619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Loads one shard and local index; returns local top-K results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CF8353-FED2-4040-8900-5B4289C1D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781300"/>
            <a:ext cx="1000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587B0F-B096-429D-9FAC-C10244485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9337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Coordinator service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31FA2E-513A-4749-8C09-991B9D4D5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952750"/>
            <a:ext cx="619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Receives query, calls all nodes, handles timeout, merges results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FFAADC-727B-429F-B4C9-3E317A5CA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638550"/>
            <a:ext cx="1000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3E70E6-1A3A-4B5D-B652-A72D8AEB7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7909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E7D32"/>
                </a:solidFill>
              </a:defRPr>
            </a:pPr>
            <a:r>
              <a:rPr sz="1650" b="1">
                <a:solidFill>
                  <a:srgbClr val="2E7D32"/>
                </a:solidFill>
              </a:rPr>
              <a:t>API / Web UI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8EDAB3-7895-49B7-9DC3-7D8E59903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810000"/>
            <a:ext cx="619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Accepts user input and displays ranked results with node status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152AC6-A50D-4B46-A84E-D541F2EFD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95800"/>
            <a:ext cx="1000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CA0C57B-F89C-4786-9771-D702BD3E0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6482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C5CE7"/>
                </a:solidFill>
              </a:defRPr>
            </a:pPr>
            <a:r>
              <a:rPr sz="1650" b="1">
                <a:solidFill>
                  <a:srgbClr val="6C5CE7"/>
                </a:solidFill>
              </a:rPr>
              <a:t>Config layer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77E1D3-4E69-498A-A4A0-4C4A7269A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667250"/>
            <a:ext cx="619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Stores node IDs, host addresses, ports, and shard assignments</a:t>
            </a:r>
          </a:p>
        </p:txBody>
      </p:sp>
    </p:spTree>
    <p:extLst>
      <p:ext uri="{BB962C8B-B14F-4D97-AF65-F5344CB8AC3E}">
        <p14:creationId xmlns:p14="http://schemas.microsoft.com/office/powerpoint/2010/main" val="38908208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E17611-7B7F-4374-A950-DA983AFFE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gRPC defines the communication contract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9CFD51-C7B1-41F8-8CE0-AC75AA0C9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906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The coordinator and search nodes communicate through request and response messages.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57C4E2-9F28-43FD-94B9-A3AE2E082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66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0272E7-6B42-49F8-8257-0F289460E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151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Distributed Search Engine | FA-1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6B1705-3B2B-4208-9E22-4C898457F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AE605A-6538-4BC1-BE6A-E5C930EAD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000250"/>
            <a:ext cx="434340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B12924-D509-4CEC-9C5C-5043CBE5F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3431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267B1"/>
                </a:solidFill>
              </a:defRPr>
            </a:pPr>
            <a:r>
              <a:rPr sz="1800" b="1">
                <a:solidFill>
                  <a:srgbClr val="3267B1"/>
                </a:solidFill>
              </a:rPr>
              <a:t>QueryRequest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28E728-3CC5-49EE-8B6E-15FFA24D4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914650"/>
            <a:ext cx="2476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query_text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top_k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request_id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timeout_ms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3089D9-F43E-4122-8CB0-0D1971FEF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000250"/>
            <a:ext cx="434340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3EFACF-401A-45C3-B44B-6293BA34C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3431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E7C7B"/>
                </a:solidFill>
              </a:defRPr>
            </a:pPr>
            <a:r>
              <a:rPr sz="1800" b="1">
                <a:solidFill>
                  <a:srgbClr val="0E7C7B"/>
                </a:solidFill>
              </a:rPr>
              <a:t>SearchResponse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B07DA2-9FB0-4C64-B630-4FEF381BF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914650"/>
            <a:ext cx="2476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node_id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status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results[]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latency_ms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BAAFB2-47F7-41AA-AC63-245E07995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3505200"/>
            <a:ext cx="742950" cy="3429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D6B78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209618994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068C42-DBA4-45FB-B7C8-495993D70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Coordinator controls fan-out, timeout, and merge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513C96-59C5-40D1-99C2-102702A91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906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The coordinator is the central runtime component in Member 2's implementation.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D034FE-4A15-4783-9D36-AADDA2778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66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B99372-2368-4D08-B2FC-B21A82B6D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151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Distributed Search Engine | FA-1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754F93-D4DB-43CA-A51F-FEB302442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C9C2E3-2564-41EE-8752-134A85631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8478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7AA86E-96ED-486C-AC52-CAA7AB9EF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9240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12B"/>
                </a:solidFill>
              </a:defRPr>
            </a:pPr>
            <a:r>
              <a:rPr sz="1650" b="0">
                <a:solidFill>
                  <a:srgbClr val="17212B"/>
                </a:solidFill>
              </a:rPr>
              <a:t>receive user query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7F7462-7A1A-4279-909F-DF96DBCF4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5908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8AB993-B011-48A1-A0D9-725EAA38F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6670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12B"/>
                </a:solidFill>
              </a:defRPr>
            </a:pPr>
            <a:r>
              <a:rPr sz="1650" b="0">
                <a:solidFill>
                  <a:srgbClr val="17212B"/>
                </a:solidFill>
              </a:rPr>
              <a:t>send same request to all nodes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374723-A405-493C-A0C1-5CAC7EA60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3337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F2C1F5-EFC6-4313-A214-39F8CE341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4099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12B"/>
                </a:solidFill>
              </a:defRPr>
            </a:pPr>
            <a:r>
              <a:rPr sz="1650" b="0">
                <a:solidFill>
                  <a:srgbClr val="17212B"/>
                </a:solidFill>
              </a:rPr>
              <a:t>wait with timeout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079B94-D7F3-4FA9-81BB-34C72C548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0767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3EA2A5-657E-4FC0-AC65-E2135CD8D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1529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12B"/>
                </a:solidFill>
              </a:defRPr>
            </a:pPr>
            <a:r>
              <a:rPr sz="1650" b="0">
                <a:solidFill>
                  <a:srgbClr val="17212B"/>
                </a:solidFill>
              </a:rPr>
              <a:t>merge local top-K results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ED5C18-4345-4BCA-82B9-5B1D8521A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8196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34AD12-0F08-4E7A-AF86-F8997A74A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8958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12B"/>
                </a:solidFill>
              </a:defRPr>
            </a:pPr>
            <a:r>
              <a:rPr sz="1650" b="0">
                <a:solidFill>
                  <a:srgbClr val="17212B"/>
                </a:solidFill>
              </a:rPr>
              <a:t>return ranked response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107A683-9BF6-4177-8895-C07458159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343150"/>
            <a:ext cx="3143250" cy="2324100"/>
          </a:xfrm>
          <a:prstGeom xmlns:a="http://schemas.openxmlformats.org/drawingml/2006/main" prst="roundRect">
            <a:avLst>
              <a:gd name="adj" fmla="val 327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968EB8-F244-4C2C-835A-803BA1C84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7051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02A43"/>
                </a:solidFill>
              </a:defRPr>
            </a:pPr>
            <a:r>
              <a:rPr sz="1800" b="1">
                <a:solidFill>
                  <a:srgbClr val="102A43"/>
                </a:solidFill>
              </a:rPr>
              <a:t>Merge rule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A132C9E-1FC4-4B3E-8652-227C15D1C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257550"/>
            <a:ext cx="238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7212B"/>
                </a:solidFill>
              </a:defRPr>
            </a:pPr>
            <a:r>
              <a:rPr sz="1500" b="0">
                <a:solidFill>
                  <a:srgbClr val="17212B"/>
                </a:solidFill>
              </a:rPr>
              <a:t>Combine node results</a:t>
            </a:r>
          </a:p>
          <a:p xmlns:a="http://schemas.openxmlformats.org/drawingml/2006/main">
            <a:pPr algn="ctr">
              <a:defRPr sz="1500" b="0">
                <a:solidFill>
                  <a:srgbClr val="17212B"/>
                </a:solidFill>
              </a:defRPr>
            </a:pPr>
            <a:r>
              <a:rPr sz="1500" b="0">
                <a:solidFill>
                  <a:srgbClr val="17212B"/>
                </a:solidFill>
              </a:rPr>
              <a:t>sort by score</a:t>
            </a:r>
          </a:p>
          <a:p xmlns:a="http://schemas.openxmlformats.org/drawingml/2006/main">
            <a:pPr algn="ctr">
              <a:defRPr sz="1500" b="0">
                <a:solidFill>
                  <a:srgbClr val="17212B"/>
                </a:solidFill>
              </a:defRPr>
            </a:pPr>
            <a:r>
              <a:rPr sz="1500" b="0">
                <a:solidFill>
                  <a:srgbClr val="17212B"/>
                </a:solidFill>
              </a:rPr>
              <a:t>remove duplicate URLs</a:t>
            </a:r>
          </a:p>
          <a:p xmlns:a="http://schemas.openxmlformats.org/drawingml/2006/main">
            <a:pPr algn="ctr">
              <a:defRPr sz="1500" b="0">
                <a:solidFill>
                  <a:srgbClr val="17212B"/>
                </a:solidFill>
              </a:defRPr>
            </a:pPr>
            <a:r>
              <a:rPr sz="1500" b="0">
                <a:solidFill>
                  <a:srgbClr val="17212B"/>
                </a:solidFill>
              </a:rPr>
              <a:t>show node status</a:t>
            </a:r>
          </a:p>
        </p:txBody>
      </p:sp>
    </p:spTree>
    <p:extLst>
      <p:ext uri="{BB962C8B-B14F-4D97-AF65-F5344CB8AC3E}">
        <p14:creationId xmlns:p14="http://schemas.microsoft.com/office/powerpoint/2010/main" val="7809199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C810B43-5D69-4549-843F-D20D0DE76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Each search node performs local retrieval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8E038C-C13C-4E08-9B56-DACB86231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906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Nodes do not need the full corpus; they search only their own partition.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71DC5E-9B6A-4230-9EBD-9FA1C83F5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66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726D7F-AECF-4F7E-9A90-63847BDA9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151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Distributed Search Engine | FA-1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C6EF04-B1FF-4ADF-85CD-DD75B5DA4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651B20-DED4-496E-8019-F9AAA8D3F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9621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267B1"/>
                </a:solidFill>
              </a:defRPr>
            </a:pPr>
            <a:r>
              <a:rPr sz="1800" b="1">
                <a:solidFill>
                  <a:srgbClr val="3267B1"/>
                </a:solidFill>
              </a:rPr>
              <a:t>Node startup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65B79C-6F40-42D7-A53B-A46E1B7D5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051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A5C15A-F3A5-4EC2-9642-370093B56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6289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load assigned shard file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6D0381-4E5C-429F-84E6-1BE1CE8F5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257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284570-B259-42E5-97F5-54A5719AD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1813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load local inverted index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A8A009-BB41-4C44-BA10-2068FBA15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810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F3D291-1C17-4559-AA4A-0ED444478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7338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register node_id and address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EBAFA1-27DD-47ED-A1C7-FC4A8F751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9621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E7C7B"/>
                </a:solidFill>
              </a:defRPr>
            </a:pPr>
            <a:r>
              <a:rPr sz="1800" b="1">
                <a:solidFill>
                  <a:srgbClr val="0E7C7B"/>
                </a:solidFill>
              </a:rPr>
              <a:t>Query handling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46FFB9-F11F-418E-A875-7407176E2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7051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FB5302-74F9-4156-B46D-7AFAEB485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6289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tokenize incoming query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AB49D7-D124-4D68-A546-052EDFDCA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257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7C1C8D8-1A78-4C0A-B261-BA9B8BAA8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1813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lookup postings in local index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197A43-729B-43DB-BBC2-72A9540DA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810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6EABA1-7AF2-4E10-95C5-E05ACC1B1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7338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return local top-K results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E565CBA-DFF0-440A-9FCE-AC2FD800E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953000"/>
            <a:ext cx="68961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8EA"/>
          </a:solidFill>
          <a:ln xmlns:a="http://schemas.openxmlformats.org/drawingml/2006/main" w="9525">
            <a:solidFill>
              <a:srgbClr val="F4D49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AB92AA-CC6E-4873-ADCF-8C525EAD7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62550"/>
            <a:ext cx="6134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7212B"/>
                </a:solidFill>
              </a:defRPr>
            </a:pPr>
            <a:r>
              <a:rPr sz="1350" b="0">
                <a:solidFill>
                  <a:srgbClr val="17212B"/>
                </a:solidFill>
              </a:rPr>
              <a:t>This design supports scalability because adding a node means assigning another partition.</a:t>
            </a:r>
          </a:p>
        </p:txBody>
      </p:sp>
    </p:spTree>
    <p:extLst>
      <p:ext uri="{BB962C8B-B14F-4D97-AF65-F5344CB8AC3E}">
        <p14:creationId xmlns:p14="http://schemas.microsoft.com/office/powerpoint/2010/main" val="66140870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2188F0D-F265-4CEE-B3C9-BD4917BE0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UI and fault handling make the system demonstrable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40EDFD-C78A-4F3A-9AD4-AD010F36A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906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The faculty demo should show normal results and unavailable-node behavior.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9EC9D3-B93C-4A25-9B65-0D13084AC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66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EB83D6-BF7C-4435-BB3A-73AE23E6F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151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Distributed Search Engine | FA-1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CE5E6C-E59D-4BD4-BDC6-BCF18749C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3329ED-CFCE-4D8C-8878-3B20F584F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0383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E7D32"/>
                </a:solidFill>
              </a:defRPr>
            </a:pPr>
            <a:r>
              <a:rPr sz="1800" b="1">
                <a:solidFill>
                  <a:srgbClr val="2E7D32"/>
                </a:solidFill>
              </a:rPr>
              <a:t>Web/API display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B5C993-5AA0-4AF0-9D2D-70038D53F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813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7D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083A09-D3E2-417C-BB05-C099E35A5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7051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query input box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CE3653-CEE2-4D08-B43D-CA1C93503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333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7D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FB1566-92CC-45C7-926D-9F97690DD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2575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ranked result list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84DA1A-A081-493A-86B4-42F0B4141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886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7D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387F11-664F-427F-947F-B9D783439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8100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source URL and score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77410B-8ABD-490F-8A7B-1C4DF1AC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438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7D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E06FC7-3286-45C9-B14E-F6714FE15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3624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node status/latency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B1FE3C-D3E7-4CEC-914C-2C34FB10A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0383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2413A"/>
                </a:solidFill>
              </a:defRPr>
            </a:pPr>
            <a:r>
              <a:rPr sz="1800" b="1">
                <a:solidFill>
                  <a:srgbClr val="C2413A"/>
                </a:solidFill>
              </a:rPr>
              <a:t>Failure behavior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19EA9F-F5C0-4598-A2C8-FD0BD7F68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7813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41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7240B2-5EC5-460D-929B-BDDEFD871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7051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set deadline per node call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10E8B6-3282-40CB-B688-D89C466E7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333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41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169357D-D5DA-4E5E-AAFF-F3BCB268C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2575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skip failed node response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2B446FA-6787-4275-9FAC-CC92172F3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886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41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C14D4F-4D48-481A-90F5-4C4DCC2B5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8100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return partial results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AAE603C-3EB8-4659-88C7-6C3990790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438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41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55C3E0C-8121-40DD-8701-A1A689E09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3624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show which node failed</a:t>
            </a:r>
          </a:p>
        </p:txBody>
      </p:sp>
    </p:spTree>
    <p:extLst>
      <p:ext uri="{BB962C8B-B14F-4D97-AF65-F5344CB8AC3E}">
        <p14:creationId xmlns:p14="http://schemas.microsoft.com/office/powerpoint/2010/main" val="16309845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7D08F5C-BC3C-476F-8C68-1DF08FA2C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FA-1 concepts are visible in both parts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D91CFB-DFBE-4D27-B14D-576C5BDE4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906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The project maps to Unit 1 and Unit 2 through concrete implementation choices.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3EF7AE-AE6D-4832-B655-CDC893220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66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B243B6-C55F-4851-AAAF-E5FA0D2F5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151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Distributed Search Engine | FA-1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9F1820-4192-490E-B0C3-3D7A5B576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C63AFD-A08D-44FC-8219-7798234A3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57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E7C7B"/>
                </a:solidFill>
              </a:defRPr>
            </a:pPr>
            <a:r>
              <a:rPr sz="1875" b="1">
                <a:solidFill>
                  <a:srgbClr val="0E7C7B"/>
                </a:solidFill>
              </a:rPr>
              <a:t>Unit 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F88323-3A1E-49C4-AA2D-9D431B98A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8003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5AD02C-15C3-4921-8C33-B8EB4E40B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7241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architecture: coordinator + search nodes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1E7655-CC65-4241-99D8-F6CC0F255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352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BAFA0F-92D4-456E-B04B-2D3B8F6D4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2766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design issue: partitioning + ranking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A5EEB6-0547-4CF8-A792-F9A52D2B1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9052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3EDADF-AD79-4C9A-A7D3-E2D1276A1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8290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scalability through sharding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08DC7D-4C46-41BB-BD31-986CD70EB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457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C8E75D-2CF9-4E50-8743-3803AB743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3815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middleware boundary between services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9878A8-D7AB-4707-A430-10C6AD96A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057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3267B1"/>
                </a:solidFill>
              </a:defRPr>
            </a:pPr>
            <a:r>
              <a:rPr sz="1875" b="1">
                <a:solidFill>
                  <a:srgbClr val="3267B1"/>
                </a:solidFill>
              </a:rPr>
              <a:t>Unit 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E662BD-FF32-4AA5-994B-D466FCDC8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8003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573025-24FE-4DE2-8F43-EEFBC11FE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7241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RPC using gRPC service calls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1C65F22-4042-4BE0-A2FC-040B2BC15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352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E5FBAD4-C39E-4F91-881B-DAAA0DBFF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2766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request/response message schema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DD5595-9BCB-4396-A9DE-2B85D9D52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9052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F62E58D-61DB-49FB-A660-161FCFF9C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8290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node identifiers and addresses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7AEC6E7-3FD1-43A7-A818-E6E3E82DD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457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FF8AFE0-A079-4B4C-811A-2DAD32185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3815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timeouts for partial results</a:t>
            </a:r>
          </a:p>
        </p:txBody>
      </p:sp>
    </p:spTree>
    <p:extLst>
      <p:ext uri="{BB962C8B-B14F-4D97-AF65-F5344CB8AC3E}">
        <p14:creationId xmlns:p14="http://schemas.microsoft.com/office/powerpoint/2010/main" val="202241373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7768379-E0BE-495C-9051-1B75941D0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Evaluation demo sequence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C199BB-2AB5-4EB2-9F67-D5D9D6F1D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906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The demo should prove that both members' parts connect into one system.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D156D7-9102-4C85-BB71-94EA1A4B4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66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886F71-D092-464C-B20B-A4879F6D9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151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Distributed Search Engine | FA-1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871AAD-79F0-4B6E-A73E-37823DAD1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67978B-D3A5-44CB-89D3-8E26C2396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8478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1D5185-96C2-46AE-B99A-AF2DB39CF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18669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Run Member 1 pipeline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026269-7E84-4BCF-8E19-03229A582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905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B78"/>
                </a:solidFill>
              </a:defRPr>
            </a:pPr>
            <a:r>
              <a:rPr sz="1425" b="0">
                <a:solidFill>
                  <a:srgbClr val="5D6B78"/>
                </a:solidFill>
              </a:rPr>
              <a:t>generate documents, shards, indexes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B8F88C-4C95-4EB7-AD94-59D8F00FB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5908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02A42E-2B74-4B90-8F1C-47B18177C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6098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Start search-node services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A5FEBF-0FB0-4B15-A3F0-099357324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647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B78"/>
                </a:solidFill>
              </a:defRPr>
            </a:pPr>
            <a:r>
              <a:rPr sz="1425" b="0">
                <a:solidFill>
                  <a:srgbClr val="5D6B78"/>
                </a:solidFill>
              </a:rPr>
              <a:t>each node loads one shard and index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C4C7E5-B668-45FA-9754-5AFC279E7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3337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E9A0A4-10B9-4E64-AA51-5C154EDD7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33528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Start coordinator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A107FC-B993-4FFA-A4E2-DD8701CBC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390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B78"/>
                </a:solidFill>
              </a:defRPr>
            </a:pPr>
            <a:r>
              <a:rPr sz="1425" b="0">
                <a:solidFill>
                  <a:srgbClr val="5D6B78"/>
                </a:solidFill>
              </a:rPr>
              <a:t>register node addresses and send fan-out query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B7D8E0B-D673-42E9-9822-FF3A51D8C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767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E6CD2B-1C59-4A7B-BC40-D8F544E3F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40957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Search from UI/API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C66A6C-CF2A-40EE-AFD8-CBFD34A5B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1338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B78"/>
                </a:solidFill>
              </a:defRPr>
            </a:pPr>
            <a:r>
              <a:rPr sz="1425" b="0">
                <a:solidFill>
                  <a:srgbClr val="5D6B78"/>
                </a:solidFill>
              </a:rPr>
              <a:t>display merged ranked results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7F5DA4-1222-485B-9527-08F74CA1D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196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C2413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1FC4F8-02CC-4FBD-8A08-5F6499456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48387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Stop one node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3655B7-38C5-46FF-9DB4-27F86C3FD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8768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B78"/>
                </a:solidFill>
              </a:defRPr>
            </a:pPr>
            <a:r>
              <a:rPr sz="1425" b="0">
                <a:solidFill>
                  <a:srgbClr val="5D6B78"/>
                </a:solidFill>
              </a:rPr>
              <a:t>show timeout and partial result behavior</a:t>
            </a:r>
          </a:p>
        </p:txBody>
      </p:sp>
    </p:spTree>
    <p:extLst>
      <p:ext uri="{BB962C8B-B14F-4D97-AF65-F5344CB8AC3E}">
        <p14:creationId xmlns:p14="http://schemas.microsoft.com/office/powerpoint/2010/main" val="27387769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2026-09-02T16:31:40.0410000Z</dcterms:created>
  <dcterms:modified xsi:type="dcterms:W3CDTF">2026-09-02T16:31:40.0410000Z</dcterms:modified>
</coreProperties>
</file>