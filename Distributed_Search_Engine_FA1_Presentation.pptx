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5d47e6d98b421e" /><Relationship Type="http://schemas.openxmlformats.org/officeDocument/2006/relationships/extended-properties" Target="/docProps/app.xml" Id="R7a3102eae8c444a5" /><Relationship Type="http://schemas.openxmlformats.org/officeDocument/2006/relationships/officeDocument" Target="/ppt/presentation.xml" Id="Rbf9f868685d944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c20cc41f154354"/>
  </p:sldMasterIdLst>
  <p:notesMasterIdLst>
    <p:notesMasterId xmlns:r="http://schemas.openxmlformats.org/officeDocument/2006/relationships" r:id="R6153d307125445b1"/>
  </p:notesMasterIdLst>
  <p:sldIdLst>
    <p:sldId xmlns:r="http://schemas.openxmlformats.org/officeDocument/2006/relationships" id="256" r:id="R1ff4b7377e8c448b"/>
    <p:sldId xmlns:r="http://schemas.openxmlformats.org/officeDocument/2006/relationships" id="257" r:id="R3ee1025caf3c4fd9"/>
    <p:sldId xmlns:r="http://schemas.openxmlformats.org/officeDocument/2006/relationships" id="258" r:id="R81211f4ad6084e31"/>
    <p:sldId xmlns:r="http://schemas.openxmlformats.org/officeDocument/2006/relationships" id="259" r:id="Ra6c9a616101e4211"/>
    <p:sldId xmlns:r="http://schemas.openxmlformats.org/officeDocument/2006/relationships" id="260" r:id="R28f06e9a4c4c419a"/>
    <p:sldId xmlns:r="http://schemas.openxmlformats.org/officeDocument/2006/relationships" id="261" r:id="Rdff5d796edb34dfd"/>
    <p:sldId xmlns:r="http://schemas.openxmlformats.org/officeDocument/2006/relationships" id="262" r:id="Rf4f862626a7c43e4"/>
    <p:sldId xmlns:r="http://schemas.openxmlformats.org/officeDocument/2006/relationships" id="263" r:id="Rc9543b269a5a4ea0"/>
    <p:sldId xmlns:r="http://schemas.openxmlformats.org/officeDocument/2006/relationships" id="264" r:id="Rac57d22bbceb4f23"/>
    <p:sldId xmlns:r="http://schemas.openxmlformats.org/officeDocument/2006/relationships" id="265" r:id="R100af828e59d4fb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60ea4a82f144d0" /><Relationship Type="http://schemas.openxmlformats.org/officeDocument/2006/relationships/slideMaster" Target="/ppt/slideMasters/slideMaster1.xml" Id="Rc5c20cc41f154354" /><Relationship Type="http://schemas.openxmlformats.org/officeDocument/2006/relationships/notesMaster" Target="/ppt/notesMasters/notesMaster1.xml" Id="R6153d307125445b1" /><Relationship Type="http://schemas.openxmlformats.org/officeDocument/2006/relationships/presProps" Target="/ppt/presProps.xml" Id="R9708f9453a65414c" /><Relationship Type="http://schemas.openxmlformats.org/officeDocument/2006/relationships/tableStyles" Target="/ppt/tableStyles.xml" Id="R67b1a5c53c424978" /><Relationship Type="http://schemas.openxmlformats.org/officeDocument/2006/relationships/slide" Target="/ppt/slides/slide1.xml" Id="R1ff4b7377e8c448b" /><Relationship Type="http://schemas.openxmlformats.org/officeDocument/2006/relationships/slide" Target="/ppt/slides/slide2.xml" Id="R3ee1025caf3c4fd9" /><Relationship Type="http://schemas.openxmlformats.org/officeDocument/2006/relationships/slide" Target="/ppt/slides/slide3.xml" Id="R81211f4ad6084e31" /><Relationship Type="http://schemas.openxmlformats.org/officeDocument/2006/relationships/slide" Target="/ppt/slides/slide4.xml" Id="Ra6c9a616101e4211" /><Relationship Type="http://schemas.openxmlformats.org/officeDocument/2006/relationships/slide" Target="/ppt/slides/slide5.xml" Id="R28f06e9a4c4c419a" /><Relationship Type="http://schemas.openxmlformats.org/officeDocument/2006/relationships/slide" Target="/ppt/slides/slide6.xml" Id="Rdff5d796edb34dfd" /><Relationship Type="http://schemas.openxmlformats.org/officeDocument/2006/relationships/slide" Target="/ppt/slides/slide7.xml" Id="Rf4f862626a7c43e4" /><Relationship Type="http://schemas.openxmlformats.org/officeDocument/2006/relationships/slide" Target="/ppt/slides/slide8.xml" Id="Rc9543b269a5a4ea0" /><Relationship Type="http://schemas.openxmlformats.org/officeDocument/2006/relationships/slide" Target="/ppt/slides/slide9.xml" Id="Rac57d22bbceb4f23" /><Relationship Type="http://schemas.openxmlformats.org/officeDocument/2006/relationships/slide" Target="/ppt/slides/slide10.xml" Id="R100af828e59d4f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d3a06a580f45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cc8efd10014506" /><Relationship Type="http://schemas.openxmlformats.org/officeDocument/2006/relationships/notesMaster" Target="/ppt/notesMasters/notesMaster1.xml" Id="R9b1aa53c32c940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e59bd460664b0f" /><Relationship Type="http://schemas.openxmlformats.org/officeDocument/2006/relationships/notesMaster" Target="/ppt/notesMasters/notesMaster1.xml" Id="Ra7afd2dd387140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e808858a174791" /><Relationship Type="http://schemas.openxmlformats.org/officeDocument/2006/relationships/notesMaster" Target="/ppt/notesMasters/notesMaster1.xml" Id="Rafcb97c49a8d4a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80bb931ec1491f" /><Relationship Type="http://schemas.openxmlformats.org/officeDocument/2006/relationships/notesMaster" Target="/ppt/notesMasters/notesMaster1.xml" Id="R9b3833e2cf1d44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87cc89adfa4540" /><Relationship Type="http://schemas.openxmlformats.org/officeDocument/2006/relationships/notesMaster" Target="/ppt/notesMasters/notesMaster1.xml" Id="Rf58ac29175d94c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2fb52824a2439f" /><Relationship Type="http://schemas.openxmlformats.org/officeDocument/2006/relationships/notesMaster" Target="/ppt/notesMasters/notesMaster1.xml" Id="R35883eedc53a44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5707bc50f44300" /><Relationship Type="http://schemas.openxmlformats.org/officeDocument/2006/relationships/notesMaster" Target="/ppt/notesMasters/notesMaster1.xml" Id="Rc63a215bad004b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adafc799ef4266" /><Relationship Type="http://schemas.openxmlformats.org/officeDocument/2006/relationships/notesMaster" Target="/ppt/notesMasters/notesMaster1.xml" Id="R00be019c4ec34c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76a312ca0e408e" /><Relationship Type="http://schemas.openxmlformats.org/officeDocument/2006/relationships/notesMaster" Target="/ppt/notesMasters/notesMaster1.xml" Id="Re20bcb37418c4d0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2b306143a24035" /><Relationship Type="http://schemas.openxmlformats.org/officeDocument/2006/relationships/notesMaster" Target="/ppt/notesMasters/notesMaster1.xml" Id="R7d1e46c3366943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slide. Establish that the project is a miniature distributed search engine and that Member 1 has completed the offline corpus and indexing pipeline.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motivation: one central index cannot scale well for storage, query load, and fault tolerance. The proposed architecture partitions the index across independent nodes.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Position Member 1 as the completed data foundation and Member 2 as the online distributed search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offline pipeline and stress that raw web pages are preserved separately from parsed logical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evidence that the corpus is real, offline, and balanced across 10 technical websites.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each future search-node process loads only its own shard and local index. This is the direct link to partitioned indexing.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inverted index fundamentals: term to posting list. Posting list records frequency and positions, while global IDF supports fair ranking across shards.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show team coordination. Member 1 has a concrete output contract; Member 2 uses those files for gRPC services and the web interface.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implementation using the exact FA-1 syllabus language: architecture, design issues, middleware, RPC, identifiers, and fault tolerance.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connecting evidence to evaluation. The offline part is complete and ready for the distributed runtime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Verified local command: python app.py stats</a:t>
            </a:r>
          </a:p>
          <a:p xmlns:a="http://schemas.openxmlformats.org/drawingml/2006/main">
            <a:r>
              <a:t>Generated corpus files: data/metadata.jsonl, data/documents.jsonl, data/shards, indexes/global_stats.json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39fac203ef44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55286945b24113" /><Relationship Type="http://schemas.openxmlformats.org/officeDocument/2006/relationships/slideLayout" Target="/ppt/slideLayouts/slideLayout1.xml" Id="R152a316b263944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2a316b263944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d2b92ce864273" /><Relationship Type="http://schemas.openxmlformats.org/officeDocument/2006/relationships/notesSlide" Target="/ppt/notesSlides/notesSlide1.xml" Id="Rc1496919472e41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b634dca442406d" /><Relationship Type="http://schemas.openxmlformats.org/officeDocument/2006/relationships/notesSlide" Target="/ppt/notesSlides/notesSlide2.xml" Id="Ra4a24bd3828642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4906cdac94c54" /><Relationship Type="http://schemas.openxmlformats.org/officeDocument/2006/relationships/notesSlide" Target="/ppt/notesSlides/notesSlide3.xml" Id="R0a29fb50adc449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7494357b543a9" /><Relationship Type="http://schemas.openxmlformats.org/officeDocument/2006/relationships/notesSlide" Target="/ppt/notesSlides/notesSlide4.xml" Id="Rf7b90499ce4c43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eac1f86004310" /><Relationship Type="http://schemas.openxmlformats.org/officeDocument/2006/relationships/chart" Target="/ppt/slides/charts/chart1.xml" Id="R476797aa79174222" /><Relationship Type="http://schemas.openxmlformats.org/officeDocument/2006/relationships/notesSlide" Target="/ppt/notesSlides/notesSlide5.xml" Id="R385fd1ef002349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cf6a0b16c14c2c" /><Relationship Type="http://schemas.openxmlformats.org/officeDocument/2006/relationships/chart" Target="/ppt/slides/charts/chart2.xml" Id="Rd4b1630f0aa74600" /><Relationship Type="http://schemas.openxmlformats.org/officeDocument/2006/relationships/notesSlide" Target="/ppt/notesSlides/notesSlide6.xml" Id="R7beb4a1826e04b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48c943999141ef" /><Relationship Type="http://schemas.openxmlformats.org/officeDocument/2006/relationships/notesSlide" Target="/ppt/notesSlides/notesSlide7.xml" Id="Rd6000b5ff4c743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51ef81e53426d" /><Relationship Type="http://schemas.openxmlformats.org/officeDocument/2006/relationships/notesSlide" Target="/ppt/notesSlides/notesSlide8.xml" Id="R611efaccf4fb4f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09391e7be4a99" /><Relationship Type="http://schemas.openxmlformats.org/officeDocument/2006/relationships/notesSlide" Target="/ppt/notesSlides/notesSlide9.xml" Id="Rcac2796d485a40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0577cff0954705" /><Relationship Type="http://schemas.openxmlformats.org/officeDocument/2006/relationships/notesSlide" Target="/ppt/notesSlides/notesSlide10.xml" Id="Rab59f8d4c4d44f2b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02A43"/>
                </a:solidFill>
              </a:rPr>
              <a:t>Documents per source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 b="1">
              <a:solidFill>
                <a:srgbClr val="102A43"/>
              </a:solidFill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Documents</c:v>
          </c:tx>
          <c:spPr>
            <a:solidFill xmlns:a="http://schemas.openxmlformats.org/drawingml/2006/main">
              <a:srgbClr val="0E7C7B"/>
            </a:solidFill>
          </c:spPr>
          <c:cat>
            <c:strLit>
              <c:ptCount val="10"/>
              <c:pt idx="0">
                <c:v>Python Docs</c:v>
              </c:pt>
              <c:pt idx="1">
                <c:v>gRPC</c:v>
              </c:pt>
              <c:pt idx="2">
                <c:v>Kubernetes</c:v>
              </c:pt>
              <c:pt idx="3">
                <c:v>MDN</c:v>
              </c:pt>
              <c:pt idx="4">
                <c:v>Docker</c:v>
              </c:pt>
              <c:pt idx="5">
                <c:v>PostgreSQL</c:v>
              </c:pt>
              <c:pt idx="6">
                <c:v>Hadoop</c:v>
              </c:pt>
              <c:pt idx="7">
                <c:v>NGINX</c:v>
              </c:pt>
              <c:pt idx="8">
                <c:v>GeeksforGeeks</c:v>
              </c:pt>
              <c:pt idx="9">
                <c:v>MongoDB</c:v>
              </c:pt>
            </c:strLit>
          </c:cat>
          <c:val>
            <c:numLit>
              <c:formatCode>General</c:formatCode>
              <c:ptCount val="10"/>
              <c:pt idx="0">
                <c:v>100</c:v>
              </c:pt>
              <c:pt idx="1">
                <c:v>100</c:v>
              </c:pt>
              <c:pt idx="2">
                <c:v>100</c:v>
              </c:pt>
              <c:pt idx="3">
                <c:v>100</c:v>
              </c:pt>
              <c:pt idx="4">
                <c:v>100</c:v>
              </c:pt>
              <c:pt idx="5">
                <c:v>100</c:v>
              </c:pt>
              <c:pt idx="6">
                <c:v>100</c:v>
              </c:pt>
              <c:pt idx="7">
                <c:v>100</c:v>
              </c:pt>
              <c:pt idx="8">
                <c:v>100</c:v>
              </c:pt>
              <c:pt idx="9">
                <c:v>100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1721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Documents</c:v>
          </c:tx>
          <c:dPt>
            <c:idx val="0"/>
            <c:spPr>
              <a:solidFill xmlns:a="http://schemas.openxmlformats.org/drawingml/2006/main">
                <a:srgbClr val="0E7C7B"/>
              </a:solidFill>
            </c:spPr>
          </c:dPt>
          <c:dPt>
            <c:idx val="1"/>
            <c:spPr>
              <a:solidFill xmlns:a="http://schemas.openxmlformats.org/drawingml/2006/main">
                <a:srgbClr val="3267B1"/>
              </a:solidFill>
            </c:spPr>
          </c:dPt>
          <c:dPt>
            <c:idx val="2"/>
            <c:spPr>
              <a:solidFill xmlns:a="http://schemas.openxmlformats.org/drawingml/2006/main">
                <a:srgbClr val="6C5CE7"/>
              </a:solidFill>
            </c:spPr>
          </c:dPt>
          <c:cat>
            <c:strLit>
              <c:ptCount val="3"/>
              <c:pt idx="0">
                <c:v>Node 1</c:v>
              </c:pt>
              <c:pt idx="1">
                <c:v>Node 2</c:v>
              </c:pt>
              <c:pt idx="2">
                <c:v>Node 3</c:v>
              </c:pt>
            </c:strLit>
          </c:cat>
          <c:val>
            <c:numLit>
              <c:formatCode>General</c:formatCode>
              <c:ptCount val="3"/>
              <c:pt idx="0">
                <c:v>334</c:v>
              </c:pt>
              <c:pt idx="1">
                <c:v>334</c:v>
              </c:pt>
              <c:pt idx="2">
                <c:v>332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holeSize val="58"/>
      </c:doughnutChart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7212B"/>
              </a:solidFill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1C8954-4CE9-43E1-8F14-870AF755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B11956-8AB8-4985-8C6B-C19CC770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C7F40-F990-453C-B31B-287C1C95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66800"/>
            <a:ext cx="6715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Fault-Tolerant Distributed Search Engine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C494C-5203-42D3-8485-EE8131D8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D6B78"/>
                </a:solidFill>
              </a:defRPr>
            </a:pPr>
            <a:r>
              <a:rPr sz="1800" b="0">
                <a:solidFill>
                  <a:srgbClr val="5D6B78"/>
                </a:solidFill>
              </a:rPr>
              <a:t>Partitioned Indexing and Parallel Query Processing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66C80-BEEE-443E-AAB7-F35F0D99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528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C7B"/>
                </a:solidFill>
              </a:defRPr>
            </a:pPr>
            <a:r>
              <a:rPr sz="1350" b="1">
                <a:solidFill>
                  <a:srgbClr val="0E7C7B"/>
                </a:solidFill>
              </a:rPr>
              <a:t>FA-1 Mini Project | Distributed Systems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4A6FE8-9D7A-40D5-AF18-A803F3D2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200150"/>
            <a:ext cx="28575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5856E6-510F-4E70-A7A3-261011D1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200150"/>
            <a:ext cx="76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FBE36-57E0-474A-9344-FCD7B32B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409700"/>
            <a:ext cx="243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A43"/>
                </a:solidFill>
              </a:defRPr>
            </a:pPr>
            <a:r>
              <a:rPr sz="3000" b="1">
                <a:solidFill>
                  <a:srgbClr val="102A43"/>
                </a:solidFill>
              </a:rPr>
              <a:t>1,000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DEEDEE-C736-4486-BBEA-69222671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812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offline documents prepared for search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D56BF-543C-44EF-B7C5-5D6A8AE5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28575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AF613-302D-46B3-985D-D99EB8B4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76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A1806-8CFD-4456-AF02-237DB0B3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05150"/>
            <a:ext cx="243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A43"/>
                </a:solidFill>
              </a:defRPr>
            </a:pPr>
            <a:r>
              <a:rPr sz="3000" b="1">
                <a:solidFill>
                  <a:srgbClr val="102A43"/>
                </a:solidFill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10C770-A316-4EC1-A3AD-79222785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766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technology websites crawled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4A129A-03DA-4120-B29F-8D774D59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591050"/>
            <a:ext cx="28575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D8C8BC-BC08-4CD3-BDAA-32EDE160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591050"/>
            <a:ext cx="76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E2D7F5-BE1C-4404-BB17-7A1A1528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00600"/>
            <a:ext cx="243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A43"/>
                </a:solidFill>
              </a:defRPr>
            </a:pPr>
            <a:r>
              <a:rPr sz="3000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E641D2-B6B0-4650-B356-1257AD9A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3721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distributed search-node shards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1CB10A-1FD4-4BF9-A8DF-A960DCFE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AE11FC-5BA6-4944-864D-9EAB8015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871401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C4F029-1FAD-42D1-BE43-10FC9299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Centralized search becomes a bottleneck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D350E9-92E1-4AE6-A196-21E84417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project turns search into a real distributed-systems problem.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8B021-8621-44F3-9C5E-A4AE124C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C87A1-4AB9-404C-81AE-2E8410CA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0B363D-F63B-47D5-8871-DFA4F4F7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A2EBE-BD09-4E78-A16A-CD11661B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Traditional centralized 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597A0-7BE3-41E9-8F47-5916BB35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38450"/>
            <a:ext cx="21907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Single machine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index + query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D6D68-0700-4683-B3EE-60455AA6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17526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Storage limit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1A0B6B-C222-425B-AC3E-8B1115CF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91050"/>
            <a:ext cx="17526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Query overload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6A0D1-5604-444A-A244-A1E1FA83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91050"/>
            <a:ext cx="17526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Single failure 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99AAFB-354A-4E0C-8119-31F37B57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02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Distributed search response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87D72-C78C-49E2-8797-EB74BA75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00350"/>
            <a:ext cx="123825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Node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0970F8-2CCF-4083-B473-B9F41CDA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23825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Node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A26C0-D398-4F60-BAC7-B08436A1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800350"/>
            <a:ext cx="123825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Node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0B37E3-A817-40EC-A57C-1656709A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14800"/>
            <a:ext cx="1619250" cy="647700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A73842-AFF4-4219-AA21-C7A4F56D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0065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Partition data, search in parallel, aggregate ranked results.</a:t>
            </a:r>
          </a:p>
        </p:txBody>
      </p:sp>
    </p:spTree>
    <p:extLst>
      <p:ext uri="{BB962C8B-B14F-4D97-AF65-F5344CB8AC3E}">
        <p14:creationId xmlns:p14="http://schemas.microsoft.com/office/powerpoint/2010/main" val="20151384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4CB019-35C6-4FCE-BC2E-11ADCEEF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FA-1 architecture has offline and online halves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2E003-25F1-446A-8EF0-82FF3A6E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Our completed part prepares everything the distributed query layer needs.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186B56-5113-48B2-A10E-787A99CD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C85CB-E280-4DB2-B503-B7235124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95B9F-363C-4E82-B51D-432C137A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5A3A6-D4F0-475B-8B3A-588F7B71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12573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Crawler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606D7-C99D-4E1B-ABB2-7D1F903D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4765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2F65FF-A9B9-4F4D-9141-A3CB803C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266950"/>
            <a:ext cx="12573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Parser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117C76-D260-492C-B49E-8CB81B64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765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96F9A-4F5C-4BFF-9594-07781299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266950"/>
            <a:ext cx="12573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Partitioner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D067EB-5C21-4065-BB5E-538778CE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765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FA4DB-23C0-4157-BAF5-18311C1C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266950"/>
            <a:ext cx="12573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Indexes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8E7EB-1709-4199-B441-CADC4E41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765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484C4-6368-4013-9925-91757CE1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66950"/>
            <a:ext cx="12573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Search Nodes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1A5D14-E58A-4540-A16A-9DCE76B0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765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D1283A-89E8-4C08-90EC-F9CAC4FB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66950"/>
            <a:ext cx="12573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8B965-800A-4BD6-BA29-DFBAD2B7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Member 1: offline corpus and indexes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D55CC0-FC1D-4306-AEE7-740B6B57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242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Member 2: online query layer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7A69E5-DC46-4D56-BAA3-24D2BCE4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61912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9525">
            <a:solidFill>
              <a:srgbClr val="B8DED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493546-1FED-4EF3-AC4B-8E1FD103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Raw HTML -&gt; logical documents -&gt; three shards -&gt; local inverted indexes -&gt; global IDF statistics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13976A-9932-4663-9C96-E1F7D810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00500"/>
            <a:ext cx="39052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BDD0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CA1E1E-D2FA-4CB8-A72C-F4EE64C7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67200"/>
            <a:ext cx="333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gRPC search nodes, coordinator, local top-K results, global aggregation, failure display</a:t>
            </a:r>
          </a:p>
        </p:txBody>
      </p:sp>
    </p:spTree>
    <p:extLst>
      <p:ext uri="{BB962C8B-B14F-4D97-AF65-F5344CB8AC3E}">
        <p14:creationId xmlns:p14="http://schemas.microsoft.com/office/powerpoint/2010/main" val="2998231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6CB3FA-2670-402D-84DC-1E5C0387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Member 1 turns web pages into searchable shards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517E8-2744-443A-8505-F4733803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crawler stores real HTML offline before any indexing is performed.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B0A64-E6E4-4F41-80A2-8ED95DE7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A880B-A460-4A87-AF6D-B79387FF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A39ED-F548-4B27-B2E5-E3A0310F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E9DA36-9A09-4033-82CB-F7786ED8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4287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Public URLs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3A0EC-686E-4552-B8EC-808AB6F2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43175"/>
            <a:ext cx="4762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58C0C2-383F-46CE-8546-108F6E0B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86000"/>
            <a:ext cx="14287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Raw HTML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74BD3A-3043-4F9F-A31A-7921A2B5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43175"/>
            <a:ext cx="4762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F7DEA4-93D4-4822-9BBB-1A8571F6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286000"/>
            <a:ext cx="14287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Documents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07A13D-285D-484F-824B-E56EFAFB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43175"/>
            <a:ext cx="4762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63DD3C-C662-4912-9AAD-D986A322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86000"/>
            <a:ext cx="14287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Shards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F798E-A21D-4B83-BE50-5B5A1648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43175"/>
            <a:ext cx="4762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B1EEA3-6B8D-48F8-BC57-2A903A21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86000"/>
            <a:ext cx="14287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Indexes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2716FB-1959-430B-94E8-422B81CC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Controlled crawl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3E37D6-071B-4C7A-8A3B-CE0F977D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BFS, allowlist, robots.txt, delay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2AE0F2-C0E5-4986-8605-B9AC9ABB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29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Offline storage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CFDA30-3550-40A0-B322-C0998654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76237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data/raw/000001.html ...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4F3CC2-1799-4AB7-BEE7-1C7BEEA4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29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HTML parsing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D7AC54-6F64-4492-A2B9-EEB7F01D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76237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title, URL, visible content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1F6236-81A3-44F3-98CA-D4474E5D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29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Range split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441DEB-DC7D-49D6-8D18-D0667552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6237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shard_1, shard_2, shard_3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2D8827-661F-4EE3-BBE1-CBB531D0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29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TF-IDF prep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DBA27B-B373-4BDC-B2D5-C6DAD177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76237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local postings + global IDF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E001B7-D85F-4988-80A6-58334750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43500"/>
            <a:ext cx="8953500" cy="666750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63417-1CD8-4151-BE60-4D236D26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334000"/>
            <a:ext cx="834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Key principle: the crawler does not search. It produces a clean offline corpus for downstream parsing, sharding, and indexing.</a:t>
            </a:r>
          </a:p>
        </p:txBody>
      </p:sp>
    </p:spTree>
    <p:extLst>
      <p:ext uri="{BB962C8B-B14F-4D97-AF65-F5344CB8AC3E}">
        <p14:creationId xmlns:p14="http://schemas.microsoft.com/office/powerpoint/2010/main" val="10772288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55EEF-2466-41FD-9822-E763A15E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The FA-1 corpus is balanced across 10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A3AFE6-19A3-475C-AB7E-C635C9BB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Each configured website contributed exactly 100 offline documents.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337FA-5641-412B-921C-3DBD0294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7924D-2A42-4CA5-97D5-BF696D1E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A3FA84-13F1-4E8A-87C3-C5F8E1BF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A8E4C-0D4D-4458-A560-167FDF99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23812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89C787-731E-4D13-8798-06C69261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7DC6AF-0815-44A5-AE6C-9A7983D6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A43"/>
                </a:solidFill>
              </a:defRPr>
            </a:pPr>
            <a:r>
              <a:rPr sz="3000" b="1">
                <a:solidFill>
                  <a:srgbClr val="102A43"/>
                </a:solidFill>
              </a:rPr>
              <a:t>1,000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A3790-937F-4EF5-AEF9-AF7C8DEE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raw HTML pages stored offline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B444CC-74FD-46F6-A62B-6B6CA235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23812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173B7-CD0E-4713-B6C3-A0A024CA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46959F-9221-4513-AEF6-821B4A04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855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A43"/>
                </a:solidFill>
              </a:defRPr>
            </a:pPr>
            <a:r>
              <a:rPr sz="3000" b="1">
                <a:solidFill>
                  <a:srgbClr val="102A43"/>
                </a:solidFill>
              </a:rPr>
              <a:t>1,000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5A5A6D-8FF7-4464-A881-20EA4661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100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parsed logical documents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0D2226-8A12-446F-84C1-FC970B46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23812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7B2DE2-7E64-46A2-92C8-FC102C13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96C71B-E02A-4615-A735-7789EEC4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816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A43"/>
                </a:solidFill>
              </a:defRPr>
            </a:pPr>
            <a:r>
              <a:rPr sz="3000" b="1">
                <a:solidFill>
                  <a:srgbClr val="102A43"/>
                </a:solidFill>
              </a:rPr>
              <a:t>10 x 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189FFB-EE66-4186-A54F-39605B71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5310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websites by documents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3676650" y="1924050"/>
          <a:ext xmlns:a="http://schemas.openxmlformats.org/drawingml/2006/main" cx="7429500" cy="3638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6797aa79174222"/>
          </a:graphicData>
        </a:graphic>
      </p:graphicFrame>
    </p:spTree>
    <p:extLst>
      <p:ext uri="{BB962C8B-B14F-4D97-AF65-F5344CB8AC3E}">
        <p14:creationId xmlns:p14="http://schemas.microsoft.com/office/powerpoint/2010/main" val="4830063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D8E3AF-18FD-42B3-837A-4DBF9A96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Range-based sharding prepares independent search nodes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45D29F-03D1-4007-B37A-0825BADF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1,000 documents are split into three node-owned partitions.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658F09-EF7E-4D9B-9C80-466B77F8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F60BC3-9FC5-4D4F-A374-71D24565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909C7-F5E1-4D40-8613-40D31FBC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CCBB52-4EBE-43EB-85BB-5C999359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285750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02DF99-0A98-4BD0-B1E7-8B9A12B6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2857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936AB-4198-4733-B36E-F61AD897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Node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60A7FF-E92A-47DE-A5BC-DDCE8DF1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146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E7C7B"/>
                </a:solidFill>
              </a:defRPr>
            </a:pPr>
            <a:r>
              <a:rPr sz="2550" b="1">
                <a:solidFill>
                  <a:srgbClr val="0E7C7B"/>
                </a:solidFill>
              </a:rPr>
              <a:t>334 docs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0E4F59-A056-42C4-9CA0-0CC04D2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0520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D6B78"/>
                </a:solidFill>
              </a:defRPr>
            </a:pPr>
            <a:r>
              <a:rPr sz="1500" b="0">
                <a:solidFill>
                  <a:srgbClr val="5D6B78"/>
                </a:solidFill>
              </a:rPr>
              <a:t>35,803 terms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6616AE-9F52-4910-85CB-A80B5E18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38350"/>
            <a:ext cx="285750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65AE08-E425-44F6-B72D-A55E8874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38350"/>
            <a:ext cx="2857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292518-88B0-4D57-84D0-F237B4FE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622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Node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15955-64FB-4626-A707-EE6BF8F3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146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3267B1"/>
                </a:solidFill>
              </a:defRPr>
            </a:pPr>
            <a:r>
              <a:rPr sz="2550" b="1">
                <a:solidFill>
                  <a:srgbClr val="3267B1"/>
                </a:solidFill>
              </a:rPr>
              <a:t>334 docs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DBD1C-8909-4DF3-BE5E-558958E6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50520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D6B78"/>
                </a:solidFill>
              </a:defRPr>
            </a:pPr>
            <a:r>
              <a:rPr sz="1500" b="0">
                <a:solidFill>
                  <a:srgbClr val="5D6B78"/>
                </a:solidFill>
              </a:rPr>
              <a:t>13,726 terms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E8FF6D-9DD8-45CA-8B4A-82246E8E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38350"/>
            <a:ext cx="285750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675F06-D3C6-49D7-BCEB-69CB0AB5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38350"/>
            <a:ext cx="2857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82687A-0328-4EC7-A424-BD3F9EB9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622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Node 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06879B-BC8C-4AFD-8D52-BCBE007B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146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C5CE7"/>
                </a:solidFill>
              </a:defRPr>
            </a:pPr>
            <a:r>
              <a:rPr sz="2550" b="1">
                <a:solidFill>
                  <a:srgbClr val="6C5CE7"/>
                </a:solidFill>
              </a:rPr>
              <a:t>332 docs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763BAE-F7EE-4C70-9398-C1AF8285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0520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D6B78"/>
                </a:solidFill>
              </a:defRPr>
            </a:pPr>
            <a:r>
              <a:rPr sz="1500" b="0">
                <a:solidFill>
                  <a:srgbClr val="5D6B78"/>
                </a:solidFill>
              </a:rPr>
              <a:t>21,854 terms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3695700" y="4457700"/>
          <a:ext xmlns:a="http://schemas.openxmlformats.org/drawingml/2006/main" cx="4762500" cy="1524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b1630f0aa74600"/>
          </a:graphicData>
        </a:graphic>
      </p:graphicFrame>
    </p:spTree>
    <p:extLst>
      <p:ext uri="{BB962C8B-B14F-4D97-AF65-F5344CB8AC3E}">
        <p14:creationId xmlns:p14="http://schemas.microsoft.com/office/powerpoint/2010/main" val="14135119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99B2D3-912D-45FE-A689-D040EF04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The inverted index stores where every term appears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6AC92-7987-4F3D-B8FA-9458D76A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Posting lists make document lookup fast inside each shard.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773451-7482-4F11-86B7-5CE65097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5FC03-FD56-4F2B-98AD-70A9CE74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2FCC4-54A6-46F4-AFF0-2406524E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3CFF3-58EC-4EBC-B65A-95077A24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3810000" cy="33528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4FE9D9-E294-4249-AB6E-6B238A76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669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Term dictionary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4A0342-8C64-48E6-8C1C-F6ABE80F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1809750" cy="361950"/>
          </a:xfrm>
          <a:prstGeom xmlns:a="http://schemas.openxmlformats.org/drawingml/2006/main" prst="roundRect">
            <a:avLst>
              <a:gd name="adj" fmla="val 36842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distributed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B60065-4AB0-4295-8C17-22DF8A6B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14650"/>
            <a:ext cx="5334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B3F2E-588B-4A30-AB5D-7A06B78C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52800"/>
            <a:ext cx="1809750" cy="361950"/>
          </a:xfrm>
          <a:prstGeom xmlns:a="http://schemas.openxmlformats.org/drawingml/2006/main" prst="roundRect">
            <a:avLst>
              <a:gd name="adj" fmla="val 36842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indexing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2FB68-5F37-4AF5-90B2-253645B4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29000"/>
            <a:ext cx="5334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2D0CC3-A624-4F10-A809-A082963E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67150"/>
            <a:ext cx="1809750" cy="361950"/>
          </a:xfrm>
          <a:prstGeom xmlns:a="http://schemas.openxmlformats.org/drawingml/2006/main" prst="roundRect">
            <a:avLst>
              <a:gd name="adj" fmla="val 36842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parallel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69487-0F82-4552-858B-2C961DDF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43350"/>
            <a:ext cx="5334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D2F943-DB9D-4129-AD65-C4183AA4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0"/>
            <a:ext cx="1809750" cy="361950"/>
          </a:xfrm>
          <a:prstGeom xmlns:a="http://schemas.openxmlformats.org/drawingml/2006/main" prst="roundRect">
            <a:avLst>
              <a:gd name="adj" fmla="val 36842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query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B71C7A-65B5-445E-AECA-705A79CF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57700"/>
            <a:ext cx="5334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EF6CAA-D25B-4763-B833-F9C5029A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981200"/>
            <a:ext cx="5810250" cy="33528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CD5405-AF65-445D-89DA-CD14D0CA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669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Posting list example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83274E-625F-4672-9635-FF9F1120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9146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D17: frequency=3, positions=[4, 18, 32]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D5BB4E-AC69-4F8D-88EE-52BEF67A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24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D82: frequency=2, positions=[9, 47]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C95A17-0990-4F11-A593-9120A715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338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D214: frequency=5, positions=[3, 11, 42, 67, 88]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1C6387-E898-46B0-9F23-0A2D4A8F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53000"/>
            <a:ext cx="485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7C7B"/>
                </a:solidFill>
              </a:defRPr>
            </a:pPr>
            <a:r>
              <a:rPr sz="1725" b="1">
                <a:solidFill>
                  <a:srgbClr val="0E7C7B"/>
                </a:solidFill>
              </a:rPr>
              <a:t>Global IDF keeps scores comparable across nodes.</a:t>
            </a:r>
          </a:p>
        </p:txBody>
      </p:sp>
    </p:spTree>
    <p:extLst>
      <p:ext uri="{BB962C8B-B14F-4D97-AF65-F5344CB8AC3E}">
        <p14:creationId xmlns:p14="http://schemas.microsoft.com/office/powerpoint/2010/main" val="8123343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BDAFCF-9AC9-41D5-9CFB-F3136FA1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Member 2 can now attach the distributed query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E18D1-2C8E-4BB5-966D-A49F16BF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handoff files define a clear contract between both parts.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D9B8C-814C-4159-BDC5-A7E598F4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B1675-DEEE-4C56-AE3A-E34349A5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1606E-0DA2-4390-B4C8-9042FC15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AA2E37-5062-4696-9FD9-31455694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4895850" cy="369570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DEFB0-45BC-46CA-9F6E-342E00C5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098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Files produced by Member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E4B8C1-EC8D-42ED-A6D6-8F1D79ED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data/shards/shard_1.jsonl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FA895-7966-43F4-BA65-EEEE1480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86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data/shards/shard_2.jsonl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2148B2-F4C1-49E3-8385-8E1639BE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48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data/shards/shard_3.jsonl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FCB44-DCA9-4AA8-889D-FD112296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indexes/node_1/index.json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D67BCE-07DA-4C72-85DD-2D1178F8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719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indexes/node_2/index.json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EB0333-11A0-4AE1-8BEC-CCDCF1B0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3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indexes/node_3/index.json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D9806B-08E5-405F-83A3-15C0605B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indexes/global_stats.json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C710DD-2F48-46ED-8B25-E0D4293B4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24050"/>
            <a:ext cx="4667250" cy="369570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9525">
            <a:solidFill>
              <a:srgbClr val="B8DED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E1ACCB-9218-43C8-AF52-95A8906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098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Distributed runtime contract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BB2E0D-6874-43A7-A8EC-3D898ABE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81300"/>
            <a:ext cx="373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Each node loads one shard and one local index.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93450D-A840-4D90-844E-C969E4C1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57550"/>
            <a:ext cx="373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Coordinator sends query to all nodes using gRPC.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8BD5E7-2D5E-4B06-8012-E0256422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33800"/>
            <a:ext cx="373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Nodes return local top-K results.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903D3D-44B2-4B5F-94B4-A9F01E94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373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Coordinator merges and ranks final results.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8FFF85-6E6E-4EE4-9CA0-4E64246E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373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If one node fails, other shards still respond.</a:t>
            </a:r>
          </a:p>
        </p:txBody>
      </p:sp>
    </p:spTree>
    <p:extLst>
      <p:ext uri="{BB962C8B-B14F-4D97-AF65-F5344CB8AC3E}">
        <p14:creationId xmlns:p14="http://schemas.microsoft.com/office/powerpoint/2010/main" val="8290016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4A839D-77E3-4C77-80BD-D2CBBD40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FA-1 concepts are visible in the 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758FA-CF62-4F41-B791-11C1E715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project maps directly to Unit 1 and Unit 2 expectations.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CDAF33-07B0-4DA5-84FC-97A752B8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E3DA88-97EB-4458-B6B2-7FA86F05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9E037-2EA6-4186-97A6-B50CDA05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006673-EC53-44CF-A13A-36A283E3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762500" cy="36576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03148-F33C-47C1-BC22-77908366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47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Unit 1: Distributed Systems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C99BA-C181-4FD5-B964-26823EC5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14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Multiple independent search-node partitions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61E9B-E1C1-4EDC-99E4-65089101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67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Coordinator + search-node architecture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CD737-5FFF-473F-A45C-B208BC3E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195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Scalability through document sharding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2A6051-514B-4E8D-833C-78D3A970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720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Design issue: partitioning and global ranking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0E46D5-F9F9-4A8A-9570-4044DC89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43100"/>
            <a:ext cx="4762500" cy="36576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62D260-21C4-4E0B-B3BC-E78D5C25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47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Unit 2: Communication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19CA1D-ABE5-4DD0-ADEC-51D21130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14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gRPC planned for coordinator-to-node RPC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D48A49-64D3-4CDF-AFD8-14A6D393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67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Node IDs and addresses for each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7892CD-ED22-4E37-815F-E5889DA5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195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Parallel request/response message flow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A1E26D-65D1-42A4-934D-421AF34A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5720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Timeouts allow partial results on node failure</a:t>
            </a:r>
          </a:p>
        </p:txBody>
      </p:sp>
    </p:spTree>
    <p:extLst>
      <p:ext uri="{BB962C8B-B14F-4D97-AF65-F5344CB8AC3E}">
        <p14:creationId xmlns:p14="http://schemas.microsoft.com/office/powerpoint/2010/main" val="16894591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167B18-D504-422D-8374-E3F4C8B9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The faculty demo can show evidence, not just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338FE1-444D-46A3-BFB0-FC18210A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A short command sequence proves the offline pipeline is complete.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4D1DA-C69D-45D1-8E50-48F06509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388D6-3283-4349-B4CC-16D2F8A0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FA-1 Distributed Systems Mini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DEE4D-F37C-470D-979E-3C6A00D5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38832-0297-4490-A4D6-251483DF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62150"/>
            <a:ext cx="5524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ABCAEB-F045-49A2-B015-375CEA9F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9431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Show corpus stats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2870F0-9841-4134-A24D-72BF4A66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241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python app.py stats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0E074-2CEC-45FD-8516-25A85DFC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76550"/>
            <a:ext cx="5524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44BF6B-EC2E-4951-AB81-0A6E8C4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575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Run a local index 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1B01A3-92C0-4851-90E3-DF78E2E4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385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python app.py search "parallel query processing"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83315-0DE0-4B99-9E5E-6ABBFD74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90950"/>
            <a:ext cx="5524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B8C0AA-C154-419E-99F5-FF1D7427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7719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Open generated 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4C70AF-05D7-4714-8D57-5819B9D4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529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data/raw, documents.jsonl, data/shards, indexes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B9D41A-C2BD-4E1A-8746-D418F3DF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05350"/>
            <a:ext cx="5524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D627DD-C3FF-4656-814B-5BC3A3B6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Connect to Member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32E317-3EA0-4B2D-AA1D-4D116D05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673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Launch nodes and coordinator for gRPC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4F2C66-8E72-4F9B-A401-99CB46BA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43100"/>
            <a:ext cx="2571750" cy="299085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8F4B2F-31DE-404F-A878-C091F9E4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24100"/>
            <a:ext cx="194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Evaluation message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632FBC-B22F-4762-A893-1F830741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14650"/>
            <a:ext cx="2000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The system is distributed because indexes are partitioned across independent nodes, not because distribution was added artificially.</a:t>
            </a:r>
          </a:p>
        </p:txBody>
      </p:sp>
    </p:spTree>
    <p:extLst>
      <p:ext uri="{BB962C8B-B14F-4D97-AF65-F5344CB8AC3E}">
        <p14:creationId xmlns:p14="http://schemas.microsoft.com/office/powerpoint/2010/main" val="3772279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2026-09-02T16:10:47.8620000Z</dcterms:created>
  <dcterms:modified xsi:type="dcterms:W3CDTF">2026-09-02T16:10:47.8630000Z</dcterms:modified>
</coreProperties>
</file>