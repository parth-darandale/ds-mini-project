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bc76df580c40eb" /><Relationship Type="http://schemas.openxmlformats.org/officeDocument/2006/relationships/extended-properties" Target="/docProps/app.xml" Id="R8abce65d72094f93" /><Relationship Type="http://schemas.openxmlformats.org/officeDocument/2006/relationships/officeDocument" Target="/ppt/presentation.xml" Id="Rb90801b7737c41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8b4374a5cf40f4"/>
  </p:sldMasterIdLst>
  <p:notesMasterIdLst>
    <p:notesMasterId xmlns:r="http://schemas.openxmlformats.org/officeDocument/2006/relationships" r:id="Re9c52047ab324ed7"/>
  </p:notesMasterIdLst>
  <p:sldIdLst>
    <p:sldId xmlns:r="http://schemas.openxmlformats.org/officeDocument/2006/relationships" id="256" r:id="R4f8b5a4715e146fe"/>
    <p:sldId xmlns:r="http://schemas.openxmlformats.org/officeDocument/2006/relationships" id="257" r:id="Re7bf61bb5ac34dc0"/>
    <p:sldId xmlns:r="http://schemas.openxmlformats.org/officeDocument/2006/relationships" id="258" r:id="R838659909fda4e04"/>
    <p:sldId xmlns:r="http://schemas.openxmlformats.org/officeDocument/2006/relationships" id="259" r:id="Rc7e4ce34762d4e4e"/>
    <p:sldId xmlns:r="http://schemas.openxmlformats.org/officeDocument/2006/relationships" id="260" r:id="R723bdbe8c8634e2a"/>
    <p:sldId xmlns:r="http://schemas.openxmlformats.org/officeDocument/2006/relationships" id="261" r:id="R2471c013513748c1"/>
    <p:sldId xmlns:r="http://schemas.openxmlformats.org/officeDocument/2006/relationships" id="262" r:id="R5f260d11c02a4ad4"/>
    <p:sldId xmlns:r="http://schemas.openxmlformats.org/officeDocument/2006/relationships" id="263" r:id="R3ef439abf06a4908"/>
    <p:sldId xmlns:r="http://schemas.openxmlformats.org/officeDocument/2006/relationships" id="264" r:id="R119a02fc6a4f4f82"/>
    <p:sldId xmlns:r="http://schemas.openxmlformats.org/officeDocument/2006/relationships" id="265" r:id="Rea56aeeee4dc4dda"/>
    <p:sldId xmlns:r="http://schemas.openxmlformats.org/officeDocument/2006/relationships" id="266" r:id="R57420a0af0624a34"/>
    <p:sldId xmlns:r="http://schemas.openxmlformats.org/officeDocument/2006/relationships" id="267" r:id="R5800d3141e8a437d"/>
    <p:sldId xmlns:r="http://schemas.openxmlformats.org/officeDocument/2006/relationships" id="268" r:id="R06b7ec533fc548e6"/>
    <p:sldId xmlns:r="http://schemas.openxmlformats.org/officeDocument/2006/relationships" id="269" r:id="R6e98a1a42d1947b5"/>
    <p:sldId xmlns:r="http://schemas.openxmlformats.org/officeDocument/2006/relationships" id="270" r:id="Rb48dde27d66b4fe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5ccf131f1341ae" /><Relationship Type="http://schemas.openxmlformats.org/officeDocument/2006/relationships/slideMaster" Target="/ppt/slideMasters/slideMaster1.xml" Id="R158b4374a5cf40f4" /><Relationship Type="http://schemas.openxmlformats.org/officeDocument/2006/relationships/notesMaster" Target="/ppt/notesMasters/notesMaster1.xml" Id="Re9c52047ab324ed7" /><Relationship Type="http://schemas.openxmlformats.org/officeDocument/2006/relationships/presProps" Target="/ppt/presProps.xml" Id="Ra8268923c4e0464b" /><Relationship Type="http://schemas.openxmlformats.org/officeDocument/2006/relationships/tableStyles" Target="/ppt/tableStyles.xml" Id="Rb788e2c64c72483f" /><Relationship Type="http://schemas.openxmlformats.org/officeDocument/2006/relationships/slide" Target="/ppt/slides/slide1.xml" Id="R4f8b5a4715e146fe" /><Relationship Type="http://schemas.openxmlformats.org/officeDocument/2006/relationships/slide" Target="/ppt/slides/slide2.xml" Id="Re7bf61bb5ac34dc0" /><Relationship Type="http://schemas.openxmlformats.org/officeDocument/2006/relationships/slide" Target="/ppt/slides/slide3.xml" Id="R838659909fda4e04" /><Relationship Type="http://schemas.openxmlformats.org/officeDocument/2006/relationships/slide" Target="/ppt/slides/slide4.xml" Id="Rc7e4ce34762d4e4e" /><Relationship Type="http://schemas.openxmlformats.org/officeDocument/2006/relationships/slide" Target="/ppt/slides/slide5.xml" Id="R723bdbe8c8634e2a" /><Relationship Type="http://schemas.openxmlformats.org/officeDocument/2006/relationships/slide" Target="/ppt/slides/slide6.xml" Id="R2471c013513748c1" /><Relationship Type="http://schemas.openxmlformats.org/officeDocument/2006/relationships/slide" Target="/ppt/slides/slide7.xml" Id="R5f260d11c02a4ad4" /><Relationship Type="http://schemas.openxmlformats.org/officeDocument/2006/relationships/slide" Target="/ppt/slides/slide8.xml" Id="R3ef439abf06a4908" /><Relationship Type="http://schemas.openxmlformats.org/officeDocument/2006/relationships/slide" Target="/ppt/slides/slide9.xml" Id="R119a02fc6a4f4f82" /><Relationship Type="http://schemas.openxmlformats.org/officeDocument/2006/relationships/slide" Target="/ppt/slides/slide10.xml" Id="Rea56aeeee4dc4dda" /><Relationship Type="http://schemas.openxmlformats.org/officeDocument/2006/relationships/slide" Target="/ppt/slides/slide11.xml" Id="R57420a0af0624a34" /><Relationship Type="http://schemas.openxmlformats.org/officeDocument/2006/relationships/slide" Target="/ppt/slides/slide12.xml" Id="R5800d3141e8a437d" /><Relationship Type="http://schemas.openxmlformats.org/officeDocument/2006/relationships/slide" Target="/ppt/slides/slide13.xml" Id="R06b7ec533fc548e6" /><Relationship Type="http://schemas.openxmlformats.org/officeDocument/2006/relationships/slide" Target="/ppt/slides/slide14.xml" Id="R6e98a1a42d1947b5" /><Relationship Type="http://schemas.openxmlformats.org/officeDocument/2006/relationships/slide" Target="/ppt/slides/slide15.xml" Id="Rb48dde27d66b4f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6e1f39156d46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7bf10ca048a43d8" /><Relationship Type="http://schemas.openxmlformats.org/officeDocument/2006/relationships/notesMaster" Target="/ppt/notesMasters/notesMaster1.xml" Id="Rc06727170c0a4f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b351832d354636" /><Relationship Type="http://schemas.openxmlformats.org/officeDocument/2006/relationships/notesMaster" Target="/ppt/notesMasters/notesMaster1.xml" Id="Rb3a9442641cb4cb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afb624de404bea" /><Relationship Type="http://schemas.openxmlformats.org/officeDocument/2006/relationships/notesMaster" Target="/ppt/notesMasters/notesMaster1.xml" Id="R421e86f7e1014c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551f22694e44aa" /><Relationship Type="http://schemas.openxmlformats.org/officeDocument/2006/relationships/notesMaster" Target="/ppt/notesMasters/notesMaster1.xml" Id="R3fda7f849e394f6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1f1ef282bf491c" /><Relationship Type="http://schemas.openxmlformats.org/officeDocument/2006/relationships/notesMaster" Target="/ppt/notesMasters/notesMaster1.xml" Id="R00dfd16a27f042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893bde7027343f9" /><Relationship Type="http://schemas.openxmlformats.org/officeDocument/2006/relationships/notesMaster" Target="/ppt/notesMasters/notesMaster1.xml" Id="Re40d7d62097a4d4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8a1bc87575494a" /><Relationship Type="http://schemas.openxmlformats.org/officeDocument/2006/relationships/notesMaster" Target="/ppt/notesMasters/notesMaster1.xml" Id="R379b845c5d8c4d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7c3bd2a696d4676" /><Relationship Type="http://schemas.openxmlformats.org/officeDocument/2006/relationships/notesMaster" Target="/ppt/notesMasters/notesMaster1.xml" Id="R92388fb8841e4e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311881db66145d0" /><Relationship Type="http://schemas.openxmlformats.org/officeDocument/2006/relationships/notesMaster" Target="/ppt/notesMasters/notesMaster1.xml" Id="Ra89015ea2b7a43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7b0c78e30e34e9a" /><Relationship Type="http://schemas.openxmlformats.org/officeDocument/2006/relationships/notesMaster" Target="/ppt/notesMasters/notesMaster1.xml" Id="R0da7f11d63be461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6d989e7c1714af3" /><Relationship Type="http://schemas.openxmlformats.org/officeDocument/2006/relationships/notesMaster" Target="/ppt/notesMasters/notesMaster1.xml" Id="Ra2d6dc6f609d460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51435d2991b4385" /><Relationship Type="http://schemas.openxmlformats.org/officeDocument/2006/relationships/notesMaster" Target="/ppt/notesMasters/notesMaster1.xml" Id="R692bbdc0b93049b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152fc9964ae4703" /><Relationship Type="http://schemas.openxmlformats.org/officeDocument/2006/relationships/notesMaster" Target="/ppt/notesMasters/notesMaster1.xml" Id="R0846fa9e4a58491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4297e812a424ff8" /><Relationship Type="http://schemas.openxmlformats.org/officeDocument/2006/relationships/notesMaster" Target="/ppt/notesMasters/notesMaster1.xml" Id="Re37412413a54406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384049760914cdf" /><Relationship Type="http://schemas.openxmlformats.org/officeDocument/2006/relationships/notesMaster" Target="/ppt/notesMasters/notesMaster1.xml" Id="R9de52b9938a347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stating that the presentation covers the complete distributed search engine, from offline data preparation to online query processing.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project motivation using distributed-systems terms: scalability, parallel processing, and fault tolerance.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linked-system overview. The deck should not look like separate files; it should show a continuous architecture.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this as a system decomposition rather than a person-wise split. The important point is the contract between offline artifacts and runtime services.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this as the offline indexing layer. Mention that generated artifacts are stored and can be inspected before the runtime starts.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independent shards are important for search-node processes. Each node can load one partition instead of the full corpus.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a small code-level view without overwhelming the presentation. The snippet is simplified from app.py and the generated index structure.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concrete project evidence. The stats and search output were captured from the current local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explains the online runtime components: search-node services, coordinator, interface, and configuration.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Map this to Unit 2 RPC and message-oriented communication: the proto schema becomes the formal interface between processes.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coordinator algorithm in viva terms. This is the part where parallel query processing is managed.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Discuss search-node responsibility and scalability. The node has local state and a small RPC interface.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explains the user-facing and fault-tolerant pieces of the online layer. It links to Unit 2 fault-tolerance self-study.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direct mapping to the FA-1 syllabus expected by faculty.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exact demonstration plan. It covers offline artifacts and online runtime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6dca987fe547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a22a583258446c" /><Relationship Type="http://schemas.openxmlformats.org/officeDocument/2006/relationships/slideLayout" Target="/ppt/slideLayouts/slideLayout1.xml" Id="R7b2a9259b2174a0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2a9259b2174a0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fb3480f5604702" /><Relationship Type="http://schemas.openxmlformats.org/officeDocument/2006/relationships/notesSlide" Target="/ppt/notesSlides/notesSlide1.xml" Id="Ra998f819018b4d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8b886edf3488b" /><Relationship Type="http://schemas.openxmlformats.org/officeDocument/2006/relationships/notesSlide" Target="/ppt/notesSlides/notesSlide2.xml" Id="Rdcd09852058849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72112647854ceb" /><Relationship Type="http://schemas.openxmlformats.org/officeDocument/2006/relationships/notesSlide" Target="/ppt/notesSlides/notesSlide3.xml" Id="Rb9bd2fc32f3646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1443210705411f" /><Relationship Type="http://schemas.openxmlformats.org/officeDocument/2006/relationships/notesSlide" Target="/ppt/notesSlides/notesSlide4.xml" Id="R1af6464027f644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6a194d0c94367" /><Relationship Type="http://schemas.openxmlformats.org/officeDocument/2006/relationships/notesSlide" Target="/ppt/notesSlides/notesSlide5.xml" Id="R5af27ec3e25e4e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62d4794bf14cc4" /><Relationship Type="http://schemas.openxmlformats.org/officeDocument/2006/relationships/notesSlide" Target="/ppt/notesSlides/notesSlide6.xml" Id="R5703204c09784d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ba49ce80a4304" /><Relationship Type="http://schemas.openxmlformats.org/officeDocument/2006/relationships/notesSlide" Target="/ppt/notesSlides/notesSlide7.xml" Id="Rf6426a80c23047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6d91ad08a42f4" /><Relationship Type="http://schemas.openxmlformats.org/officeDocument/2006/relationships/notesSlide" Target="/ppt/notesSlides/notesSlide8.xml" Id="Rd7007cba6f644f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defcffec204231" /><Relationship Type="http://schemas.openxmlformats.org/officeDocument/2006/relationships/notesSlide" Target="/ppt/notesSlides/notesSlide9.xml" Id="Raf9355fcd9de46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906c4605564338" /><Relationship Type="http://schemas.openxmlformats.org/officeDocument/2006/relationships/notesSlide" Target="/ppt/notesSlides/notesSlide10.xml" Id="Rbe1cc92126364e4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d41464d5043ba" /><Relationship Type="http://schemas.openxmlformats.org/officeDocument/2006/relationships/notesSlide" Target="/ppt/notesSlides/notesSlide11.xml" Id="R6011f062ebb14dd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961c744aee4f7c" /><Relationship Type="http://schemas.openxmlformats.org/officeDocument/2006/relationships/notesSlide" Target="/ppt/notesSlides/notesSlide12.xml" Id="R1a4b34dcf96e4b7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efcdaad3a4183" /><Relationship Type="http://schemas.openxmlformats.org/officeDocument/2006/relationships/notesSlide" Target="/ppt/notesSlides/notesSlide13.xml" Id="Rbbaa8ad32ed6438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4e7a685f804a4a" /><Relationship Type="http://schemas.openxmlformats.org/officeDocument/2006/relationships/notesSlide" Target="/ppt/notesSlides/notesSlide14.xml" Id="Rd884364b7484444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20d84bbdb4234" /><Relationship Type="http://schemas.openxmlformats.org/officeDocument/2006/relationships/notesSlide" Target="/ppt/notesSlides/notesSlide15.xml" Id="R30e7829aa0b8429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31797D-56A2-4950-A842-CC697643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3EB7E5-AC82-4EB5-929F-BE95C4E9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19200"/>
            <a:ext cx="8096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Fault-Tolerant Distributed Search Engine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465F0-6853-45BD-8E87-1B17FD87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742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D6B78"/>
                </a:solidFill>
              </a:defRPr>
            </a:pPr>
            <a:r>
              <a:rPr sz="1800" b="0">
                <a:solidFill>
                  <a:srgbClr val="5D6B78"/>
                </a:solidFill>
              </a:rPr>
              <a:t>Partitioned indexing and parallel query processing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75BD9D-831E-4B3F-A191-B01ECFA3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E7C7B"/>
                </a:solidFill>
              </a:defRPr>
            </a:pPr>
            <a:r>
              <a:rPr sz="1500" b="1">
                <a:solidFill>
                  <a:srgbClr val="0E7C7B"/>
                </a:solidFill>
              </a:rPr>
              <a:t>FA-1 Technical Presentation | Distributed Systems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D458F4-93A5-47B2-92B8-817C057B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71650"/>
            <a:ext cx="2724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8E5404-BDEE-4CDD-8F70-EE66B616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336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4D5F2A-7A0F-415C-87B1-67A8F59F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9E63D-E949-4626-B7C7-3CB1AF59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241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offline indexing 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1F1042-C9CF-4DBD-94B8-7026E760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95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355150-BF0C-4135-B1A7-4055E159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194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online query 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4F8A2A-410A-460A-97FE-00998179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DB6C1E-7598-495B-9C15-29659BC0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097076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265F72-CEEA-414B-9ECA-B69EA926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Why search is a distributed-systems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9C013-0AAF-4F5F-92EB-5F44AA80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A centralized search system limits scalability and availability.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64ED58-638E-4EB3-96F5-3535F3F2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2627CD-F41A-4348-85A6-A2B5BED4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195F58-284C-4E82-B0BF-5AC0856A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096119-CE46-466C-B393-313DB095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Centralized 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D3332D-E419-4A85-9BDA-746F92B12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95600"/>
            <a:ext cx="2190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single index</a:t>
            </a:r>
          </a:p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single query processor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832BED-0AD2-4AB2-ACE1-26211290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14850"/>
            <a:ext cx="2667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bottleneck / single failure 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C1169A-B8F5-48FA-9C73-51821C61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002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Distributed search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095A4D-B90E-4EDF-BFF0-6FEDDEEF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24150"/>
            <a:ext cx="1619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Coordinator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3DE384-A2ED-4DBF-8C48-304FC5AA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719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Node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39AFFA-A368-41D1-9C8A-F56C0D63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1719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Node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2BDB9D-AD00-467B-AC7C-817DAC95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1719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Node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60B8CB-22BA-4087-8E94-EB1CC168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006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Data is partitioned and query work is sent to multiple nodes in parallel.</a:t>
            </a:r>
          </a:p>
        </p:txBody>
      </p:sp>
    </p:spTree>
    <p:extLst>
      <p:ext uri="{BB962C8B-B14F-4D97-AF65-F5344CB8AC3E}">
        <p14:creationId xmlns:p14="http://schemas.microsoft.com/office/powerpoint/2010/main" val="11077353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C2C253-4BC9-4810-89FA-90FA20DA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Architecture has an offline layer and an online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11E456-BB00-4CB6-B307-5BC33D8D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offline layer prepares shard/index files; the online layer serves distributed queries using those files.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1DA408-E287-485A-B459-0114429C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2B3828-B6FE-4DD9-BCAA-153870E8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DE723F-E0C1-41DF-87E6-B1549898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B18728-5F05-432C-B0E3-5E83DB7E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Crawl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C13FFA-0BC8-4717-A3CB-5E160056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67A0F5-85B2-4534-AF77-7B7B275AE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E344BD-E8D8-49FE-8878-1E3828CA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143566-0304-4FC6-809A-4B4530A2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Shard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546826-B654-4768-82E1-009FD82B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07B736-F86E-4192-8791-EE0F3CE2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Index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1F2613-2BDB-4BCE-9F89-DCE4F892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53570C-B889-44A0-A021-320F40E4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Search nodes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54D445-528B-41CC-9513-B101C293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3AA349-6D5E-45C8-A670-74A85FAA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Coordinator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1B56A5-45D7-42B6-AFCF-5FE99110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9148F8-E8FB-4572-8C18-3F722C3C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Web UI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A3A693-0A5E-4E85-B21C-79E231DE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717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Offline layer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BE2090-67D6-419F-AED2-6EFCCCE4A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1717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Online layer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FBD944-E359-40B2-9D9F-7B2B14DD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91000"/>
            <a:ext cx="476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8F5F4"/>
          </a:solidFill>
          <a:ln xmlns:a="http://schemas.openxmlformats.org/drawingml/2006/main" w="9525">
            <a:solidFill>
              <a:srgbClr val="B8DED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A40B07-8071-4A80-BCE6-8302777D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0550"/>
            <a:ext cx="415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Offline output: raw pages, documents.jsonl, shard files, index files, global statistics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8ACBCB-89F3-444F-9E53-21F7B937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91000"/>
            <a:ext cx="476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BDD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233D05-45BB-4246-9896-94D5A613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00550"/>
            <a:ext cx="415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Runtime output: user query, parallel node responses, merged ranked result list</a:t>
            </a:r>
          </a:p>
        </p:txBody>
      </p:sp>
    </p:spTree>
    <p:extLst>
      <p:ext uri="{BB962C8B-B14F-4D97-AF65-F5344CB8AC3E}">
        <p14:creationId xmlns:p14="http://schemas.microsoft.com/office/powerpoint/2010/main" val="15546617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59DBC3-47FF-4BC8-BA37-EBFAB162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Implementation is divided into two connected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60DAD7-A564-48E8-A481-B0C85D21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final system combines offline indexing with online distributed query processing.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9FF3EB-F2FD-4DBF-B3D6-F1DFC571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8D41E-110C-45F9-9ED0-E308AC595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858EBD-04AA-4ADE-A492-A662537A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BD0C78-9566-4388-BDCE-90A55503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574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Offline data/indexing layer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D29215-BF9A-48D7-B0FB-D6160A3F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2D8FCE-3F25-4F74-B3A8-2A718A41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controlled crawling from allowed domains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B3E917-D341-492C-A9FF-7CB5C6E6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476E09-4251-4966-802F-EBD291B0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766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HTML parsing into document records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E0D6C3-434E-4236-BA4F-00E9A8B5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B2F777-D6D6-480A-BD11-38436E01A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document partitioning into shards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003392-CA3D-4248-9428-FFDDCDDA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763E9C-2D36-44F6-8A9F-CB5F6A0B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81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local inverted indexes with global stats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0F669E-EABB-40F3-9E1F-9D9E4C32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574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Online query/runtime layer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986D7E-C8CE-4347-8936-590473EB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303169-25C3-470D-BCF4-D9D81889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24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gRPC search-node services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CF7475-35A4-496E-9CB9-F624DF2D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591F7B-72F9-443A-9C10-608B1A43B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2766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coordinator fan-out and timeout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0C1B45-7279-45F6-B5E3-6D338C99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911E3B-2736-4DFC-AACC-C3EB5B93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290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score-based result aggregation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C3763E-10F4-46CE-80B9-0F323070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D5704D-A98F-4E8F-AC29-451AF2F0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81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web/API result display with node status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CB568D-655F-43A9-BBBE-5441C1EB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219700"/>
            <a:ext cx="6286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A"/>
          </a:solidFill>
          <a:ln xmlns:a="http://schemas.openxmlformats.org/drawingml/2006/main" w="9525">
            <a:solidFill>
              <a:srgbClr val="F4D49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D187BA-76D5-4070-9E6F-0FDBC65E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3721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12B"/>
                </a:solidFill>
              </a:defRPr>
            </a:pPr>
            <a:r>
              <a:rPr sz="1425" b="1">
                <a:solidFill>
                  <a:srgbClr val="17212B"/>
                </a:solidFill>
              </a:rPr>
              <a:t>Common contract: node_id, shard path, index path, QueryRequest, SearchResult</a:t>
            </a:r>
          </a:p>
        </p:txBody>
      </p:sp>
    </p:spTree>
    <p:extLst>
      <p:ext uri="{BB962C8B-B14F-4D97-AF65-F5344CB8AC3E}">
        <p14:creationId xmlns:p14="http://schemas.microsoft.com/office/powerpoint/2010/main" val="2184991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D3E25D-51B9-4127-9662-3FFAFCB8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Offline pipeline builds the data and index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0B7EE0-FBB8-4626-9726-C643A042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FA-1 implementation prepares the files loaded by search nodes.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FBE2C1-E5D9-48B8-90AD-CDD983B5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99B0FD-3227-4EC8-BD4B-A5AAFB51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62F4D1-C7DB-4133-B452-B31DDFD6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244FCE-01F4-4CA7-ADA4-808DAB5B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002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Crawler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D36CF1-FDA3-457F-8323-86DA0240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1930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Visits allowed domains, respects robots/limits, saves raw HTML offline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7AF606-A426-441A-A9D3-97920FDA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9555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B297DC-10BC-4DDF-9F61-36E0DB43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19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67B1"/>
                </a:solidFill>
              </a:defRPr>
            </a:pPr>
            <a:r>
              <a:rPr sz="1800" b="1">
                <a:solidFill>
                  <a:srgbClr val="3267B1"/>
                </a:solidFill>
              </a:rPr>
              <a:t>Parser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FD2F6-9683-4EA5-B596-29891225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3845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Extracts title, URL, source domain, visible text, and token count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70923D-B1BA-4334-98B2-80370BDF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147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2C497B-6810-4339-A13D-AB9FB5B7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385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C5CE7"/>
                </a:solidFill>
              </a:defRPr>
            </a:pPr>
            <a:r>
              <a:rPr sz="1800" b="1">
                <a:solidFill>
                  <a:srgbClr val="6C5CE7"/>
                </a:solidFill>
              </a:rPr>
              <a:t>Partitioner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06259B-25F6-4FF2-AFBA-BA5B25ED5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5760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Splits documents into node-owned shard files using range partitioning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297FEA-AC49-4392-9AE6-08E0D6632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3385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D174ED-05F7-4E49-AD27-D1982DCD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57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2A93B"/>
                </a:solidFill>
              </a:defRPr>
            </a:pPr>
            <a:r>
              <a:rPr sz="1800" b="1">
                <a:solidFill>
                  <a:srgbClr val="F2A93B"/>
                </a:solidFill>
              </a:rPr>
              <a:t>Index builder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08901D-D9B6-43FF-88DC-9775463B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47675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Creates token postings, document metadata, and global IDF statistics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82481E-BD72-4698-A253-8CA92B24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530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051116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A4AAA5-CA8D-4E48-AB49-70004CCA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Partitioned indexing makes each node independent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D6B1FE-4195-407D-AA40-DB401CE2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Each search node can load only its shard and its local index.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849BD1-9881-47C1-B5DD-7BF1E8B1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84C881-8569-4A65-839C-93428331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586DB3-1AFE-4CCF-9C7E-6BF8C1AC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46F675-786E-49A3-8328-C57727CB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1428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documents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50C1F-AFC2-41CD-B4EF-C29AFE2B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76550"/>
            <a:ext cx="419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9D798E-F02A-468A-A5AB-541FBA23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28850"/>
            <a:ext cx="1238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shard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5F335-B2C2-4E70-BA5A-7961A55C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952750"/>
            <a:ext cx="1238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shard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EC720-DD7E-4AF3-A170-86A49F4B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676650"/>
            <a:ext cx="1238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shard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257220-80D4-4F6D-A2A1-829A6F5A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434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Range partitioning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717984-1C9E-4751-AE0A-BFC53535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09800"/>
            <a:ext cx="38100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88001F-0359-4020-A205-9AA92B06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908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Local inverted index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969EA1-6014-4797-A7B1-BFFA10F5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124200"/>
            <a:ext cx="295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term -&gt; [(doc_id, tf, positions)]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query terms are matched locally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scores use global_stats.json</a:t>
            </a:r>
          </a:p>
        </p:txBody>
      </p:sp>
    </p:spTree>
    <p:extLst>
      <p:ext uri="{BB962C8B-B14F-4D97-AF65-F5344CB8AC3E}">
        <p14:creationId xmlns:p14="http://schemas.microsoft.com/office/powerpoint/2010/main" val="2062251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6B7810-FDCA-4C1A-9310-D1CE7906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Core implementation follows a staged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317D33-1E71-4301-AD0C-3D4611C4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code keeps crawling, parsing, sharding, and indexing as separate steps.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BE7C06-FAA4-4216-A2C6-93747891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04CA5C-1626-4C6A-9591-FF58F2CB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0B7C98-1A31-431A-BD99-62CFF8E9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091259-242E-402F-A25B-49F77888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4876800" cy="3657600"/>
          </a:xfrm>
          <a:prstGeom xmlns:a="http://schemas.openxmlformats.org/drawingml/2006/main" prst="roundRect">
            <a:avLst>
              <a:gd name="adj" fmla="val 208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34BDA6-7193-44AB-8E37-9251B456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47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Pipeline entry point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FF1344-4940-4932-B995-D9E47C24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76550"/>
            <a:ext cx="4000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def run_pipeline(args):</a:t>
            </a:r>
          </a:p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    crawl(config)</a:t>
            </a:r>
          </a:p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    parse_html(raw_dir, documents.jsonl)</a:t>
            </a:r>
          </a:p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    partition_documents(documents, shards, n)</a:t>
            </a:r>
          </a:p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    build_indexes(shards, indexes)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7B73FE-075F-4D8D-93BA-F6032755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7B"/>
                </a:solidFill>
              </a:defRPr>
            </a:pPr>
            <a:r>
              <a:rPr sz="1650" b="1">
                <a:solidFill>
                  <a:srgbClr val="0E7C7B"/>
                </a:solidFill>
              </a:rPr>
              <a:t>Why this matters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DE01D-4F2B-4E2D-A335-542754EC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8635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Each stage has a clear input and output, so failures are easier to locate and individual stages can be rerun.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B922E4-9F32-4008-9A6E-F5603E304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62150"/>
            <a:ext cx="4171950" cy="3657600"/>
          </a:xfrm>
          <a:prstGeom xmlns:a="http://schemas.openxmlformats.org/drawingml/2006/main" prst="roundRect">
            <a:avLst>
              <a:gd name="adj" fmla="val 20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38F7F7-BA70-404F-B52A-7FE46803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Index structure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2E5054-419B-4F4F-A474-E6D4747B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38450"/>
            <a:ext cx="314325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index = {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"node_id": "node_1",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"documents": {...},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"terms": {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 "query": [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   {"doc_id": "...", "tf": 2}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 ]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}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D77BB7-DC0A-44A1-9371-FC4A96E0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105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This is the local state loaded by every search-node process.</a:t>
            </a:r>
          </a:p>
        </p:txBody>
      </p:sp>
    </p:spTree>
    <p:extLst>
      <p:ext uri="{BB962C8B-B14F-4D97-AF65-F5344CB8AC3E}">
        <p14:creationId xmlns:p14="http://schemas.microsoft.com/office/powerpoint/2010/main" val="19505961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362EC7-4AF8-4F02-8664-4924AEDB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Current output proves the offline layer is working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5366F4-FA38-4968-9FAF-140CAC42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These commands can be shown directly during evaluation.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24D7BC-5FE5-403F-A920-F1365568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17919F-B93F-449C-83A5-C54811E3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F692AE-D9C4-42D0-B948-3029B446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B21C86-62BB-408D-9828-972FF187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4953000" cy="35433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102A4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1462A5-6708-4868-9E78-014D49BF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479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python app.py stats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CA4524-79CC-446E-BE1A-E26F587E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81300"/>
            <a:ext cx="40767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Raw HTML pages: 1000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Metadata records: 1000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Parsed documents: 1000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Global indexed documents: 1000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node_1: 334 documents, 35803 terms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node_2: 334 documents, 13726 terms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node_3: 332 documents, 21854 terms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07DB4C-A73C-4DEF-91F4-A531E508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43100"/>
            <a:ext cx="4953000" cy="35433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06546C-EE79-46FC-A1CD-CC9DCB3AE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479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python app.py search "parallel query processing"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34012C-C4DD-463F-8A6F-E4600901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800350"/>
            <a:ext cx="39052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1. The Kubernetes API | Kubernetes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Score: 0.9916 | Node: node_1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2. PostgreSQL 18.6, 17.11, 16.15...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Score: 0.9632 | Node: node_2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3. Labels and Selectors | Kubernetes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Score: 0.9484 | Node: node_1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15B844-2392-4675-8E05-07518C27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933950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B78"/>
                </a:solidFill>
              </a:defRPr>
            </a:pPr>
            <a:r>
              <a:rPr sz="1275" b="0">
                <a:solidFill>
                  <a:srgbClr val="5D6B78"/>
                </a:solidFill>
              </a:rPr>
              <a:t>The result list shows which partition produced each match.</a:t>
            </a:r>
          </a:p>
        </p:txBody>
      </p:sp>
    </p:spTree>
    <p:extLst>
      <p:ext uri="{BB962C8B-B14F-4D97-AF65-F5344CB8AC3E}">
        <p14:creationId xmlns:p14="http://schemas.microsoft.com/office/powerpoint/2010/main" val="18214111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B4B7DF-8E0F-423D-A9B2-A48A3165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Distributed query runtime serves the prepared indexes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7E7CFC-E146-4F8F-BE8C-46F98A3E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This layer turns local shard indexes into one searchable service.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234C8E-5020-4FDF-8B5D-6F74F62A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D0A2E9-09F2-47E6-BC49-61893DF3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0E21C-61AC-4C81-80C5-CE6F869C6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6C91DB-1310-48B9-8640-70D0A996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2405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12CB01-1DF8-499D-A327-20491F37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764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267B1"/>
                </a:solidFill>
              </a:defRPr>
            </a:pPr>
            <a:r>
              <a:rPr sz="1650" b="1">
                <a:solidFill>
                  <a:srgbClr val="3267B1"/>
                </a:solidFill>
              </a:rPr>
              <a:t>Search node service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D21E44-9A82-45B6-90EB-0F7DDA9A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955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Loads one shard and local index; tokenizes query; returns local top-K results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19C88-E985-43A9-A2F1-4A5CFEAA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8130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CF0572-B06A-4AE1-82C9-8F6CF2E0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Coordinator service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6C482A-0400-486B-ABA0-20B18012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527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Receives query; calls all nodes in parallel; handles timeout; merges results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A084D6-E044-4527-BFCD-5237EB6E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3855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70EB2F-5F5C-4927-99DF-F49ED406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90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7D32"/>
                </a:solidFill>
              </a:defRPr>
            </a:pPr>
            <a:r>
              <a:rPr sz="1650" b="1">
                <a:solidFill>
                  <a:srgbClr val="2E7D32"/>
                </a:solidFill>
              </a:rPr>
              <a:t>API / Web UI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B9010A-AA3F-448B-A760-7C2EF5B9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100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Accepts user input; displays ranked results, source URLs, scores, and node 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A9E420-3EE7-451E-8A69-1946B791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9580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41C34A-A7BD-465A-939A-A9B4A67A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482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C5CE7"/>
                </a:solidFill>
              </a:defRPr>
            </a:pPr>
            <a:r>
              <a:rPr sz="1650" b="1">
                <a:solidFill>
                  <a:srgbClr val="6C5CE7"/>
                </a:solidFill>
              </a:rPr>
              <a:t>Config layer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5CFF61-F019-4C4A-891B-A90A5E5A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672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Stores node IDs, host addresses, ports, shard assignments, and timeouts</a:t>
            </a:r>
          </a:p>
        </p:txBody>
      </p:sp>
    </p:spTree>
    <p:extLst>
      <p:ext uri="{BB962C8B-B14F-4D97-AF65-F5344CB8AC3E}">
        <p14:creationId xmlns:p14="http://schemas.microsoft.com/office/powerpoint/2010/main" val="3778158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7A71C3-3378-4F77-A0D5-4E1EE964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gRPC defines the communication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8648E0-B5D5-4593-9E46-9E55E474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coordinator and search nodes communicate through request and response messages.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E8BE81-1EB1-43CE-A52A-80076BE2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8D4A5E-C04B-494F-A6AB-63C01305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24FA8-594C-4ED9-8DF4-61A9E375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FB769D-B199-4B49-A30D-D2B32EA6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43434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7F6C79-14A6-4F9F-A4FA-7A01A0513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343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67B1"/>
                </a:solidFill>
              </a:defRPr>
            </a:pPr>
            <a:r>
              <a:rPr sz="1800" b="1">
                <a:solidFill>
                  <a:srgbClr val="3267B1"/>
                </a:solidFill>
              </a:rPr>
              <a:t>QueryRequest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2F577E-0FEE-49A3-A352-E956C1CB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914650"/>
            <a:ext cx="2476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query_text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top_k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request_id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timeout_ms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4429CD-D237-4C49-9A6B-2383CA0C6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00250"/>
            <a:ext cx="43434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B83F4B-8DE7-49A2-987E-329E97B1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SearchResponse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239933-2351-4F5D-83A5-B68F3E88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14650"/>
            <a:ext cx="2476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node_id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status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results[]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latency_ms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381817-295A-4745-8BC2-EE14D78B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505200"/>
            <a:ext cx="7429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074338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D35E08-C96A-4B10-B7F0-BC2B176A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Coordinator controls fan-out, timeout, and merge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0EEB69-F800-49C6-9E3E-7F065FE8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coordinator is the central runtime component in the online layer.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F6BE53-C559-4A64-9227-92189FA0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9AE700-09D6-4619-BD89-17013C9F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AAFA9D-8B2A-4211-BDE2-92996496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06B101-CB1A-4FBC-9469-406DBD85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478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B16F7F-7AA9-4301-9D1D-2380407B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9240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receive query and top-K limit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E1C9E2-3B2F-46B8-8DC8-46E840A9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908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B628E2-BB4F-4A2E-A0DF-911E2A36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670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send QueryRequest to all nodes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225E71-3BA6-46C4-AE31-92060C46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337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0ED076-CCD3-49D7-AB64-AAF81144B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099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wait with per-node timeout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A8DEB1-ED8F-4C7A-90C3-A769B0F7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767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01A792-0850-4A76-B063-6551BE30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529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merge local top-K results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57C0AD-2591-4C2C-B2F6-79947177E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196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40B2CC-2CF8-4945-A13E-A6D9D62F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return ranked response with node status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33E145-ACC6-43CB-8B6D-2A823E25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43150"/>
            <a:ext cx="314325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66B488-FA1B-4475-97BD-F5A94E22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05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Merge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51B0D1-A901-40A0-B2E4-466C7463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62300"/>
            <a:ext cx="2381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combine node results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sort by score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remove duplicate URLs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apply top-K cut-off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show node status</a:t>
            </a:r>
          </a:p>
        </p:txBody>
      </p:sp>
    </p:spTree>
    <p:extLst>
      <p:ext uri="{BB962C8B-B14F-4D97-AF65-F5344CB8AC3E}">
        <p14:creationId xmlns:p14="http://schemas.microsoft.com/office/powerpoint/2010/main" val="16446449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FC2A95-3007-4C2F-81AD-1B44E00C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Each search node performs local retrieval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9BC047-38FD-4BF7-B1FE-52B4CCA9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Nodes do not need the full corpus; they search only their own partition.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5F027-69B3-4B87-9511-01BCA1A3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74D10-4EBD-4DDD-9A62-3D2F7AF8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ED36B-3B54-4AB2-9B75-93EA06581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C49491-CBBA-498E-A211-18FD43A4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62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67B1"/>
                </a:solidFill>
              </a:defRPr>
            </a:pPr>
            <a:r>
              <a:rPr sz="1800" b="1">
                <a:solidFill>
                  <a:srgbClr val="3267B1"/>
                </a:solidFill>
              </a:rPr>
              <a:t>Node startup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611E4C-53D3-4098-AD4A-468243BD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8C4849-981E-4749-912B-F52A3B0D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6289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load assigned shard 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159E20-FDA9-4F10-8F75-201F2EE1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83B2EA-8801-415E-AA66-28B3D2E2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1813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load local inverted index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07AD4A-63F1-4DED-8DAE-354B4815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487C96-DED8-4959-AAF3-EB389EB2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7338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register node_id and address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F0442E-5D88-4019-B7B5-41488B86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62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Query handling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DB3BDE-6D59-4F88-9509-17462903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B0BCCA-EF12-4975-B9D1-28EB6C80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289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tokenize incoming query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AAFDF-7824-4F60-8EBC-898F8C3A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23C9C9-5167-4313-AB88-E9ECF98D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813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lookup postings in local index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167DC4-3760-4F20-9422-88EA986D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94BC1D-25A7-439D-9941-3F9499B5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338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return local top-K results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B136A0-B2D2-4A30-B07F-B4E2E2BC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53000"/>
            <a:ext cx="68961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8EA"/>
          </a:solidFill>
          <a:ln xmlns:a="http://schemas.openxmlformats.org/drawingml/2006/main" w="9525">
            <a:solidFill>
              <a:srgbClr val="F4D49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CF628F-DE63-4360-A86D-9E56282E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62550"/>
            <a:ext cx="6134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This design supports scalability because adding a node means assigning another partition.</a:t>
            </a:r>
          </a:p>
        </p:txBody>
      </p:sp>
    </p:spTree>
    <p:extLst>
      <p:ext uri="{BB962C8B-B14F-4D97-AF65-F5344CB8AC3E}">
        <p14:creationId xmlns:p14="http://schemas.microsoft.com/office/powerpoint/2010/main" val="91608989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35F525-8D7B-4BEE-B110-F7518D7C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UI and fault handling make the system demonstrable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CB068-DAF1-4622-9BFE-9D789AC2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faculty demo should show normal results and unavailable-node behavior.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370631-96F1-4434-96DB-FBD8FB99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79D0DF-6D52-4276-8DD7-1B65571D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D90E0E-A25D-48FB-9877-BDE9CB71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405012-6175-4E48-9B91-FAF03F3D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E7D32"/>
                </a:solidFill>
              </a:defRPr>
            </a:pPr>
            <a:r>
              <a:rPr sz="1800" b="1">
                <a:solidFill>
                  <a:srgbClr val="2E7D32"/>
                </a:solidFill>
              </a:rPr>
              <a:t>Web/API display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98C54A-66D2-4195-9178-2017AC0B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81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290F9C-3BD5-4036-8B7C-3B0983EF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7051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query input box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DAEC5-DEF1-4F42-8BF2-CBAADA43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42FEFB-C01E-4801-9BE1-6BFFB438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2575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ranked result list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AABF7A-5CA2-4D0C-9C0C-23846ABC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86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7C923B-1081-4298-96FF-66D14146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100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source URL and 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61C78B-4669-43E1-8BC4-8E7E8B4B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38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0BEEDE-34A4-45A6-AFD1-F1E38DDF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624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node status/latency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5C8C6D-E403-4299-8BFE-13710555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38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2413A"/>
                </a:solidFill>
              </a:defRPr>
            </a:pPr>
            <a:r>
              <a:rPr sz="1800" b="1">
                <a:solidFill>
                  <a:srgbClr val="C2413A"/>
                </a:solidFill>
              </a:rPr>
              <a:t>Failure behavior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CA9861-E357-4C62-A96F-D9DDA7D3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781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CE6864-6D15-49A5-ADC3-1669D5C4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7051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set deadline per node call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29563C-69D2-4D88-B351-62F346EE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C45DC8-FD2B-41A0-A93F-098030D2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575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skip failed node response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B61393-9810-4502-8E02-0EED3827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86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F6D143-7977-4EDA-9D67-7D728B47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8100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return partial results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23B9E9-C55A-48AE-B274-F27EC77C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38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5FB9CE-7ADE-487C-A0B8-7755BA7C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3624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show which node failed</a:t>
            </a:r>
          </a:p>
        </p:txBody>
      </p:sp>
    </p:spTree>
    <p:extLst>
      <p:ext uri="{BB962C8B-B14F-4D97-AF65-F5344CB8AC3E}">
        <p14:creationId xmlns:p14="http://schemas.microsoft.com/office/powerpoint/2010/main" val="130281988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D0150F-CE5B-4274-8B6C-30E55291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FA-1 concepts are visible across the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83E6B9-B424-423C-808F-BB80FCD1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project maps to Unit 1 and Unit 2 through concrete implementation choices.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AE131E-8445-4150-8821-A0D0B164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0BD4A3-C85C-4F5D-97D4-0CE84917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A73705-158F-47E7-9F43-2D212CAD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40D46D-A6BE-467C-925F-8169171C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57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Unit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FF6E5B-446A-4D68-BA19-1C4C932BB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6C1CB2-72D1-478E-959D-9D2C4480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7241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architecture: coordinator + search nodes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828DCE-0F5E-48F6-9DE8-A7FDD52C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0BDF9D-5195-4BB3-BD47-BE5DC6E2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276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design issue: partitioning + ranking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9C5C0C-E70B-4608-9B52-67027A3C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C36004-4FA2-41A9-A47C-98797CBD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829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scalability through sharding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C3F734-EAD5-4605-B2FA-FA3293D1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8E54DA-BF67-4609-9AE0-82F77A92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3815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middleware boundary between services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9E3D0E-91A7-4CDB-8CB2-5063FA1D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57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Unit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41E298-13A2-4D20-818C-302C365A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12342B-75A5-43DB-BA6F-52EBC555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24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RPC using gRPC service calls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2F3026-D2EE-4250-A6C5-24B79B0C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0D05A4-2398-4015-A869-1850AA6F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766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request/response message schema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34E881-29F6-422B-8827-871DC61D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FEE5A7-A782-4C3F-ABC4-E6C5F595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290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node identifiers and addresses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370E1D-A628-4F99-A945-587FD676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820E0B-1992-47BC-BA1B-4E7B3919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81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timeouts for partial results</a:t>
            </a:r>
          </a:p>
        </p:txBody>
      </p:sp>
    </p:spTree>
    <p:extLst>
      <p:ext uri="{BB962C8B-B14F-4D97-AF65-F5344CB8AC3E}">
        <p14:creationId xmlns:p14="http://schemas.microsoft.com/office/powerpoint/2010/main" val="71886326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3CA1DA-7763-471F-9013-F4369741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Evaluation demo sequence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5A6220-81B4-4F9C-8319-5F44EC7C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demo should prove that the offline and online layers connect into one system.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6A2760-025B-4151-8607-228AE2E4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B3D163-8275-48DB-9CCA-8DA181D8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81F38F-567B-4977-A812-F6E1A565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6A0D94-BF10-4898-B53B-EBF82C24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478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707DE9-6315-4072-A8D8-C77037F4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866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Run offline pipeline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06839E-B3AF-489A-9327-11F1AD10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05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generate documents, shards, indexes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96D775-DDBA-4FA8-A54B-76120F92E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908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8F480B-077F-4C3B-9A9B-1D9C4FBA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098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Start search-node services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D719D-EA9D-4588-9060-93B25E57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4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each node loads one shard and index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BBCE3A-D163-4244-B280-C44D2BF0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A2AD4F-F71D-4EDB-B0B5-663A6644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3528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Start coordinator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53FB89-67AE-4B3C-B53B-0E677211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390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register node addresses and send fan-out query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3F6111-4A49-4746-BA92-24985E9D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767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5F20BF-E0E6-4323-B728-E0B810D8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0957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Search from UI/API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595D28-005C-4228-9FE8-75BB6781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33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display merged ranked results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6C99C3-42EB-4B86-B69A-4C98E554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196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DAC61A-9FDE-4AA1-8898-BF6FFA75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838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Stop one node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DDD665-CBF6-4FE1-B83C-1A55E7FE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768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show timeout and partial result behavior</a:t>
            </a:r>
          </a:p>
        </p:txBody>
      </p:sp>
    </p:spTree>
    <p:extLst>
      <p:ext uri="{BB962C8B-B14F-4D97-AF65-F5344CB8AC3E}">
        <p14:creationId xmlns:p14="http://schemas.microsoft.com/office/powerpoint/2010/main" val="13459242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2026-09-02T16:40:25.1330000Z</dcterms:created>
  <dcterms:modified xsi:type="dcterms:W3CDTF">2026-09-02T16:40:25.1330000Z</dcterms:modified>
</coreProperties>
</file>