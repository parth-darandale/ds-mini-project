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b0b847ae804a5f" /><Relationship Type="http://schemas.openxmlformats.org/officeDocument/2006/relationships/extended-properties" Target="/docProps/app.xml" Id="R39e174f330154c12" /><Relationship Type="http://schemas.openxmlformats.org/officeDocument/2006/relationships/officeDocument" Target="/ppt/presentation.xml" Id="Rdca01ff1fd674a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8d838e2f7840c8"/>
  </p:sldMasterIdLst>
  <p:notesMasterIdLst>
    <p:notesMasterId xmlns:r="http://schemas.openxmlformats.org/officeDocument/2006/relationships" r:id="R6c1c3242cc5140dd"/>
  </p:notesMasterIdLst>
  <p:sldIdLst>
    <p:sldId xmlns:r="http://schemas.openxmlformats.org/officeDocument/2006/relationships" id="256" r:id="R0100e04f50e84b04"/>
    <p:sldId xmlns:r="http://schemas.openxmlformats.org/officeDocument/2006/relationships" id="257" r:id="R1b1c73e1530f4d26"/>
    <p:sldId xmlns:r="http://schemas.openxmlformats.org/officeDocument/2006/relationships" id="258" r:id="R5d23890b310f4608"/>
    <p:sldId xmlns:r="http://schemas.openxmlformats.org/officeDocument/2006/relationships" id="259" r:id="R8297283e4e034b94"/>
    <p:sldId xmlns:r="http://schemas.openxmlformats.org/officeDocument/2006/relationships" id="260" r:id="R27736720c082410b"/>
    <p:sldId xmlns:r="http://schemas.openxmlformats.org/officeDocument/2006/relationships" id="261" r:id="Rd695b5064c424303"/>
    <p:sldId xmlns:r="http://schemas.openxmlformats.org/officeDocument/2006/relationships" id="262" r:id="R0f692e466e054d71"/>
    <p:sldId xmlns:r="http://schemas.openxmlformats.org/officeDocument/2006/relationships" id="263" r:id="R3911283c57ca4476"/>
    <p:sldId xmlns:r="http://schemas.openxmlformats.org/officeDocument/2006/relationships" id="264" r:id="R81a0d3d688274f69"/>
    <p:sldId xmlns:r="http://schemas.openxmlformats.org/officeDocument/2006/relationships" id="265" r:id="R969682a89c7e4f93"/>
    <p:sldId xmlns:r="http://schemas.openxmlformats.org/officeDocument/2006/relationships" id="266" r:id="R724dfe9c21214f7d"/>
    <p:sldId xmlns:r="http://schemas.openxmlformats.org/officeDocument/2006/relationships" id="267" r:id="Rd5da06258baf4390"/>
    <p:sldId xmlns:r="http://schemas.openxmlformats.org/officeDocument/2006/relationships" id="268" r:id="Rd0db07cde9b6419e"/>
    <p:sldId xmlns:r="http://schemas.openxmlformats.org/officeDocument/2006/relationships" id="269" r:id="R340728f93833401a"/>
    <p:sldId xmlns:r="http://schemas.openxmlformats.org/officeDocument/2006/relationships" id="270" r:id="Rab2ca8def08445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f1f6e5888e42f1" /><Relationship Type="http://schemas.openxmlformats.org/officeDocument/2006/relationships/slideMaster" Target="/ppt/slideMasters/slideMaster1.xml" Id="Rc68d838e2f7840c8" /><Relationship Type="http://schemas.openxmlformats.org/officeDocument/2006/relationships/notesMaster" Target="/ppt/notesMasters/notesMaster1.xml" Id="R6c1c3242cc5140dd" /><Relationship Type="http://schemas.openxmlformats.org/officeDocument/2006/relationships/presProps" Target="/ppt/presProps.xml" Id="R3fa63f14c22e46ee" /><Relationship Type="http://schemas.openxmlformats.org/officeDocument/2006/relationships/tableStyles" Target="/ppt/tableStyles.xml" Id="R3c5b74fd07734c0c" /><Relationship Type="http://schemas.openxmlformats.org/officeDocument/2006/relationships/slide" Target="/ppt/slides/slide1.xml" Id="R0100e04f50e84b04" /><Relationship Type="http://schemas.openxmlformats.org/officeDocument/2006/relationships/slide" Target="/ppt/slides/slide2.xml" Id="R1b1c73e1530f4d26" /><Relationship Type="http://schemas.openxmlformats.org/officeDocument/2006/relationships/slide" Target="/ppt/slides/slide3.xml" Id="R5d23890b310f4608" /><Relationship Type="http://schemas.openxmlformats.org/officeDocument/2006/relationships/slide" Target="/ppt/slides/slide4.xml" Id="R8297283e4e034b94" /><Relationship Type="http://schemas.openxmlformats.org/officeDocument/2006/relationships/slide" Target="/ppt/slides/slide5.xml" Id="R27736720c082410b" /><Relationship Type="http://schemas.openxmlformats.org/officeDocument/2006/relationships/slide" Target="/ppt/slides/slide6.xml" Id="Rd695b5064c424303" /><Relationship Type="http://schemas.openxmlformats.org/officeDocument/2006/relationships/slide" Target="/ppt/slides/slide7.xml" Id="R0f692e466e054d71" /><Relationship Type="http://schemas.openxmlformats.org/officeDocument/2006/relationships/slide" Target="/ppt/slides/slide8.xml" Id="R3911283c57ca4476" /><Relationship Type="http://schemas.openxmlformats.org/officeDocument/2006/relationships/slide" Target="/ppt/slides/slide9.xml" Id="R81a0d3d688274f69" /><Relationship Type="http://schemas.openxmlformats.org/officeDocument/2006/relationships/slide" Target="/ppt/slides/slide10.xml" Id="R969682a89c7e4f93" /><Relationship Type="http://schemas.openxmlformats.org/officeDocument/2006/relationships/slide" Target="/ppt/slides/slide11.xml" Id="R724dfe9c21214f7d" /><Relationship Type="http://schemas.openxmlformats.org/officeDocument/2006/relationships/slide" Target="/ppt/slides/slide12.xml" Id="Rd5da06258baf4390" /><Relationship Type="http://schemas.openxmlformats.org/officeDocument/2006/relationships/slide" Target="/ppt/slides/slide13.xml" Id="Rd0db07cde9b6419e" /><Relationship Type="http://schemas.openxmlformats.org/officeDocument/2006/relationships/slide" Target="/ppt/slides/slide14.xml" Id="R340728f93833401a" /><Relationship Type="http://schemas.openxmlformats.org/officeDocument/2006/relationships/slide" Target="/ppt/slides/slide15.xml" Id="Rab2ca8def08445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c2c6c11fb345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65d981d31243e3" /><Relationship Type="http://schemas.openxmlformats.org/officeDocument/2006/relationships/notesMaster" Target="/ppt/notesMasters/notesMaster1.xml" Id="R9fbab749d47c48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4372cb44f44a88" /><Relationship Type="http://schemas.openxmlformats.org/officeDocument/2006/relationships/notesMaster" Target="/ppt/notesMasters/notesMaster1.xml" Id="Ra991038a15fb43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0a17cdeea3499b" /><Relationship Type="http://schemas.openxmlformats.org/officeDocument/2006/relationships/notesMaster" Target="/ppt/notesMasters/notesMaster1.xml" Id="Ref7455f0177548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28c7a9890a4389" /><Relationship Type="http://schemas.openxmlformats.org/officeDocument/2006/relationships/notesMaster" Target="/ppt/notesMasters/notesMaster1.xml" Id="Rdffc484995da4d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de8e30b2354787" /><Relationship Type="http://schemas.openxmlformats.org/officeDocument/2006/relationships/notesMaster" Target="/ppt/notesMasters/notesMaster1.xml" Id="Rdbd44c5a38254b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8d674e1a044707" /><Relationship Type="http://schemas.openxmlformats.org/officeDocument/2006/relationships/notesMaster" Target="/ppt/notesMasters/notesMaster1.xml" Id="R03beecba82f54d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860d19a35b4026" /><Relationship Type="http://schemas.openxmlformats.org/officeDocument/2006/relationships/notesMaster" Target="/ppt/notesMasters/notesMaster1.xml" Id="R927f10cf0d2f42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e324c8ec834570" /><Relationship Type="http://schemas.openxmlformats.org/officeDocument/2006/relationships/notesMaster" Target="/ppt/notesMasters/notesMaster1.xml" Id="R7bb0f472b7d244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83f971d7134739" /><Relationship Type="http://schemas.openxmlformats.org/officeDocument/2006/relationships/notesMaster" Target="/ppt/notesMasters/notesMaster1.xml" Id="R248a91ee6f594f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46a4fbc5a14177" /><Relationship Type="http://schemas.openxmlformats.org/officeDocument/2006/relationships/notesMaster" Target="/ppt/notesMasters/notesMaster1.xml" Id="R0cc469a36ad549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b3715ddbf2404c" /><Relationship Type="http://schemas.openxmlformats.org/officeDocument/2006/relationships/notesMaster" Target="/ppt/notesMasters/notesMaster1.xml" Id="R6f47be9b3c324d3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8465361d36472c" /><Relationship Type="http://schemas.openxmlformats.org/officeDocument/2006/relationships/notesMaster" Target="/ppt/notesMasters/notesMaster1.xml" Id="Ra890f3b566f8403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10d44229564618" /><Relationship Type="http://schemas.openxmlformats.org/officeDocument/2006/relationships/notesMaster" Target="/ppt/notesMasters/notesMaster1.xml" Id="Rc2c2fd89b659437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6db05b0560741c8" /><Relationship Type="http://schemas.openxmlformats.org/officeDocument/2006/relationships/notesMaster" Target="/ppt/notesMasters/notesMaster1.xml" Id="R8e6b9e9087ec4a7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4cdeb92f39e47ee" /><Relationship Type="http://schemas.openxmlformats.org/officeDocument/2006/relationships/notesMaster" Target="/ppt/notesMasters/notesMaster1.xml" Id="R08ee1bcd87b54b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stating that the presentation covers the complete distributed search engine, from offline data preparation to online query processing.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project motivation using distributed-systems terms: scalability, parallel processing, and fault tolerance.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linked-system overview. The deck should not look like separate files; it should show a continuous architecture.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this as a system decomposition rather than a person-wise split. The important point is the contract between offline artifacts and runtime services.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this as the offline indexing layer. Mention that generated artifacts are stored and can be inspected before the runtime starts.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independent shards are important for search-node processes. Each node can load one partition instead of the full corpus.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a small code-level view without overwhelming the presentation. The snippet is simplified from app.py and the generated index structure.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concrete project evidence. The stats and search output were captured from the current local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the online runtime components: search-node services, coordinator, interface, and configuration.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 this to Unit 2 RPC and message-oriented communication: the proto schema becomes the formal interface between processes.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coordinator algorithm in viva terms. This is the part where parallel query processing is managed.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Discuss search-node responsibility and scalability. The node has local state and a small RPC interface.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the user-facing and fault-tolerant pieces of the online layer. It links to Unit 2 fault-tolerance self-study.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direct mapping to the FA-1 syllabus expected by faculty.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exact demonstration plan. It covers offline artifacts and online runtime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30204f5fc84f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41ede1b0554fff" /><Relationship Type="http://schemas.openxmlformats.org/officeDocument/2006/relationships/slideLayout" Target="/ppt/slideLayouts/slideLayout1.xml" Id="Ree4027c42c414b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4027c42c414b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45895068434f11" /><Relationship Type="http://schemas.openxmlformats.org/officeDocument/2006/relationships/notesSlide" Target="/ppt/notesSlides/notesSlide1.xml" Id="R29fc1b56eb0440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93148009d4e76" /><Relationship Type="http://schemas.openxmlformats.org/officeDocument/2006/relationships/notesSlide" Target="/ppt/notesSlides/notesSlide2.xml" Id="R4c00855e791d47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f227adaa64a7d" /><Relationship Type="http://schemas.openxmlformats.org/officeDocument/2006/relationships/notesSlide" Target="/ppt/notesSlides/notesSlide3.xml" Id="R954c94e81cd440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22c3dcc4246d7" /><Relationship Type="http://schemas.openxmlformats.org/officeDocument/2006/relationships/notesSlide" Target="/ppt/notesSlides/notesSlide4.xml" Id="R61ae8fca65784a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4bdefebee4ea0" /><Relationship Type="http://schemas.openxmlformats.org/officeDocument/2006/relationships/notesSlide" Target="/ppt/notesSlides/notesSlide5.xml" Id="Rcb0e53c62e0e43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b89161a0e4a56" /><Relationship Type="http://schemas.openxmlformats.org/officeDocument/2006/relationships/notesSlide" Target="/ppt/notesSlides/notesSlide6.xml" Id="R2ed60c5c418546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e6ef013984927" /><Relationship Type="http://schemas.openxmlformats.org/officeDocument/2006/relationships/notesSlide" Target="/ppt/notesSlides/notesSlide7.xml" Id="R2bd8895e21564b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e24dfad3443df" /><Relationship Type="http://schemas.openxmlformats.org/officeDocument/2006/relationships/notesSlide" Target="/ppt/notesSlides/notesSlide8.xml" Id="R261fdeca15b34d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e0c5ced2314948" /><Relationship Type="http://schemas.openxmlformats.org/officeDocument/2006/relationships/notesSlide" Target="/ppt/notesSlides/notesSlide9.xml" Id="R7f2b6a38ad444d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daf8ca7ff4829" /><Relationship Type="http://schemas.openxmlformats.org/officeDocument/2006/relationships/notesSlide" Target="/ppt/notesSlides/notesSlide10.xml" Id="Rb3c8dd9183dc40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9ba814b6343dd" /><Relationship Type="http://schemas.openxmlformats.org/officeDocument/2006/relationships/notesSlide" Target="/ppt/notesSlides/notesSlide11.xml" Id="R8d543c923e9242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1c27b8f9e4cb6" /><Relationship Type="http://schemas.openxmlformats.org/officeDocument/2006/relationships/notesSlide" Target="/ppt/notesSlides/notesSlide12.xml" Id="R07afd1b796534ac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36308e2154eeb" /><Relationship Type="http://schemas.openxmlformats.org/officeDocument/2006/relationships/notesSlide" Target="/ppt/notesSlides/notesSlide13.xml" Id="Rba4ee549341742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f7fab43574666" /><Relationship Type="http://schemas.openxmlformats.org/officeDocument/2006/relationships/notesSlide" Target="/ppt/notesSlides/notesSlide14.xml" Id="R73890dbd9db2473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d402f30b64d30" /><Relationship Type="http://schemas.openxmlformats.org/officeDocument/2006/relationships/notesSlide" Target="/ppt/notesSlides/notesSlide15.xml" Id="Rf26087e122ad46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C06559-2254-4DC9-B947-312D30C0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DB04DA-6AAB-42F6-ACFD-3B4F2B0D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19200"/>
            <a:ext cx="8096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Fault-Tolerant Distributed Search Engine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40164-683F-4618-AA53-94DF56C0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D6B78"/>
                </a:solidFill>
              </a:defRPr>
            </a:pPr>
            <a:r>
              <a:rPr sz="1800" b="0">
                <a:solidFill>
                  <a:srgbClr val="5D6B78"/>
                </a:solidFill>
              </a:rPr>
              <a:t>Partitioned indexing and parallel query 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8CEC7-BC0E-4640-A381-2E02F341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7C7B"/>
                </a:solidFill>
              </a:defRPr>
            </a:pPr>
            <a:r>
              <a:rPr sz="1500" b="1">
                <a:solidFill>
                  <a:srgbClr val="0E7C7B"/>
                </a:solidFill>
              </a:rPr>
              <a:t>FA-1 Technical Presentation | Distributed Systems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F9552E-DF88-4A36-AA8A-3F12E1B3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71650"/>
            <a:ext cx="2724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F158C-C2F4-4AB9-8CB5-CC9906B2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7501D5-FD15-4773-A35F-ED6185EC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AB09F-3603-44B3-892F-36F6454B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offline indexing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9C3418-2380-480D-8502-7F0EB5C4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95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92A4A4-B065-4502-80BD-94A6DDB8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194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online query 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8F5B0-1CCB-4702-8C2C-4CEDE91C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3DA61-671C-4134-B369-3929878F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732412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AD0888-79BF-4733-B783-B603DA70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Why search is a distributed-systems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D6D7E-B999-43BF-B52E-75C125D4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A centralized search system limits scalability and availability.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DCBC-0F09-4451-BC8D-4BDD8E00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B0C2E-157E-4457-A78E-A58DB5B0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70778C-6696-4D88-A805-E141AD99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C8F47-F2ED-4294-AAC0-ACC10B0A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Centralized 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FB207-30B6-4851-A877-151D3DE8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8130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all documents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74C108-CF59-465F-9118-F84C271B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05125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24E673-5FC2-492B-B790-7EDF5007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28900"/>
            <a:ext cx="2000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single index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single query processor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A1AC0B-2348-45E5-964F-985CEF19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43400"/>
            <a:ext cx="2857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bottleneck / single failure 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48DB77-6F27-434E-8D3D-FCE52EC5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105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one machine handles indexing and queries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1FFFFD-3699-4C2D-A56D-770F2FE8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Distributed 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A13146-1335-45F0-82D3-6F8615A6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A22349-832D-49C8-ADB2-FAFB01E7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718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fan-out query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706D56-5D74-461C-A871-779DC334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52800"/>
            <a:ext cx="6286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586AA-1704-4EE2-B390-134BE628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314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A9E2A8-4729-4CD1-96F3-B6C6908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371850"/>
            <a:ext cx="1314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139F25-2C7B-466E-9AB0-CAC5530E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114800"/>
            <a:ext cx="1314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ACA8E6-04A9-4C36-9704-188D1F27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8387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E7C7B"/>
                </a:solidFill>
              </a:defRPr>
            </a:pPr>
            <a:r>
              <a:rPr sz="1350" b="1">
                <a:solidFill>
                  <a:srgbClr val="0E7C7B"/>
                </a:solidFill>
              </a:rPr>
              <a:t>parallel local 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380311-7CFC-4021-A0F6-60171CBD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5780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Data is partitioned and query work is sent to multiple nodes in parallel.</a:t>
            </a:r>
          </a:p>
        </p:txBody>
      </p:sp>
    </p:spTree>
    <p:extLst>
      <p:ext uri="{BB962C8B-B14F-4D97-AF65-F5344CB8AC3E}">
        <p14:creationId xmlns:p14="http://schemas.microsoft.com/office/powerpoint/2010/main" val="638697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8363E-8CF7-4A60-A1EE-DE3B1399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Architecture has an offline layer and an online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336F4A-50BD-44CB-A914-4AC2E644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offline layer prepares shard/index files; the online layer serves distributed queries using those files.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C69484-F877-4751-8E5D-F4B37AFB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9F69B-5376-4333-8415-C064510D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83CEB9-7D38-43D7-84FB-BA4BB2BA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215DE0-D9C3-4687-A652-13602069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Crawl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884CC2-95AA-4812-85E6-CEB5F913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0A9E7-4D62-4957-AA97-1CE9B3E2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E2B39-9A3A-4EF0-8390-91CAFB8B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EE8CD0-3677-40BC-BA3F-E7734D27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Shard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906C16-6933-43E2-AAE9-9D7BC757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25B56D-C37F-4A0B-A82F-7059DAFF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221FB-917D-44E2-B6FE-61945521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3BE777-6C89-4057-A86D-E6D23D42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Search nodes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7EF1B2-A63A-4D8C-B5AE-52A5C08E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203313-ECF2-40B4-96B8-B910BD9A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05887F-4444-4C40-BEB5-CF352B4CC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31DFC-F31C-440F-A0DE-64967E54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Web UI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3407CB-DFAB-43E0-A91E-32EDE4C9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717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Offline layer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6807B8-AAD2-4381-8E1F-A064DCC6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717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Online layer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1D6FC7-2693-4603-94A3-673B4DFE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9525">
            <a:solidFill>
              <a:srgbClr val="B8DE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D45B8-4382-49B0-B8ED-2A91DDD4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Offline output: raw pages, documents.jsonl, shard files, index files, global statistics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75A471-4F4E-4E51-A013-A986612C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BDD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CF058D-6C23-4BC8-A8D8-A8A7F964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Runtime output: user query, parallel node responses, merged ranked result list</a:t>
            </a:r>
          </a:p>
        </p:txBody>
      </p:sp>
    </p:spTree>
    <p:extLst>
      <p:ext uri="{BB962C8B-B14F-4D97-AF65-F5344CB8AC3E}">
        <p14:creationId xmlns:p14="http://schemas.microsoft.com/office/powerpoint/2010/main" val="5266361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9199C4-7FFE-4641-8198-9B192873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Implementation is divided into two connected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A2BFD-D3F6-4065-A6D4-430C171E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final system combines offline indexing with online distributed query processing.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F9F1F-0025-4264-961F-45DA1588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EE3BD-EE3D-4AC5-B26F-21D4049A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AAF4C7-7D30-4997-8E77-02656128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1DB85-013B-4756-91A1-6AD02FC2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Offline data/indexing 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30BEFD-148E-44AF-97DC-1DBF6BF1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141AE-2B6E-4DA2-815D-5E4A4DC9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controlled crawling from allowed domains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8C47A7-303E-4E99-AB40-27C76FC0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3DDDA-0709-4C92-9776-453FBA92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HTML parsing into document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9BE8A5-6547-4FE4-BE5D-155FC5EA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5BBD69-543E-4363-960D-597E2E7E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document partitioning into shards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EDDD8-8441-473D-B826-E43A7AEC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B25C54-8E50-41B4-ACE0-5CA0D18F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local inverted indexes with global stats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73D5FB-8F4F-43AF-8F71-5CE8F049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Online query/runtime 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9792D5-86EF-4D24-9BF8-FB3E9077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18E2AC-4422-4176-B9F8-FF4A57B8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gRPC search-node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265526-EA35-4DD1-AF61-472DEB5B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C612B-D477-4B1F-9698-32E0BC2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coordinator fan-out and timeout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46CFF3-E927-41D5-B9A2-03BF9F9E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2B98D7-AB01-440C-B5C2-09B161F0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score-based result aggregation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6EC80-0277-4F90-82C3-03CA8BF4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39CFFD-0062-4E5A-ACC1-0B34D5FF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web/API result display with node status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C0EBCD-E060-42AE-A684-D89E7070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219700"/>
            <a:ext cx="6286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12DF48-F744-4B9A-BC81-13F5B3F6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721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Common contract: node_id, shard path, index path, QueryRequest, SearchResult</a:t>
            </a:r>
          </a:p>
        </p:txBody>
      </p:sp>
    </p:spTree>
    <p:extLst>
      <p:ext uri="{BB962C8B-B14F-4D97-AF65-F5344CB8AC3E}">
        <p14:creationId xmlns:p14="http://schemas.microsoft.com/office/powerpoint/2010/main" val="11488063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B9C0B5-713F-4FBF-A946-1580C7DC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Offline pipeline builds the data and index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49300F-7A0C-4C87-ABD0-9D9BFDE9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FA-1 implementation prepares the files loaded by search nodes.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B17906-786A-432D-A227-5DB7F7D6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2B426-7EB2-47AF-8B3C-54D12F99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D7733-1A9B-47F3-8A8A-63DCF33D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90121A-C27D-4A8D-AE1F-31CDB268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Crawler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D8515E-2E38-4BEF-901E-2DBC9E1E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193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Visits allowed domains, respects robots/limits, saves raw HTML offline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B6891-B3C3-49B0-A211-770B1777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3E75D-31E3-45F9-811C-449A0C2A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19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Parser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01963D-73ED-43EF-89F9-0740ED39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384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Extracts title, URL, source domain, visible text, and token count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AE2B5-1AEF-480F-B13A-C63B1657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147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B49798-8C06-4D3D-960E-C38AD021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C5CE7"/>
                </a:solidFill>
              </a:defRPr>
            </a:pPr>
            <a:r>
              <a:rPr sz="1800" b="1">
                <a:solidFill>
                  <a:srgbClr val="6C5CE7"/>
                </a:solidFill>
              </a:rPr>
              <a:t>Partitioner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3A99C-88F7-49A3-A86B-65DECDE6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576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Splits documents into node-owned shard files using range partitioning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FB7CB5-90B9-4F38-8E4A-C6E7C3AC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338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A2D35-604F-42D7-B0C6-85BC31F8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A93B"/>
                </a:solidFill>
              </a:defRPr>
            </a:pPr>
            <a:r>
              <a:rPr sz="1800" b="1">
                <a:solidFill>
                  <a:srgbClr val="F2A93B"/>
                </a:solidFill>
              </a:rPr>
              <a:t>Index builder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82BB1E-23A8-4956-8B84-090EBF43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767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Creates token postings, document metadata, and global IDF statistics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5CD9B0-3284-414F-AF35-122A45B7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581529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F595BB-A53B-46F3-8F72-089B73B7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Partitioned indexing makes each node independent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B60E09-DBE5-40C7-9FC9-20DC7B76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Each search node can load only its shard and its local index.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35042-2083-4618-AD73-C16871D5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01EFC-203C-44A5-96B5-863A9BC7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10B61-8E77-4AD3-ABAE-B11D9679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AD7AC-F8BE-4094-B8C3-98249385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documents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B287B2-2DED-4C43-86DC-8AB58342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28925"/>
            <a:ext cx="609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96B3C-DDD6-4F53-96C2-56D4613E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288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B0356-FD73-4BBD-9ED5-BB91EBB6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527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0D470-6A04-4774-86A2-A2344961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766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0FE21D-FE3C-439A-966F-CC305262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Range partitioning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3E334-D0F3-4B72-B6E9-DBF82B4B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09800"/>
            <a:ext cx="3810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FB7415-A66E-472F-AAB2-5420B936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Local inverted index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9BC38-CA78-4CC5-9CAA-CA41E14D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24200"/>
            <a:ext cx="295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term -&gt; [(doc_id, tf, positions)]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terms are matched locally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scores use global_stats.json</a:t>
            </a:r>
          </a:p>
        </p:txBody>
      </p:sp>
    </p:spTree>
    <p:extLst>
      <p:ext uri="{BB962C8B-B14F-4D97-AF65-F5344CB8AC3E}">
        <p14:creationId xmlns:p14="http://schemas.microsoft.com/office/powerpoint/2010/main" val="4532768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AE4038-A33E-4076-B9F4-5A21FC1F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Core implementation follows a staged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9F4B2-8622-4501-A520-7948E909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code keeps crawling, parsing, sharding, and indexing as separate steps.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BA9D2-D5C5-4A4D-8ECD-45230F33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31725-CD8C-49A7-8A46-99BC8E9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735E4-B755-4CE9-AF6E-432CE042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DC0C40-A5F4-4607-8154-9E6E5E52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487680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F5DB53-B582-41ED-B05F-C933C085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47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Pipeline entry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DD451-E4C4-40BE-933D-4734C2E0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76550"/>
            <a:ext cx="4000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def run_pipeline(args):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crawl(config)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parse_html(raw_dir, documents.jsonl)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partition_documents(documents, shards, n)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build_indexes(shards, indexes)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79E068-D984-4DE4-A2E4-A680206D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7B"/>
                </a:solidFill>
              </a:defRPr>
            </a:pPr>
            <a:r>
              <a:rPr sz="1650" b="1">
                <a:solidFill>
                  <a:srgbClr val="0E7C7B"/>
                </a:solidFill>
              </a:rPr>
              <a:t>Why this matters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09797-23D2-43F8-9324-D9569545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863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Each stage has a clear input and output, so failures are easier to locate and individual stages can be rerun.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B2F454-5BE7-45FD-8AB0-E8FEA9F6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62150"/>
            <a:ext cx="417195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A2C02D-3119-40B4-A15E-CB625A0A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Index structure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852CCB-D8F3-4CDA-85A0-9685F557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38450"/>
            <a:ext cx="314325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index = {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"node_id": "node_1",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"documents": {...},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"terms": {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 "query": [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   {"doc_id": "...", "tf": 2}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 ]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}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1A92D9-2769-4A7A-B74C-72BFF86C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105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This is the local state loaded by every search-node process.</a:t>
            </a:r>
          </a:p>
        </p:txBody>
      </p:sp>
    </p:spTree>
    <p:extLst>
      <p:ext uri="{BB962C8B-B14F-4D97-AF65-F5344CB8AC3E}">
        <p14:creationId xmlns:p14="http://schemas.microsoft.com/office/powerpoint/2010/main" val="8165212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DF3215-05DF-403F-ABFF-2A26D26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Current output proves the offline layer is working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9D836-A6D9-46B2-BAA5-E366A0A8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These commands can be shown directly during evaluation.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22A39-52EC-487A-B44A-A6C6B6C4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1B674-2A41-43D1-B202-1048ACF2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FCEBA2-9B12-437B-B6E4-36F2F2F1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CEE97-7E01-4573-A066-5D33ABC1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9530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DF0F8-0789-4D78-9E4D-24084F8C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47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python app.py stats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A31BA-5D55-4628-A391-EB548B39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81300"/>
            <a:ext cx="40767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Raw HTML pages: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Metadata records: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Parsed documents: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Global indexed documents: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node_1: 334 documents, 35803 terms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node_2: 334 documents, 13726 terms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node_3: 332 documents, 21854 terms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FFED1A-6AEA-43FF-B696-FD29953F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49530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EFA78-0573-45E0-91F5-A67A8AAC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479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python app.py search "parallel query processing"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F8FFD6-4C94-4E0D-9319-2A15AD9B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0350"/>
            <a:ext cx="3905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1. The Kubernetes API | Kubernetes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Score: 0.9916 | Node: node_1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2. PostgreSQL 18.6, 17.11, 16.15...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Score: 0.9632 | Node: node_2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3. Labels and Selectors | Kubernetes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Score: 0.9484 | Node: node_1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0D9CA0-445D-4AFB-AB09-17C0C81F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93395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The result list shows which partition produced each match.</a:t>
            </a:r>
          </a:p>
        </p:txBody>
      </p:sp>
    </p:spTree>
    <p:extLst>
      <p:ext uri="{BB962C8B-B14F-4D97-AF65-F5344CB8AC3E}">
        <p14:creationId xmlns:p14="http://schemas.microsoft.com/office/powerpoint/2010/main" val="18527852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DB65D3-6BE7-4AF5-BDCD-A85DBA4C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Distributed query runtime serves the prepared indexes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01F30-9F0D-4922-BE4E-CC5C1A6E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This layer turns local shard indexes into one searchable service.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4605B-B262-4C7C-8557-E1FDE024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83007-2ADF-4DBE-B030-AB3D968C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17408-6E2D-4B4E-8514-35190C31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A53BC-450F-494C-AFFE-EA440F11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76F643-3DA1-4B42-AD4A-218027AA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764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267B1"/>
                </a:solidFill>
              </a:defRPr>
            </a:pPr>
            <a:r>
              <a:rPr sz="1650" b="1">
                <a:solidFill>
                  <a:srgbClr val="3267B1"/>
                </a:solidFill>
              </a:rPr>
              <a:t>Search node service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3CEC0-D988-40C0-AA4B-A7BEAEC2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Loads one shard and local index; tokenizes query; returns local top-K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B7F1E0-727A-4CD3-AE63-21FA2FFB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320B9A-96EA-4F77-9A5B-594F7B63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Coordinator service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74E3F-0F74-453A-AF97-64335F31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Receives query; calls all nodes in parallel; handles timeout; merges results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940C0-E141-49C6-B111-7B0EEECE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385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2ABE4-6286-4537-B5B4-A84BE28F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90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7D32"/>
                </a:solidFill>
              </a:defRPr>
            </a:pPr>
            <a:r>
              <a:rPr sz="1650" b="1">
                <a:solidFill>
                  <a:srgbClr val="2E7D32"/>
                </a:solidFill>
              </a:rPr>
              <a:t>API / Web 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85447F-8DC5-4B14-B1C6-46DB7C2E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100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Accepts user input; displays ranked results, source URLs, scores, and node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2E414-15F3-4F23-88E7-860544AD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958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08A3BD-976D-49D0-A928-3E1F3E32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48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C5CE7"/>
                </a:solidFill>
              </a:defRPr>
            </a:pPr>
            <a:r>
              <a:rPr sz="1650" b="1">
                <a:solidFill>
                  <a:srgbClr val="6C5CE7"/>
                </a:solidFill>
              </a:rPr>
              <a:t>Config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AD1BF2-E82B-49FE-97A0-CF85662F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Stores node IDs, host addresses, ports, shard assignments, and timeouts</a:t>
            </a:r>
          </a:p>
        </p:txBody>
      </p:sp>
    </p:spTree>
    <p:extLst>
      <p:ext uri="{BB962C8B-B14F-4D97-AF65-F5344CB8AC3E}">
        <p14:creationId xmlns:p14="http://schemas.microsoft.com/office/powerpoint/2010/main" val="9707463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2EADF1-9130-4396-ADFC-0DE96D87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gRPC defines the communication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3748D-44EB-421C-9AFC-8C30889A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and search nodes communicate through request and response messages.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38671-CB56-40EB-B7F1-F9C89EEC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48E3CA-74C2-4781-8C8C-CF8DD8AB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534D7-5C89-46E6-8C70-14E81675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41C19-A577-45F3-B9B6-EFBD16D4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9265F-8A36-42DF-885F-59B17D5A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343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QueryRequest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1939C-B353-43BB-84CB-A185D9DA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query_text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top_k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request_id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timeout_ms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30CBF-13F4-44A8-A6BA-377B448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25BF37-E0EA-42A9-B02C-340DB9E5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SearchResponse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9CE0C-6839-486F-8379-67E89F85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node_id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results[]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latency_ms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F7A18C-0613-4B65-B694-68DE0AC2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05200"/>
            <a:ext cx="7429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816037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A85BAF-DAB6-4683-A843-EFED930B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Coordinator controls fan-out, timeout, and merge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A9DA7-B34B-4035-A9D0-0A18E44D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is the central runtime component in the online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29E40-16ED-4231-B11B-BDB6CFBF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4CB1A-7C81-494D-81BC-E5D3EA95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AC3EA4-1D8F-4B99-8F0D-FD10B54B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7491C8-5B95-481B-8D38-D96B2C3E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9D8B0-AB3B-48B7-AACF-470ABAEC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24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receive query and top-K limit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A6F3EA-CE7D-4D0E-B2FE-9420E6A4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908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CE212-284E-41AC-AB15-9FE2AE22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67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send QueryRequest to all nodes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DF136-0384-463F-969A-F1F19C13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337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0E8FE-2FD4-4D20-A6E8-2F4797BD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09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wait with per-node timeout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2FA87B-799F-47B5-A53C-835AC8C5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767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B3036B-A88A-4BA9-8A1E-54A22A2A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529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merge local top-K results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01092-7AE1-49A2-AD40-54B41B22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19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2BEB6F-7A86-47A2-B7E7-8A86B28C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return ranked response with node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E3D597-CDC3-4BF0-B829-F4724178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43150"/>
            <a:ext cx="314325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DB9850-8A7C-4539-BA10-9AE43C76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05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Merge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1F788-29D3-4F31-A150-FC328F11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62300"/>
            <a:ext cx="2381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combine node results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sort by score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remove duplicate URLs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apply top-K cut-off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show node status</a:t>
            </a:r>
          </a:p>
        </p:txBody>
      </p:sp>
    </p:spTree>
    <p:extLst>
      <p:ext uri="{BB962C8B-B14F-4D97-AF65-F5344CB8AC3E}">
        <p14:creationId xmlns:p14="http://schemas.microsoft.com/office/powerpoint/2010/main" val="20464987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C71BA3-BABE-49FD-8267-3586A7D4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Each search node performs local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DEFAB3-85BB-4B49-AFEB-05CB1717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Nodes do not need the full corpus; they search only their own partition.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9D10B1-F17A-4966-BBBC-9DB08F18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A253FC-AB70-43B1-9A8F-00C521C7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371B3-DDE1-418C-89B6-1DAC835E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3B433-F8C3-4A7E-B763-81A615DE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Node startup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FC47C-1B2F-44D7-A3A8-B1C8BEE5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A37944-8264-47F3-89F2-37CC00D0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assigned shard 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1556B4-4F51-44F9-94CE-68C9150E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B4883A-A880-49B5-81E5-57223035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local inverted 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B9982E-104C-41CD-A5DF-A9106FA0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25A7C9-E9AF-467E-A64F-C3638E99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register node_id and address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CF6853-1BB9-4009-BBB1-97A8404C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Query handling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1675B1-8E68-4C42-81DF-36A6F1FC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9D7EBC-5C26-4AC8-9D75-14AF2F99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tokenize incoming 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3E1AC-AA88-449B-B52C-C45A1F63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402148-7512-4CAC-85D4-1C7DB5B1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lookup postings in local index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04FA87-0899-4B20-A305-9D82EB5D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30A3EC-2F0C-47AA-871E-257245EA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local top-K results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A0BA28-5CD4-42EE-9C56-BFFF877B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53000"/>
            <a:ext cx="68961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3CA90D-5D74-47FA-8664-F1AD4413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62550"/>
            <a:ext cx="6134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This design supports scalability because adding a node means assigning another partition.</a:t>
            </a:r>
          </a:p>
        </p:txBody>
      </p:sp>
    </p:spTree>
    <p:extLst>
      <p:ext uri="{BB962C8B-B14F-4D97-AF65-F5344CB8AC3E}">
        <p14:creationId xmlns:p14="http://schemas.microsoft.com/office/powerpoint/2010/main" val="17536898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745CFB-499E-4FF2-B34D-8C7039C9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UI and fault handling make the system demonstrable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3A18D-AD25-441B-B1A3-168A7E04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faculty demo should show normal results and unavailable-node behavior.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C8943-9D01-46B1-8B3A-2E1EB740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98E421-8415-49E2-A89F-52E062DC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98B702-6F13-4D9F-950F-A8634796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840E6-AB3C-46E0-BD36-2FE8D58D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D32"/>
                </a:solidFill>
              </a:defRPr>
            </a:pPr>
            <a:r>
              <a:rPr sz="1800" b="1">
                <a:solidFill>
                  <a:srgbClr val="2E7D32"/>
                </a:solidFill>
              </a:rPr>
              <a:t>Web/API display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FB707-FE39-422F-8FB7-4330F06E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46D3F-6F82-4194-B808-C972F78A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705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input box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72739E-E5B7-45BA-A47A-8ADD6BDD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76BB26-F84A-45B6-8352-E30557D9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2575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ranked result 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85790C-D3D5-4B27-98C8-FE86606C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CE8963-FDCE-4DED-AEAE-3AFBEFBC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10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source URL and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54766-FFAD-40B4-B5E0-95118E83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3232C-E234-4753-BB09-2D5239BB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status/latency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AE7343-95C4-46A6-B7CA-48B819E9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2413A"/>
                </a:solidFill>
              </a:defRPr>
            </a:pPr>
            <a:r>
              <a:rPr sz="1800" b="1">
                <a:solidFill>
                  <a:srgbClr val="C2413A"/>
                </a:solidFill>
              </a:rPr>
              <a:t>Failure behavior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529C79-9173-444A-9465-C735FA59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553A68-021F-448D-80CF-5EB43A65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05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set deadline per node 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A05AFB-D5D7-4AFB-BC5E-EE0D015F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0A13E4-06DB-46BA-8534-FF1A0A91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57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skip failed node response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7C4AB9-06C7-4433-A53D-C8756EBE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C411F5-D1FD-45DA-BD12-C10B5C92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100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partial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649D4A-EF69-49EA-A4E9-F78FE134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206F1A-5695-4267-8475-C2571DA9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624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show which node failed</a:t>
            </a:r>
          </a:p>
        </p:txBody>
      </p:sp>
    </p:spTree>
    <p:extLst>
      <p:ext uri="{BB962C8B-B14F-4D97-AF65-F5344CB8AC3E}">
        <p14:creationId xmlns:p14="http://schemas.microsoft.com/office/powerpoint/2010/main" val="13705345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1EAE1B-3E60-4CF4-B983-E255C001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FA-1 concepts are visible across the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952C5-17E4-42E8-A164-7DBA8658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project maps to Unit 1 and Unit 2 through concrete implementation choices.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C35E77-2884-4B15-84F8-9BAE2E3F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857B75-8FEE-451D-B9E6-2118E1D8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0B428-85DE-43BC-9C03-93196ECF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1EC86-3A3A-43E8-886D-C2CD57E2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Unit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2F92D-8AE8-4690-8C00-A159BD60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A7E49-A900-4DEA-B797-A2EF0DC0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241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architecture: coordinator + search nodes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261559-7CF2-4624-B07F-DEA7D014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37975B-70DE-4562-A8A7-43C04AEF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76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design issue: partitioning + ranking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9B6CE-63A0-489A-BBE4-D3CD9C81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662C9-CD84-4408-8212-BD2A5074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829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scalability through sharding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029BC-86DC-49C5-B0A6-2683027E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4FB0EB-DA56-4B4C-9BB2-E4BE313D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3815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middleware boundary between services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1AFBF4-F5EF-4527-AC73-82B3CE6B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Unit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548AE7-F280-45B0-AEAF-02B2CDD4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251A63-5037-42B8-B942-209B3D69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24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RPC using gRPC service calls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84B3DA-0AF3-4DF0-8D37-A580DF60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48A51C-3423-44D6-8376-5F54CDB7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request/response message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0FCC04-3280-4706-95B8-5279DA7F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E2AA9C-FE77-4F93-8000-0A21E306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290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identifiers and addresses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99829D-C853-4AE1-BFB4-B02227E5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EFDBA-B272-4F09-A19F-8B99277C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81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timeouts for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7116523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1343E-AA66-4221-B3B8-1CE37506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Evaluation demo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C92F1-081A-4BA7-BC62-D360FB5B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demo should prove that the offline and online layers connect into one system.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3F1875-64A9-4700-8E3A-57278238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B3E11-F123-4592-B475-CDCA17A6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255DE4-0D00-455D-B597-5426FC81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98788-2A68-4465-B0BA-FA5DCAB0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478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5ECF7-E90C-4B26-8AF0-676322D0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866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Run offline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011794-1A74-42DC-B132-339AAF9A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05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generate documents, shards, indexes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9363C3-B926-4A35-8314-0885C9AF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908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68359-0505-4B97-8FCB-10624085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098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search-node services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18CB5-111C-4B89-84A5-5867D36D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4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each node loads one shard and index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D405F2-2214-42ED-80F7-32DD8EB6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924F8-56F0-4D91-8846-9D0D5222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352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coordinator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367BAE-36ED-434E-B903-B70152E6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90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register node addresses and send fan-out query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A3B9F4-B2A6-40CA-A946-30BED127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06119-52C1-4CF5-A303-6BDD368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095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Search from UI/API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769871-CB5C-4EE0-A7AD-7B05D8C9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33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display merged ranked results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054B2D-15AF-4E8F-8CB3-88D8ED4C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89E95F-EE35-4D07-B01F-DB0E3151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838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Stop one node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9E194A-869A-4EBC-B27B-B83DC300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768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show timeout and partial result behavior</a:t>
            </a:r>
          </a:p>
        </p:txBody>
      </p:sp>
    </p:spTree>
    <p:extLst>
      <p:ext uri="{BB962C8B-B14F-4D97-AF65-F5344CB8AC3E}">
        <p14:creationId xmlns:p14="http://schemas.microsoft.com/office/powerpoint/2010/main" val="15952533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2026-09-02T16:49:20.8320000Z</dcterms:created>
  <dcterms:modified xsi:type="dcterms:W3CDTF">2026-09-02T16:49:20.8320000Z</dcterms:modified>
</coreProperties>
</file>