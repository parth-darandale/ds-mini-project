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cc335e2c9042f5" /><Relationship Type="http://schemas.openxmlformats.org/officeDocument/2006/relationships/extended-properties" Target="/docProps/app.xml" Id="Rbe9e195d8c634abf" /><Relationship Type="http://schemas.openxmlformats.org/officeDocument/2006/relationships/officeDocument" Target="/ppt/presentation.xml" Id="R210dd560e2dc4f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35c4a30d1142bc"/>
  </p:sldMasterIdLst>
  <p:notesMasterIdLst>
    <p:notesMasterId xmlns:r="http://schemas.openxmlformats.org/officeDocument/2006/relationships" r:id="Re3615326b32e494e"/>
  </p:notesMasterIdLst>
  <p:sldIdLst>
    <p:sldId xmlns:r="http://schemas.openxmlformats.org/officeDocument/2006/relationships" id="256" r:id="Radfcc4657fbd4188"/>
    <p:sldId xmlns:r="http://schemas.openxmlformats.org/officeDocument/2006/relationships" id="257" r:id="R860b3efc61124549"/>
    <p:sldId xmlns:r="http://schemas.openxmlformats.org/officeDocument/2006/relationships" id="258" r:id="Rb2ffdf5f89c94b08"/>
    <p:sldId xmlns:r="http://schemas.openxmlformats.org/officeDocument/2006/relationships" id="259" r:id="Rf819952ef8eb425c"/>
    <p:sldId xmlns:r="http://schemas.openxmlformats.org/officeDocument/2006/relationships" id="260" r:id="Re6a266cca6854726"/>
    <p:sldId xmlns:r="http://schemas.openxmlformats.org/officeDocument/2006/relationships" id="261" r:id="Rdb95d9e1729945a2"/>
    <p:sldId xmlns:r="http://schemas.openxmlformats.org/officeDocument/2006/relationships" id="262" r:id="R8c2e583f9abc4cd1"/>
    <p:sldId xmlns:r="http://schemas.openxmlformats.org/officeDocument/2006/relationships" id="263" r:id="R699a77cc7e224f4b"/>
    <p:sldId xmlns:r="http://schemas.openxmlformats.org/officeDocument/2006/relationships" id="264" r:id="R241f464ed142428a"/>
    <p:sldId xmlns:r="http://schemas.openxmlformats.org/officeDocument/2006/relationships" id="265" r:id="Rea161711954c4ea1"/>
    <p:sldId xmlns:r="http://schemas.openxmlformats.org/officeDocument/2006/relationships" id="266" r:id="Rfd043e1b12724fa3"/>
    <p:sldId xmlns:r="http://schemas.openxmlformats.org/officeDocument/2006/relationships" id="267" r:id="R2d7ebb4151264172"/>
    <p:sldId xmlns:r="http://schemas.openxmlformats.org/officeDocument/2006/relationships" id="268" r:id="R3e2caaf2ab764a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3ca3aab6ce46bc" /><Relationship Type="http://schemas.openxmlformats.org/officeDocument/2006/relationships/slideMaster" Target="/ppt/slideMasters/slideMaster1.xml" Id="R6935c4a30d1142bc" /><Relationship Type="http://schemas.openxmlformats.org/officeDocument/2006/relationships/notesMaster" Target="/ppt/notesMasters/notesMaster1.xml" Id="Re3615326b32e494e" /><Relationship Type="http://schemas.openxmlformats.org/officeDocument/2006/relationships/presProps" Target="/ppt/presProps.xml" Id="Rfd921a47913e4df7" /><Relationship Type="http://schemas.openxmlformats.org/officeDocument/2006/relationships/tableStyles" Target="/ppt/tableStyles.xml" Id="R4abf18814ddb4b48" /><Relationship Type="http://schemas.openxmlformats.org/officeDocument/2006/relationships/slide" Target="/ppt/slides/slide1.xml" Id="Radfcc4657fbd4188" /><Relationship Type="http://schemas.openxmlformats.org/officeDocument/2006/relationships/slide" Target="/ppt/slides/slide2.xml" Id="R860b3efc61124549" /><Relationship Type="http://schemas.openxmlformats.org/officeDocument/2006/relationships/slide" Target="/ppt/slides/slide3.xml" Id="Rb2ffdf5f89c94b08" /><Relationship Type="http://schemas.openxmlformats.org/officeDocument/2006/relationships/slide" Target="/ppt/slides/slide4.xml" Id="Rf819952ef8eb425c" /><Relationship Type="http://schemas.openxmlformats.org/officeDocument/2006/relationships/slide" Target="/ppt/slides/slide5.xml" Id="Re6a266cca6854726" /><Relationship Type="http://schemas.openxmlformats.org/officeDocument/2006/relationships/slide" Target="/ppt/slides/slide6.xml" Id="Rdb95d9e1729945a2" /><Relationship Type="http://schemas.openxmlformats.org/officeDocument/2006/relationships/slide" Target="/ppt/slides/slide7.xml" Id="R8c2e583f9abc4cd1" /><Relationship Type="http://schemas.openxmlformats.org/officeDocument/2006/relationships/slide" Target="/ppt/slides/slide8.xml" Id="R699a77cc7e224f4b" /><Relationship Type="http://schemas.openxmlformats.org/officeDocument/2006/relationships/slide" Target="/ppt/slides/slide9.xml" Id="R241f464ed142428a" /><Relationship Type="http://schemas.openxmlformats.org/officeDocument/2006/relationships/slide" Target="/ppt/slides/slide10.xml" Id="Rea161711954c4ea1" /><Relationship Type="http://schemas.openxmlformats.org/officeDocument/2006/relationships/slide" Target="/ppt/slides/slide11.xml" Id="Rfd043e1b12724fa3" /><Relationship Type="http://schemas.openxmlformats.org/officeDocument/2006/relationships/slide" Target="/ppt/slides/slide12.xml" Id="R2d7ebb4151264172" /><Relationship Type="http://schemas.openxmlformats.org/officeDocument/2006/relationships/slide" Target="/ppt/slides/slide13.xml" Id="R3e2caaf2ab764a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53b86056414d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dd598e7f514970" /><Relationship Type="http://schemas.openxmlformats.org/officeDocument/2006/relationships/notesMaster" Target="/ppt/notesMasters/notesMaster1.xml" Id="R81c8fdf6598f46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31da1617944c04" /><Relationship Type="http://schemas.openxmlformats.org/officeDocument/2006/relationships/notesMaster" Target="/ppt/notesMasters/notesMaster1.xml" Id="R82ed61db17ea4c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70f0eaee764237" /><Relationship Type="http://schemas.openxmlformats.org/officeDocument/2006/relationships/notesMaster" Target="/ppt/notesMasters/notesMaster1.xml" Id="Rc67c238eff2542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7b7b4648d14108" /><Relationship Type="http://schemas.openxmlformats.org/officeDocument/2006/relationships/notesMaster" Target="/ppt/notesMasters/notesMaster1.xml" Id="Rb7d59b994c1741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df52a1fd4e4909" /><Relationship Type="http://schemas.openxmlformats.org/officeDocument/2006/relationships/notesMaster" Target="/ppt/notesMasters/notesMaster1.xml" Id="Rdd9b346ae9ac4c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d7fc9da13c4625" /><Relationship Type="http://schemas.openxmlformats.org/officeDocument/2006/relationships/notesMaster" Target="/ppt/notesMasters/notesMaster1.xml" Id="R7e8a62290e494b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601e60090b4f05" /><Relationship Type="http://schemas.openxmlformats.org/officeDocument/2006/relationships/notesMaster" Target="/ppt/notesMasters/notesMaster1.xml" Id="Rc503bc762ae542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29741a94b14577" /><Relationship Type="http://schemas.openxmlformats.org/officeDocument/2006/relationships/notesMaster" Target="/ppt/notesMasters/notesMaster1.xml" Id="Ra229165d2b0548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8773a1f4914441" /><Relationship Type="http://schemas.openxmlformats.org/officeDocument/2006/relationships/notesMaster" Target="/ppt/notesMasters/notesMaster1.xml" Id="R2514a52fe6bc40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0a1cab928a48ac" /><Relationship Type="http://schemas.openxmlformats.org/officeDocument/2006/relationships/notesMaster" Target="/ppt/notesMasters/notesMaster1.xml" Id="Rcb489f0b3d0f4e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219dad1c65494b" /><Relationship Type="http://schemas.openxmlformats.org/officeDocument/2006/relationships/notesMaster" Target="/ppt/notesMasters/notesMaster1.xml" Id="R5e0f54676e804c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58bf1cdc3d41f5" /><Relationship Type="http://schemas.openxmlformats.org/officeDocument/2006/relationships/notesMaster" Target="/ppt/notesMasters/notesMaster1.xml" Id="R34be92488c6f4c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e8d338e9274473" /><Relationship Type="http://schemas.openxmlformats.org/officeDocument/2006/relationships/notesMaster" Target="/ppt/notesMasters/notesMaster1.xml" Id="Re784854539d84e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stating that the presentation covers the complete distributed search engine, from offline data preparation to online query processing.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project motivation using distributed-systems terms: scalability, parallel processing, and fault tolerance.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linked-system overview. The deck should not look like separate files; it should show a continuous architecture.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this as a system decomposition rather than a person-wise split. The important point is the contract between offline artifacts and runtime services.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this as the offline indexing layer. Mention that generated artifacts are stored and can be inspected before the runtime starts.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independent shards are important for search-node processes. Each node can load one partition instead of the full corpus.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online runtime components: search-node services, coordinator, interface, and configuration.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 this to Unit 2 RPC and message-oriented communication: the proto schema becomes the formal interface between processes.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coordinator algorithm in viva terms. This is the part where parallel query processing is managed.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Discuss search-node responsibility and scalability. The node has local state and a small RPC interface.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user-facing and fault-tolerant pieces of the online layer. It links to Unit 2 fault-tolerance self-study.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direct mapping to the FA-1 syllabus expected by faculty.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exact demonstration plan. It covers offline artifacts and online runtime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90733974b342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54fc0531f04167" /><Relationship Type="http://schemas.openxmlformats.org/officeDocument/2006/relationships/slideLayout" Target="/ppt/slideLayouts/slideLayout1.xml" Id="R1265340d2e5145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65340d2e5145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b69e814224c4f" /><Relationship Type="http://schemas.openxmlformats.org/officeDocument/2006/relationships/notesSlide" Target="/ppt/notesSlides/notesSlide1.xml" Id="R41709929fd824e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00182234a4c83" /><Relationship Type="http://schemas.openxmlformats.org/officeDocument/2006/relationships/notesSlide" Target="/ppt/notesSlides/notesSlide2.xml" Id="Rf50bd13ba2fb43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580e7f2fd4365" /><Relationship Type="http://schemas.openxmlformats.org/officeDocument/2006/relationships/notesSlide" Target="/ppt/notesSlides/notesSlide3.xml" Id="R979f7e6b9b8145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e917c476848ab" /><Relationship Type="http://schemas.openxmlformats.org/officeDocument/2006/relationships/notesSlide" Target="/ppt/notesSlides/notesSlide4.xml" Id="R3ce8a55f381741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c4decb3784bf1" /><Relationship Type="http://schemas.openxmlformats.org/officeDocument/2006/relationships/notesSlide" Target="/ppt/notesSlides/notesSlide5.xml" Id="Rd6e2a91252d548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361f9ca3e411e" /><Relationship Type="http://schemas.openxmlformats.org/officeDocument/2006/relationships/notesSlide" Target="/ppt/notesSlides/notesSlide6.xml" Id="R85a5ee8c7b0942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b183c9b3144a7" /><Relationship Type="http://schemas.openxmlformats.org/officeDocument/2006/relationships/notesSlide" Target="/ppt/notesSlides/notesSlide7.xml" Id="R00eb86c8ab754a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37911919f4135" /><Relationship Type="http://schemas.openxmlformats.org/officeDocument/2006/relationships/notesSlide" Target="/ppt/notesSlides/notesSlide8.xml" Id="R768af5a47f784b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b8c029b5e43a9" /><Relationship Type="http://schemas.openxmlformats.org/officeDocument/2006/relationships/notesSlide" Target="/ppt/notesSlides/notesSlide9.xml" Id="R43ce632f902340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93787a1c84f3f" /><Relationship Type="http://schemas.openxmlformats.org/officeDocument/2006/relationships/notesSlide" Target="/ppt/notesSlides/notesSlide10.xml" Id="Rba072c7244e440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62e2fec14459c" /><Relationship Type="http://schemas.openxmlformats.org/officeDocument/2006/relationships/notesSlide" Target="/ppt/notesSlides/notesSlide11.xml" Id="R0ec26ed3a8df461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6fd99ed9d4007" /><Relationship Type="http://schemas.openxmlformats.org/officeDocument/2006/relationships/notesSlide" Target="/ppt/notesSlides/notesSlide12.xml" Id="R5fe8af1e03b247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00c82816f438f" /><Relationship Type="http://schemas.openxmlformats.org/officeDocument/2006/relationships/notesSlide" Target="/ppt/notesSlides/notesSlide13.xml" Id="R7855efe285974c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2CC7F5-C27D-4C7D-AF0D-024BA1CB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2C29F-D6AB-436D-BE3E-6B8DF1F2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19200"/>
            <a:ext cx="8096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Fault-Tolerant Distributed Search Engine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F7DFF-E291-4F87-9494-82C3F219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D6B78"/>
                </a:solidFill>
              </a:defRPr>
            </a:pPr>
            <a:r>
              <a:rPr sz="1800" b="0">
                <a:solidFill>
                  <a:srgbClr val="5D6B78"/>
                </a:solidFill>
              </a:rPr>
              <a:t>Partitioned indexing and parallel query 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A4984-9DEE-4193-838A-EA8D4A05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7B"/>
                </a:solidFill>
              </a:defRPr>
            </a:pPr>
            <a:r>
              <a:rPr sz="1500" b="1">
                <a:solidFill>
                  <a:srgbClr val="0E7C7B"/>
                </a:solidFill>
              </a:rPr>
              <a:t>FA-1 Technical Presentation | Distributed Systems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36CEF-BA5D-4231-9DA5-D7CA9B74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7165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0951FD-F4E0-4103-913D-F38B4BB9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B84B37-73E2-4D41-9218-EF9297B9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A925A-43DC-4EFC-B8C1-D53CA10C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offline indexing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D6B07-8C94-4485-835E-05445506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EB167-3EF1-4C80-8DA4-C5474D66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online query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E47B3A-88FD-43AA-8A11-7FAA5412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C7E94A-577B-406D-A435-05387401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30389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93626E-8E2E-4FD5-B7CA-19F4BADF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Why search is a distributed-systems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1B9A4-3D57-4F33-83E3-395F6475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A centralized search system limits scalability and availability.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7EE80-966C-430E-BEC7-45337585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B4FCF-C486-44F4-8B06-F0FA86D3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4AE25-A3DE-469A-A2BC-C0F84DCF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5088E-65B0-45D9-8686-4EAFE27C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Centralized 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BCAEF7-6582-44CA-85E3-48C4D814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95600"/>
            <a:ext cx="2190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single index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single query processor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4CD80-42DD-433D-85FF-D24FD1BB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2667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bottleneck / single failure 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788FD-FC87-4D28-B45A-5D949A5E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Distributed 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0022F9-4CC3-4884-B471-C1880CEC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2415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EDB8C-8B39-4DC4-9412-AEBF5E72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64FB2-AE74-4CA1-B81F-702B5D0D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CCF1D-DDF1-4AF6-AB2A-15A8F86E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1719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5CB7E4-A85A-4804-B9D7-78ACFF44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00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Data is partitioned and query work is sent to multiple nodes in parallel.</a:t>
            </a:r>
          </a:p>
        </p:txBody>
      </p:sp>
    </p:spTree>
    <p:extLst>
      <p:ext uri="{BB962C8B-B14F-4D97-AF65-F5344CB8AC3E}">
        <p14:creationId xmlns:p14="http://schemas.microsoft.com/office/powerpoint/2010/main" val="269207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D52D4F-B94E-456A-8B95-7592DB4F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Architecture has an offline layer and an online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70721C-8AB7-4AF5-B2B8-9AA93CF2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offline layer prepares shard/index files; the online layer serves distributed queries using those files.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20ED7-A2C7-4B0C-9D3D-3146D3E2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1DE7E4-5D7E-4503-B7C6-DC37F445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E78B2-1DFC-4E70-9EC6-6469A3A5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6CB52-6AEC-46C1-9FDC-C16B3EB3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Crawl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EEC781-55FC-4075-8BEE-D52A090D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FD8E4-21EA-4166-9E48-4F719F88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673446-FC4A-4276-9C36-51F9BD69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3B7584-E27A-4A25-B1D0-42933C55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Shard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38DC49-8222-4BE4-ABCC-FF54426A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11C06-395D-4623-B552-B7B5A808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28AB65-03BC-400F-AA10-5C8E6CE9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FFE8D0-BC83-42C1-9D7F-3BF4CEDD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Search nodes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FEAF7B-DE9B-43D3-807C-1C463029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379152-A1DD-49D9-AD9B-24375162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6DB4C-0196-4F69-86B3-A481DB81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289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BD20E1-0C12-4BA2-BAA9-8F7431DF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064CD9-C639-4C7C-B8D2-120074FF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layer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9A4B3-E1D4-44D0-879E-206E9F03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Online layer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19B39-9211-406B-996E-3A32ED8E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9525">
            <a:solidFill>
              <a:srgbClr val="B8DE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D52859-0E40-4F15-9BF7-E29EAC81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Offline output: raw pages, documents.jsonl, shard files, index files, global statistics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69B918-28FE-44DC-99B0-C0DD6F48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BDD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C3DC7C-5693-4F02-B502-6BF0C14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Runtime output: user query, parallel node responses, merged ranked result list</a:t>
            </a:r>
          </a:p>
        </p:txBody>
      </p:sp>
    </p:spTree>
    <p:extLst>
      <p:ext uri="{BB962C8B-B14F-4D97-AF65-F5344CB8AC3E}">
        <p14:creationId xmlns:p14="http://schemas.microsoft.com/office/powerpoint/2010/main" val="19442977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3FB76A-B6B9-4C4D-A295-FF2CF89A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Implementation is divided into two connected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6EBED-2869-449D-865F-10650958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final system combines offline indexing with online distributed query processing.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093A6-AAC5-4608-B8E0-19C299D7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5AAFE-1845-4BC4-848D-4F482050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24A5C-3F80-4D4C-BA47-B2B45A49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989FA-D5CB-433F-8A4D-BBCF211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data/indexing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61E424-7432-4905-B2F0-97292309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7FA22-3167-4FC7-BC17-A04DBDF2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controlled crawling from allowed domains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B31BD6-6243-4050-A18C-B7E8F215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1DD84D-79B3-479A-86AC-1AC55B89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HTML parsing into document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A231D6-4CFC-414E-B24A-9BD5B586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BB91A5-7726-46E1-9F0E-E8BE6468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document partitioning into shards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83173-546A-4FAF-BB56-3528A5CE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F12C97-3848-41BF-A597-76AE2919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local inverted indexes with global stats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8367B-D09F-48F3-AD9E-D4DBF062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Online query/runtime 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CEE7D-555E-4962-B6A8-F1398230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5192E4-4835-4815-9448-18ABE9EB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gRPC search-node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6622B9-A662-49AA-9012-B96B7412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0AAF44-EF6E-432C-A662-1DC92DB5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coordinator fan-out and timeout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067CDB-6E32-4B5C-B93C-E13552AD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FEF39E-C523-4363-A2F9-874D7F33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score-based result aggregation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5EAC40-0CE7-4EB1-B222-6F0AF0BA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82914F-5BA3-455C-9291-F6E3B3AC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web/API result display with node status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D9D6BA-6F30-4688-A39A-F6254256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19700"/>
            <a:ext cx="628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632311-0FE0-4B9E-89EA-EB58BB6F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721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Common contract: node_id, shard path, index path, QueryRequest, SearchResult</a:t>
            </a:r>
          </a:p>
        </p:txBody>
      </p:sp>
    </p:spTree>
    <p:extLst>
      <p:ext uri="{BB962C8B-B14F-4D97-AF65-F5344CB8AC3E}">
        <p14:creationId xmlns:p14="http://schemas.microsoft.com/office/powerpoint/2010/main" val="2407899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595E1A-AE91-414B-85FC-8726992E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Offline pipeline builds the data and index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96BFF8-92A8-4C6B-8DC0-B052DBDB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FA-1 implementation prepares the files loaded by search nodes.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DD064-EF70-4298-81D6-FA37A221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0456E-5C60-488C-99F6-A47A82A2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10337-D78B-4B71-AA0F-407926AF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80A4F-07F8-464C-8A98-B9FBAE94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Crawler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B7C43-D59E-4B71-9338-1BA0CC64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Visits allowed domains, respects robots/limits, saves raw HTML offline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ACE96-C403-4C71-8905-B5C5F2D2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D822F8-C82A-44FF-8B4C-BC7B6FA0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19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Parser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BC57C-6658-433D-BAB3-B191707B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384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Extracts title, URL, source domain, visible text, and token count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0288A-161D-4ACD-97C9-15DA5C9D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147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40DDB7-7DF2-46F5-9C8A-7E43AACB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C5CE7"/>
                </a:solidFill>
              </a:defRPr>
            </a:pPr>
            <a:r>
              <a:rPr sz="1800" b="1">
                <a:solidFill>
                  <a:srgbClr val="6C5CE7"/>
                </a:solidFill>
              </a:rPr>
              <a:t>Partitioner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4DC723-7125-49EB-9FA3-172B53B9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576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Splits documents into node-owned shard files using range 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26F301-902C-46BB-96F1-7831AD5F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338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C1FCD6-334B-4470-BC21-9274C2A0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A93B"/>
                </a:solidFill>
              </a:defRPr>
            </a:pPr>
            <a:r>
              <a:rPr sz="1800" b="1">
                <a:solidFill>
                  <a:srgbClr val="F2A93B"/>
                </a:solidFill>
              </a:rPr>
              <a:t>Index builder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6A5CC-05C6-4CE6-B9E6-622FF435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767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Creates token postings, document metadata, and global IDF statistics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62CB2A-335C-484F-ADF3-737B605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42005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A4D9A5-E60F-4B94-A352-3DC425B7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Partitioned indexing makes each node independent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57897-704C-4DDE-809C-0530FD98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Each search node can load only its shard and its local index.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43280-573E-44F3-AD74-567619C4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4647C-0D15-4AF2-82D7-8FA9A11C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BBEFE-4733-4E93-B17A-555A4E95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AE5AF-75FE-4F4A-9359-46188F40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documents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23B2-201B-4ACD-9FB4-EA43E9CC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76550"/>
            <a:ext cx="419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3059D-29CC-4AB8-A742-8A244A70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288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40035-242A-4559-80E4-C94A9BA1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527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0F73F-0B5D-4DCD-AB99-59588B6C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766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32DA1-AC69-400C-B48F-C5081EA2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Range partitioning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8042F9-FEB4-4A33-A334-85C8FE9C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810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AB15F-A375-42C8-897D-D09AAC21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Local inverted index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AB626-8E9F-4C90-9254-ED1DC898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24200"/>
            <a:ext cx="295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term -&gt; [(doc_id, tf, positions)]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terms are matched locally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scores use global_stats.json</a:t>
            </a:r>
          </a:p>
        </p:txBody>
      </p:sp>
    </p:spTree>
    <p:extLst>
      <p:ext uri="{BB962C8B-B14F-4D97-AF65-F5344CB8AC3E}">
        <p14:creationId xmlns:p14="http://schemas.microsoft.com/office/powerpoint/2010/main" val="1978948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19196C-018B-4AC5-A26F-B8626B7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Distributed query runtime serves the prepared indexes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591695-C8EE-43C6-97DE-877F2E65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layer turns local shard indexes into one searchable service.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029CE-053C-40F6-9B1A-A52661CF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827DE-E7F2-431B-8F16-93938689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284D3A-94FD-4CF0-BE62-14D99CD1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86609-F2DE-481A-AC56-D0BC1F46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C9693-BCFC-41EA-87E6-38D8D4AC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764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267B1"/>
                </a:solidFill>
              </a:defRPr>
            </a:pPr>
            <a:r>
              <a:rPr sz="1650" b="1">
                <a:solidFill>
                  <a:srgbClr val="3267B1"/>
                </a:solidFill>
              </a:rPr>
              <a:t>Search node service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2EE14A-252C-424F-A237-B5D325B0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Loads one shard and local index; tokenizes query; returns local top-K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9FA25-ADEA-44CE-9870-3CBA9780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3F5857-36D5-40DC-A02A-94B238AD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Coordinator 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A1E13-7606-4A08-BF44-4C024622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Receives query; calls all nodes in parallel; handles timeout; merges results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9356E0-9722-49AD-B505-C11A0319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385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1868CE-55FC-4252-A9B7-2FFA9E44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90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7D32"/>
                </a:solidFill>
              </a:defRPr>
            </a:pPr>
            <a:r>
              <a:rPr sz="1650" b="1">
                <a:solidFill>
                  <a:srgbClr val="2E7D32"/>
                </a:solidFill>
              </a:rPr>
              <a:t>API / Web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8C3F3-6DAA-4098-9237-D69AA3E4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00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Accepts user input; displays ranked results, source URLs, scores, and node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448950-86B2-42A8-A43F-53DB74B7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958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88AD2-2654-43DA-8E7E-5CD13B34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48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C5CE7"/>
                </a:solidFill>
              </a:defRPr>
            </a:pPr>
            <a:r>
              <a:rPr sz="1650" b="1">
                <a:solidFill>
                  <a:srgbClr val="6C5CE7"/>
                </a:solidFill>
              </a:rPr>
              <a:t>Config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98736-CA47-425E-9311-2CF7DFFF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Stores node IDs, host addresses, ports, shard assignments, and timeouts</a:t>
            </a:r>
          </a:p>
        </p:txBody>
      </p:sp>
    </p:spTree>
    <p:extLst>
      <p:ext uri="{BB962C8B-B14F-4D97-AF65-F5344CB8AC3E}">
        <p14:creationId xmlns:p14="http://schemas.microsoft.com/office/powerpoint/2010/main" val="1034126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D42AC-83AD-4F44-B6ED-48DD79C2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gRPC defines the communication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E960D-70F3-48D4-A7EF-F02B1220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and search nodes communicate through request and response messages.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6040A5-08E4-4E0C-9FF0-0BAC4DD8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1AEC6-99CF-47B1-989D-685DCA36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B34BD-E94A-4ED6-A73A-6BE9D51A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8201D-6473-4169-B2AC-A0DBF66E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1E9BC-C999-4A67-8F38-1142F101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343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QueryRequest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4D63D-29C5-43D7-B934-B4ED92C7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query_text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top_k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request_id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timeout_ms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6E3E1-0193-40E0-9A85-14CD312A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E99C49-796B-4D44-9DC9-D212C1F7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SearchResponse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892C2C-037A-4ADA-9C40-ADFFAC46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node_id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results[]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latency_ms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BCE7E-E6CA-4AF0-9326-E330B778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05200"/>
            <a:ext cx="7429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19088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6A40FA-5A88-4F1A-B70A-C7C5EEEA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Coordinator controls fan-out, timeout, and merge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1A095C-C9F8-4EA8-A254-776321F2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is the central runtime component in the online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B4465-2871-4AF7-B25C-DD08BC1E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5C984-A8D1-47FF-9D52-B404B57B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92B73-432A-4AE5-AF39-02062357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32264-3AE4-4CA4-BBE8-A4C766EC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23298-CB34-4B89-83C1-FBAD5EDC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24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receive query and top-K limit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85FC22-53F7-458C-9AF0-7A17021F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936E23-EC82-42D7-A23E-570512B1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67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send QueryRequest to all nodes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DBDA4-A07A-488C-98C8-234A5A70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D8F12A-F534-46E2-98E5-C7D0ECC9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09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wait with per-node timeout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121312-1ED0-4C9A-9830-22F6F784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110AE-BD60-4515-9681-591D2A61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529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merge local top-K results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058C2-E214-41AD-8197-978D6F06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8E583E-1C6D-4661-9031-F01EEA1C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return ranked response with node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D2A8B1-0647-436D-A989-5496AECF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314325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68638-4E73-4119-AA81-0533CB3F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05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Merge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8B6E27-4154-480D-AF8A-EAC197FB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62300"/>
            <a:ext cx="2381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combine node results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sort by score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remove duplicate URLs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apply top-K cut-off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node status</a:t>
            </a:r>
          </a:p>
        </p:txBody>
      </p:sp>
    </p:spTree>
    <p:extLst>
      <p:ext uri="{BB962C8B-B14F-4D97-AF65-F5344CB8AC3E}">
        <p14:creationId xmlns:p14="http://schemas.microsoft.com/office/powerpoint/2010/main" val="7184211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2337BB-AEA3-4AB2-8793-56CA9F3D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Each search node performs local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9ABC0-342F-42CF-BDD8-E8EB0800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Nodes do not need the full corpus; they search only their own partition.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AE9E3-3A24-44B3-98F9-40943C83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B719A-40AA-4F76-AFAF-769B61D7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F9417-E481-46BD-9A8E-8AA3777B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575B6B-0202-43F6-A901-22DC9F0B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Node startup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E5BBD-4554-4482-A872-227B6F3B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B993BC-AB5A-4D63-BD54-97A1AF80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assigned shard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0F5DE-AF1F-43E1-9F49-E0120B99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D8F18-348C-4238-B406-5AB9BE63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local inverted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661C4-B57C-4C68-854C-E9E616A9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BBF53-4360-44EB-A6C3-74373681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register node_id and address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8DFA06-C0C0-49DA-95EF-2643E134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Query handling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6F05A4-3225-475B-8216-6805D27D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F3106E-3B7D-4487-8995-CE68588B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tokenize incoming 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CE5306-19A2-455C-B254-98667A0B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BA7277-AEF5-416F-9992-7A30B048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lookup postings in local index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91370E-4AD2-4475-A8DB-288794E6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44367A-1060-43B8-A833-0A534756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local top-K results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36325-22F4-4E9F-A54C-0EDFF885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53000"/>
            <a:ext cx="6896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0255A0-2B7F-4035-8027-0F80580D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62550"/>
            <a:ext cx="6134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This design supports scalability because adding a node means assigning another partition.</a:t>
            </a:r>
          </a:p>
        </p:txBody>
      </p:sp>
    </p:spTree>
    <p:extLst>
      <p:ext uri="{BB962C8B-B14F-4D97-AF65-F5344CB8AC3E}">
        <p14:creationId xmlns:p14="http://schemas.microsoft.com/office/powerpoint/2010/main" val="19750418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730AD9-0781-4197-8A81-DBBAE147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UI and fault handling make the system demonstrable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39BD2-CF05-4AA2-A9DF-1A04417A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faculty demo should show normal results and unavailable-node behavior.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D90F7-AD61-444C-B6A8-CC1920D9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096F7A-C143-4AF7-B5AB-5F4DD217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C509D-79DA-4EAF-A6EC-A31E4330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B90FA-E307-49BE-94E6-1598D571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D32"/>
                </a:solidFill>
              </a:defRPr>
            </a:pPr>
            <a:r>
              <a:rPr sz="1800" b="1">
                <a:solidFill>
                  <a:srgbClr val="2E7D32"/>
                </a:solidFill>
              </a:rPr>
              <a:t>Web/API display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F16B7D-33B3-4BD6-88B3-A2B14CBA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72E7C9-25BF-4CEA-8975-D7D5E642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705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input box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1E48D-4770-41BF-B987-1C75BCDF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8FE91-AC3A-4006-BAA0-829BDD82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575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ranked result 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F99BE-210C-47AC-8D4F-9401D4A2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C2195-3D0F-4D31-B18B-B2ABE58D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10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source URL and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EC311F-F637-4DB8-974E-68566D3F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9033CE-C7DA-42BF-B586-2313E6C8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status/latency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9A3ABD-59BF-4D4B-90CE-CD9A2308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2413A"/>
                </a:solidFill>
              </a:defRPr>
            </a:pPr>
            <a:r>
              <a:rPr sz="1800" b="1">
                <a:solidFill>
                  <a:srgbClr val="C2413A"/>
                </a:solidFill>
              </a:rPr>
              <a:t>Failure behavior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8BD305-9C2B-4D25-95CD-79E8CF36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FA854-C594-4CC3-90ED-955D5EF4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05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set deadline per node 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DAF404-9732-4D1C-B73A-8AC5D1FB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E731B3-6A17-4EAF-AFFA-F8F418C8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skip failed node response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173738-3240-4BE0-B91A-16CFB902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1044D9-42EC-4D42-97CC-2569B79F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100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partial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C242C3-B824-4A60-8676-0D80F712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A15C58-69C7-4216-AAEA-FBE4BFC4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624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which node failed</a:t>
            </a:r>
          </a:p>
        </p:txBody>
      </p:sp>
    </p:spTree>
    <p:extLst>
      <p:ext uri="{BB962C8B-B14F-4D97-AF65-F5344CB8AC3E}">
        <p14:creationId xmlns:p14="http://schemas.microsoft.com/office/powerpoint/2010/main" val="12557809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9A01B1-7A97-47C2-96DD-5BF6CD1D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FA-1 concepts are visible in both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5DB79-E07B-466D-9F81-4AD8B6A6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project maps to Unit 1 and Unit 2 through concrete implementation choices.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C6A1CB-EF67-4225-9771-57DEFADC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9F73C-7DCC-4FFD-875A-44D9E54F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9AE8A-8396-4A1D-8C26-08C3C2CB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F3AC9-BEA0-4D55-A479-D624045E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Unit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4A1B7-7B01-4016-8A81-84884A08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4098C8-6CFA-4B34-BFBA-AA143AA4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241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architecture: coordinator + search nodes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93686-34D8-492E-BCE3-E42FCECB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C570D-8282-4CCD-B189-24E4A4B7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76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design issue: partitioning + ranking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925878-593D-45A1-BC34-6DD63DBA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35577-E4E9-48E6-9F87-184413EA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29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scalability through sharding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30E6F2-1C4B-414B-822D-BF091B8C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2E3C38-59F2-4894-B7D1-AFF48899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815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middleware boundary between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AC6DA-4C66-499B-8225-D9AC228E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Unit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3CC5DA-BC97-44D9-BAEB-9AEE07FD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488B25-E2B9-4B78-8B65-06722B10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24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RPC using gRPC service calls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94ED87-454A-4003-80C1-A866C3F0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57C27A-48A0-4E3A-A5D6-F56EC7FD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request/response message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EEE7B0-C471-414D-9C78-9976657A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AE344B-EBA9-4D03-945A-9C79CB4D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29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identifiers and addresses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D8FF2F-0F4A-4FC3-B194-7BC63CD7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CE7016-18CF-45B6-801E-4C0D79C4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81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timeouts for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19493986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5FB8D-A61F-43DD-A5CC-3B33D77F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Evaluation demo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2815E-BF91-41EE-8342-861914D8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demo should prove that the offline and online layers connect into one system.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7ABC2-452E-429F-9741-634BA64C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F47AD-92FF-4FA3-B60C-B04A6299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706DD-B076-41CF-A9A1-929A48F4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AFF73-02E0-4D57-B4F5-7BFC3178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97F587-3535-4842-A366-018E5BB9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66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Run offline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B0D61A-C30F-4736-BDFE-249EE522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05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generate documents, shards, indexes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4AB07E-D2B3-4EC4-8217-ECE43AE5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4637C-B0B8-477D-B47C-7DEE8B33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search-node services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998550-C685-437E-AEFE-4337ED2D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4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each node loads one shard and index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E16D2-006C-4C3D-B402-1F9D89F7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B130DC-535F-4605-8E44-592A1FCB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52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coordinator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02810-A0C5-4CA2-8AF9-1A5EC152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90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register node addresses and send fan-out 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EE28F4-1F94-49D8-AC83-85FDE910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A8D361-67F7-4BF6-BB28-C1610637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95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Search from UI/API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89B68-642E-4A63-BED9-477F0128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3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display merged ranked results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6367F6-221B-4737-9E89-61390D27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CD56A0-54AB-4E6C-A107-D9B29F56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38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Stop one node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CB906-A609-42B6-8DD2-D8B0D2FC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76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show timeout and partial result behavior</a:t>
            </a:r>
          </a:p>
        </p:txBody>
      </p:sp>
    </p:spTree>
    <p:extLst>
      <p:ext uri="{BB962C8B-B14F-4D97-AF65-F5344CB8AC3E}">
        <p14:creationId xmlns:p14="http://schemas.microsoft.com/office/powerpoint/2010/main" val="9722905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2026-09-02T16:36:31.7140000Z</dcterms:created>
  <dcterms:modified xsi:type="dcterms:W3CDTF">2026-09-02T16:36:31.7140000Z</dcterms:modified>
</coreProperties>
</file>