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d9ebb3a3eb420c" /><Relationship Type="http://schemas.openxmlformats.org/officeDocument/2006/relationships/extended-properties" Target="/docProps/app.xml" Id="R4945e372bf3b4796" /><Relationship Type="http://schemas.openxmlformats.org/officeDocument/2006/relationships/officeDocument" Target="/ppt/presentation.xml" Id="R6df4dd764e104f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44dfc979ae41fd"/>
  </p:sldMasterIdLst>
  <p:notesMasterIdLst>
    <p:notesMasterId xmlns:r="http://schemas.openxmlformats.org/officeDocument/2006/relationships" r:id="R16ace1bccf9641c4"/>
  </p:notesMasterIdLst>
  <p:sldIdLst>
    <p:sldId xmlns:r="http://schemas.openxmlformats.org/officeDocument/2006/relationships" id="256" r:id="R22f74b0ab1524ea1"/>
    <p:sldId xmlns:r="http://schemas.openxmlformats.org/officeDocument/2006/relationships" id="257" r:id="Rfc4a9536a42947ce"/>
    <p:sldId xmlns:r="http://schemas.openxmlformats.org/officeDocument/2006/relationships" id="258" r:id="R3a9a30c3ac6f4c23"/>
    <p:sldId xmlns:r="http://schemas.openxmlformats.org/officeDocument/2006/relationships" id="259" r:id="Re1fd5a8fe5684beb"/>
    <p:sldId xmlns:r="http://schemas.openxmlformats.org/officeDocument/2006/relationships" id="260" r:id="Rfed89f7648354f63"/>
    <p:sldId xmlns:r="http://schemas.openxmlformats.org/officeDocument/2006/relationships" id="261" r:id="R93d5bee73323472e"/>
    <p:sldId xmlns:r="http://schemas.openxmlformats.org/officeDocument/2006/relationships" id="262" r:id="R72f7083e7ce5425b"/>
    <p:sldId xmlns:r="http://schemas.openxmlformats.org/officeDocument/2006/relationships" id="263" r:id="R2bfb171a81ac458b"/>
    <p:sldId xmlns:r="http://schemas.openxmlformats.org/officeDocument/2006/relationships" id="264" r:id="R5793f3dc381e4342"/>
    <p:sldId xmlns:r="http://schemas.openxmlformats.org/officeDocument/2006/relationships" id="265" r:id="R5df32d202345477c"/>
    <p:sldId xmlns:r="http://schemas.openxmlformats.org/officeDocument/2006/relationships" id="266" r:id="R3b0af33477744b72"/>
    <p:sldId xmlns:r="http://schemas.openxmlformats.org/officeDocument/2006/relationships" id="267" r:id="Rc50551c92dee4507"/>
    <p:sldId xmlns:r="http://schemas.openxmlformats.org/officeDocument/2006/relationships" id="268" r:id="R5bdd4358c17d40b1"/>
    <p:sldId xmlns:r="http://schemas.openxmlformats.org/officeDocument/2006/relationships" id="269" r:id="R32a4d255ebd648fb"/>
    <p:sldId xmlns:r="http://schemas.openxmlformats.org/officeDocument/2006/relationships" id="270" r:id="Rf161e512dd614e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e5ddb3dc984a62" /><Relationship Type="http://schemas.openxmlformats.org/officeDocument/2006/relationships/slideMaster" Target="/ppt/slideMasters/slideMaster1.xml" Id="R5a44dfc979ae41fd" /><Relationship Type="http://schemas.openxmlformats.org/officeDocument/2006/relationships/notesMaster" Target="/ppt/notesMasters/notesMaster1.xml" Id="R16ace1bccf9641c4" /><Relationship Type="http://schemas.openxmlformats.org/officeDocument/2006/relationships/presProps" Target="/ppt/presProps.xml" Id="R28cd2de316ba4b07" /><Relationship Type="http://schemas.openxmlformats.org/officeDocument/2006/relationships/tableStyles" Target="/ppt/tableStyles.xml" Id="R48d158e2085b46bc" /><Relationship Type="http://schemas.openxmlformats.org/officeDocument/2006/relationships/slide" Target="/ppt/slides/slide1.xml" Id="R22f74b0ab1524ea1" /><Relationship Type="http://schemas.openxmlformats.org/officeDocument/2006/relationships/slide" Target="/ppt/slides/slide2.xml" Id="Rfc4a9536a42947ce" /><Relationship Type="http://schemas.openxmlformats.org/officeDocument/2006/relationships/slide" Target="/ppt/slides/slide3.xml" Id="R3a9a30c3ac6f4c23" /><Relationship Type="http://schemas.openxmlformats.org/officeDocument/2006/relationships/slide" Target="/ppt/slides/slide4.xml" Id="Re1fd5a8fe5684beb" /><Relationship Type="http://schemas.openxmlformats.org/officeDocument/2006/relationships/slide" Target="/ppt/slides/slide5.xml" Id="Rfed89f7648354f63" /><Relationship Type="http://schemas.openxmlformats.org/officeDocument/2006/relationships/slide" Target="/ppt/slides/slide6.xml" Id="R93d5bee73323472e" /><Relationship Type="http://schemas.openxmlformats.org/officeDocument/2006/relationships/slide" Target="/ppt/slides/slide7.xml" Id="R72f7083e7ce5425b" /><Relationship Type="http://schemas.openxmlformats.org/officeDocument/2006/relationships/slide" Target="/ppt/slides/slide8.xml" Id="R2bfb171a81ac458b" /><Relationship Type="http://schemas.openxmlformats.org/officeDocument/2006/relationships/slide" Target="/ppt/slides/slide9.xml" Id="R5793f3dc381e4342" /><Relationship Type="http://schemas.openxmlformats.org/officeDocument/2006/relationships/slide" Target="/ppt/slides/slide10.xml" Id="R5df32d202345477c" /><Relationship Type="http://schemas.openxmlformats.org/officeDocument/2006/relationships/slide" Target="/ppt/slides/slide11.xml" Id="R3b0af33477744b72" /><Relationship Type="http://schemas.openxmlformats.org/officeDocument/2006/relationships/slide" Target="/ppt/slides/slide12.xml" Id="Rc50551c92dee4507" /><Relationship Type="http://schemas.openxmlformats.org/officeDocument/2006/relationships/slide" Target="/ppt/slides/slide13.xml" Id="R5bdd4358c17d40b1" /><Relationship Type="http://schemas.openxmlformats.org/officeDocument/2006/relationships/slide" Target="/ppt/slides/slide14.xml" Id="R32a4d255ebd648fb" /><Relationship Type="http://schemas.openxmlformats.org/officeDocument/2006/relationships/slide" Target="/ppt/slides/slide15.xml" Id="Rf161e512dd614e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8bad9aba8a4c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56ebbc69164351" /><Relationship Type="http://schemas.openxmlformats.org/officeDocument/2006/relationships/notesMaster" Target="/ppt/notesMasters/notesMaster1.xml" Id="R543ca32c53db4f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0f2ac212a2447a" /><Relationship Type="http://schemas.openxmlformats.org/officeDocument/2006/relationships/notesMaster" Target="/ppt/notesMasters/notesMaster1.xml" Id="R34296fab330545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ee800e71054b0c" /><Relationship Type="http://schemas.openxmlformats.org/officeDocument/2006/relationships/notesMaster" Target="/ppt/notesMasters/notesMaster1.xml" Id="R7f068569118340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6c56bb0a284443" /><Relationship Type="http://schemas.openxmlformats.org/officeDocument/2006/relationships/notesMaster" Target="/ppt/notesMasters/notesMaster1.xml" Id="Rd52521ed12b743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e8032ca47f473d" /><Relationship Type="http://schemas.openxmlformats.org/officeDocument/2006/relationships/notesMaster" Target="/ppt/notesMasters/notesMaster1.xml" Id="R6b760cc7ab5b43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9106a88d9d46d6" /><Relationship Type="http://schemas.openxmlformats.org/officeDocument/2006/relationships/notesMaster" Target="/ppt/notesMasters/notesMaster1.xml" Id="R4687f33d53be4a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973df5f0fe4ee1" /><Relationship Type="http://schemas.openxmlformats.org/officeDocument/2006/relationships/notesMaster" Target="/ppt/notesMasters/notesMaster1.xml" Id="R8ab5d7a268dd4b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3a14093dfd464d" /><Relationship Type="http://schemas.openxmlformats.org/officeDocument/2006/relationships/notesMaster" Target="/ppt/notesMasters/notesMaster1.xml" Id="R3957f8ba4fb545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e8ea071f574416" /><Relationship Type="http://schemas.openxmlformats.org/officeDocument/2006/relationships/notesMaster" Target="/ppt/notesMasters/notesMaster1.xml" Id="R1f515c6b63fb43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85ad9766df4d4a" /><Relationship Type="http://schemas.openxmlformats.org/officeDocument/2006/relationships/notesMaster" Target="/ppt/notesMasters/notesMaster1.xml" Id="R8022034e598c49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c26139191b4da2" /><Relationship Type="http://schemas.openxmlformats.org/officeDocument/2006/relationships/notesMaster" Target="/ppt/notesMasters/notesMaster1.xml" Id="R06a54344056d48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2956fcf5a94e54" /><Relationship Type="http://schemas.openxmlformats.org/officeDocument/2006/relationships/notesMaster" Target="/ppt/notesMasters/notesMaster1.xml" Id="R80d894989d5748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8923affb0343e5" /><Relationship Type="http://schemas.openxmlformats.org/officeDocument/2006/relationships/notesMaster" Target="/ppt/notesMasters/notesMaster1.xml" Id="Rdc2803696a7e45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2df9a0d172481e" /><Relationship Type="http://schemas.openxmlformats.org/officeDocument/2006/relationships/notesMaster" Target="/ppt/notesMasters/notesMaster1.xml" Id="R1821e77a700a48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f96112b2c04e4a" /><Relationship Type="http://schemas.openxmlformats.org/officeDocument/2006/relationships/notesMaster" Target="/ppt/notesMasters/notesMaster1.xml" Id="R2df354ec9a7d4b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stating that the presentation covers the complete distributed search engine, from offline data preparation to online query processing.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project motivation using distributed-systems terms: scalability, parallel processing, and fault tolerance.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linked-system overview. The deck should not look like separate files; it should show a continuous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this as a codebase decomposition. The important point is that the online runtime depends on the offline artifact contract, not on rerunning a separate crawl.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this as the offline indexing layer. Mention that generated artifacts are stored and can be inspected before the runtime starts.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independent shards are important for search-node processes. Each node can load one partition instead of the full corpus.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 small code-level view without overwhelming the presentation. The snippet is simplified from app.py and the generated index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concrete project evidence. The stats and search output were captured from the current local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the online runtime components: search-node services, coordinator, interface, and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 this to Unit 2 RPC and message-oriented communication: the proto schema becomes the formal interface between processes.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coordinator algorithm in viva terms. This is the part where parallel query processing is managed.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 search-node responsibility and scalability. The node has local state and a small RPC interface.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the user-facing and fault-tolerant pieces of the online layer. It links to Unit 2 fault-tolerance self-study.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direct mapping to the FA-1 syllabus expected by faculty.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exact demonstration plan. It shows two separate repositories connected by copied/generated artifacts and then demonstrates degraded-mode query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D:/Engg/diss/distributed_search_engine_project_context.md</a:t>
            </a:r>
          </a:p>
          <a:p xmlns:a="http://schemas.openxmlformats.org/drawingml/2006/main">
            <a:r>
              <a:t>D:/Engg/diss/distributed-search-engine/README.md</a:t>
            </a:r>
          </a:p>
          <a:p xmlns:a="http://schemas.openxmlformats.org/drawingml/2006/main">
            <a:r>
              <a:t>D:/Engg/diss/distributed-search-engine/app.py</a:t>
            </a:r>
          </a:p>
          <a:p xmlns:a="http://schemas.openxmlformats.org/drawingml/2006/main">
            <a:r>
              <a:t>D:/Engg/diss/distributed-search-engine/crawler/crawler.py</a:t>
            </a:r>
          </a:p>
          <a:p xmlns:a="http://schemas.openxmlformats.org/drawingml/2006/main">
            <a:r>
              <a:t>D:/Engg/diss/distributed-search-engine/parser/html_parser.py</a:t>
            </a:r>
          </a:p>
          <a:p xmlns:a="http://schemas.openxmlformats.org/drawingml/2006/main">
            <a:r>
              <a:t>D:/Engg/diss/distributed-search-engine/indexing/partitioner.py</a:t>
            </a:r>
          </a:p>
          <a:p xmlns:a="http://schemas.openxmlformats.org/drawingml/2006/main">
            <a:r>
              <a:t>D:/Engg/diss/distributed-search-engine/indexing/index_builder.py</a:t>
            </a:r>
          </a:p>
          <a:p xmlns:a="http://schemas.openxmlformats.org/drawingml/2006/main">
            <a:r>
              <a:t>Verified local command: python app.py stats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c1ad554d6c4e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dabc38817d4aff" /><Relationship Type="http://schemas.openxmlformats.org/officeDocument/2006/relationships/slideLayout" Target="/ppt/slideLayouts/slideLayout1.xml" Id="R2af3d444e98e4b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f3d444e98e4b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b0e9aa59f4669" /><Relationship Type="http://schemas.openxmlformats.org/officeDocument/2006/relationships/notesSlide" Target="/ppt/notesSlides/notesSlide1.xml" Id="R7944b150055446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30e09c040479a" /><Relationship Type="http://schemas.openxmlformats.org/officeDocument/2006/relationships/notesSlide" Target="/ppt/notesSlides/notesSlide2.xml" Id="R6004be1f57054f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ec8e5a90746df" /><Relationship Type="http://schemas.openxmlformats.org/officeDocument/2006/relationships/notesSlide" Target="/ppt/notesSlides/notesSlide3.xml" Id="R5d6c6d99b1ba44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8f34e7e0243a9" /><Relationship Type="http://schemas.openxmlformats.org/officeDocument/2006/relationships/notesSlide" Target="/ppt/notesSlides/notesSlide4.xml" Id="R6fb085c8103743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5a36c36dc4ab1" /><Relationship Type="http://schemas.openxmlformats.org/officeDocument/2006/relationships/notesSlide" Target="/ppt/notesSlides/notesSlide5.xml" Id="R4081629e302140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4a69c04c74210" /><Relationship Type="http://schemas.openxmlformats.org/officeDocument/2006/relationships/notesSlide" Target="/ppt/notesSlides/notesSlide6.xml" Id="Rd293c7137d824b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c3050b099495e" /><Relationship Type="http://schemas.openxmlformats.org/officeDocument/2006/relationships/notesSlide" Target="/ppt/notesSlides/notesSlide7.xml" Id="R32254951581246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8200e69a14993" /><Relationship Type="http://schemas.openxmlformats.org/officeDocument/2006/relationships/notesSlide" Target="/ppt/notesSlides/notesSlide8.xml" Id="R7eb6641cbb4345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79fbf13064137" /><Relationship Type="http://schemas.openxmlformats.org/officeDocument/2006/relationships/notesSlide" Target="/ppt/notesSlides/notesSlide9.xml" Id="Rd4ee2517aa1840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11825b5a5485f" /><Relationship Type="http://schemas.openxmlformats.org/officeDocument/2006/relationships/notesSlide" Target="/ppt/notesSlides/notesSlide10.xml" Id="R638781955b9e4c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a62d138b74f1f" /><Relationship Type="http://schemas.openxmlformats.org/officeDocument/2006/relationships/notesSlide" Target="/ppt/notesSlides/notesSlide11.xml" Id="R3b1a2ab1871048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2bc77be7d4af7" /><Relationship Type="http://schemas.openxmlformats.org/officeDocument/2006/relationships/notesSlide" Target="/ppt/notesSlides/notesSlide12.xml" Id="R381240bc35e645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b75c452a047dd" /><Relationship Type="http://schemas.openxmlformats.org/officeDocument/2006/relationships/notesSlide" Target="/ppt/notesSlides/notesSlide13.xml" Id="R7d3371e2d7d14d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51d7d0094427d" /><Relationship Type="http://schemas.openxmlformats.org/officeDocument/2006/relationships/notesSlide" Target="/ppt/notesSlides/notesSlide14.xml" Id="Rd31d778f8cb341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3b641e80744b9" /><Relationship Type="http://schemas.openxmlformats.org/officeDocument/2006/relationships/notesSlide" Target="/ppt/notesSlides/notesSlide15.xml" Id="Ref07740ead8445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24857-5880-4E30-B787-E28EDD6E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F512B-9518-4383-A3EE-7E53228F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19200"/>
            <a:ext cx="8096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Fault-Tolerant Distributed Search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D29E1-79FA-4B80-88D0-299DEA67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8"/>
                </a:solidFill>
              </a:defRPr>
            </a:pPr>
            <a:r>
              <a:rPr sz="1800" b="0">
                <a:solidFill>
                  <a:srgbClr val="5D6B78"/>
                </a:solidFill>
              </a:rPr>
              <a:t>Partitioned indexing and parallel query processing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3281F-F21F-41C2-BAA9-94FCD70C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7C7B"/>
                </a:solidFill>
              </a:defRPr>
            </a:pPr>
            <a:r>
              <a:rPr sz="1500" b="1">
                <a:solidFill>
                  <a:srgbClr val="0E7C7B"/>
                </a:solidFill>
              </a:rPr>
              <a:t>FA-1 Technical Presentation | Distributed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BD6FF-C419-4CC4-9BDB-3340CFD2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Presented 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18A63-CEDD-4000-9CE5-5337D8E9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0"/>
            <a:ext cx="3676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123B1B024  Atharv Rao</a:t>
            </a:r>
          </a:p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123B1B040  Parth Darandale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C46E8-B30A-4905-86FA-AAFDC185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Distributed Search Engine | FA-1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61BDC-AC5D-4B66-9718-C469470C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8"/>
                </a:solidFill>
              </a:defRPr>
            </a:pPr>
            <a:r>
              <a:rPr sz="1050" b="1">
                <a:solidFill>
                  <a:srgbClr val="5D6B7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47299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B2C549-A467-43A2-A3DA-EF94C337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Why search is a distributed-systems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C7B63-EFBE-49AD-9F11-A75E04F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A centralized search system limits scalability and availability.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55A52-E0B1-453C-96A6-64FE94F6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33145-A0B6-4294-9BA4-8C97DDDD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44CC8-57BF-4656-8EDA-19A554D9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8"/>
                </a:solidFill>
              </a:defRPr>
            </a:pPr>
            <a:r>
              <a:rPr sz="1050" b="1">
                <a:solidFill>
                  <a:srgbClr val="5D6B7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A1B3B-DF10-4798-9EA8-22E3FE64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Centralized 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F567F-C13E-4F35-B187-C2C63890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5D6B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all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9728C-9267-4C66-BA0F-6B77D93C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05125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43A11-2D67-4679-A82E-57D60CAF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289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single index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single query processor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CC87B-93DF-49B6-9199-74CA4D7B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4340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bottleneck / single failure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87FCD-4A01-477F-B140-AD075275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05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one machine handles indexing and queries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7216B-4221-4F6C-95BB-1A5EE70F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Distributed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85229-565D-4D89-B69A-4C006AE7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194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Coordinator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E3484-3064-41AF-B50C-FB9D4AAF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718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fan-out query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24158-4050-4EB0-A6F4-328D1A75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52800"/>
            <a:ext cx="628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2D390-170F-4373-A37D-7FF081FF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28900"/>
            <a:ext cx="1314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Node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61AB3-DE7B-4BAE-A807-97D0590E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71850"/>
            <a:ext cx="1314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Node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10C39-1EC7-450F-8CD0-611306B5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14800"/>
            <a:ext cx="1314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Node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6B9EE-D7AA-437B-9382-A8549CB8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38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parallel local 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DBC60-12D3-471E-9562-E4800BF8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578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Data is partitioned and query work is sent to multiple nodes in parallel.</a:t>
            </a:r>
          </a:p>
        </p:txBody>
      </p:sp>
    </p:spTree>
    <p:extLst>
      <p:ext uri="{BB962C8B-B14F-4D97-AF65-F5344CB8AC3E}">
        <p14:creationId xmlns:p14="http://schemas.microsoft.com/office/powerpoint/2010/main" val="926848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2E9421-93D1-424C-BFB0-46F41063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Architecture has an offline layer and an online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39EDC-EE6A-4870-B117-0B99F548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The offline layer prepares shard/index files; the online layer serves distributed queries using those files.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52995-B841-4D74-AB50-0A26E49F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FDA5A-446B-4F82-A427-CFD484F5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35674-E19A-491A-B7A4-7E9347A5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8"/>
                </a:solidFill>
              </a:defRPr>
            </a:pPr>
            <a:r>
              <a:rPr sz="1050" b="1">
                <a:solidFill>
                  <a:srgbClr val="5D6B78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74804-3043-4DE8-82DF-36AEC073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Crawl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7D319-67F4-4735-86B5-49A793B1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0990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2E6CF-C49E-40F1-A282-42486847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5750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Parse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E5C83-75EA-4FD0-B685-29BF1B07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0990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0DD24-31BE-4CD2-9CB0-4C8590F0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Shard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B3FAB-3204-4237-BDA5-16819F22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990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42765-9724-47DB-A3CE-9E742067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5750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A5E23-7F92-4CB2-8C1C-692C803F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990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C260A-82A4-4848-A227-262B532B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5750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Search nodes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C3553-4BEF-4ACB-A3B7-2575ED9A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990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BE5AF-624E-4CA8-AF72-F7D42461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5750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Coordinator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4FFD7-E5BD-4DED-8F25-48E12133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0990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3090A1-46AD-47AE-8CC6-429850E3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Web 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8CBC2-EE8F-43A0-BD6C-3FA647CA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E7C7B"/>
                </a:solidFill>
              </a:defRPr>
            </a:pPr>
            <a:r>
              <a:rPr sz="1875" b="1">
                <a:solidFill>
                  <a:srgbClr val="0E7C7B"/>
                </a:solidFill>
              </a:rPr>
              <a:t>Offline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AF39D-AF71-441F-8963-1B24E89F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267B1"/>
                </a:solidFill>
              </a:defRPr>
            </a:pPr>
            <a:r>
              <a:rPr sz="1875" b="1">
                <a:solidFill>
                  <a:srgbClr val="3267B1"/>
                </a:solidFill>
              </a:rPr>
              <a:t>Online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DB7B5-6831-417A-8AD0-EDDF4BD7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5F4"/>
          </a:solidFill>
          <a:ln xmlns:a="http://schemas.openxmlformats.org/drawingml/2006/main" w="9525">
            <a:solidFill>
              <a:srgbClr val="B8DE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A54878-4A2E-4891-B076-173259C1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415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Offline output: raw pages, documents.jsonl, shard files, index files, global statistics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B18119-104A-4FE2-A0F3-A6550406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BDD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C763EC-7C0C-4E08-9BD5-BE272530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00550"/>
            <a:ext cx="415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Runtime output: user query, parallel node responses, merged ranked result list</a:t>
            </a:r>
          </a:p>
        </p:txBody>
      </p:sp>
    </p:spTree>
    <p:extLst>
      <p:ext uri="{BB962C8B-B14F-4D97-AF65-F5344CB8AC3E}">
        <p14:creationId xmlns:p14="http://schemas.microsoft.com/office/powerpoint/2010/main" val="363844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055B9E-8705-4F1A-9613-061B62C5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Implementation is split across two connected repositories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0F14F-FD73-4DC5-B768-D9C2A73A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The offline repository prepares data artifacts; the runtime repository consumes them through a fixed contract.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DB6C0-649C-46B0-824B-967246E3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6019F-1D2D-4514-BD04-1C5A76F2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F420A-D2B3-4B5B-A2E8-FC7AD2EA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8"/>
                </a:solidFill>
              </a:defRPr>
            </a:pPr>
            <a:r>
              <a:rPr sz="1050" b="1">
                <a:solidFill>
                  <a:srgbClr val="5D6B78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06341-47B9-41F4-8F50-686C1C10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57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C7B"/>
                </a:solidFill>
              </a:defRPr>
            </a:pPr>
            <a:r>
              <a:rPr sz="1875" b="1">
                <a:solidFill>
                  <a:srgbClr val="0E7C7B"/>
                </a:solidFill>
              </a:rPr>
              <a:t>Offline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5280A-DEDC-42B1-BF35-B90AEA7F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71778-96FD-4E80-A175-06C8B14A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controlled crawling from allowed domains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B55CA-D51A-4701-89CE-6747ABE1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0B4E2-5961-4917-80FC-251596A4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HTML parsing into documents.jsonl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73558-DD1C-42D6-B675-D17A7B74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4F435-2B3D-44AF-8C19-702BBDBB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29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partitioned shard files for 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CDF3B-5C4B-4520-AD37-0AE5A785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97067-DEE0-4F33-8169-BDC4D082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node index folders plus global_stats.json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E9924-5BBB-4D28-BB51-11349D3D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57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267B1"/>
                </a:solidFill>
              </a:defRPr>
            </a:pPr>
            <a:r>
              <a:rPr sz="1875" b="1">
                <a:solidFill>
                  <a:srgbClr val="3267B1"/>
                </a:solidFill>
              </a:rPr>
              <a:t>Runtime repository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13809-48DB-4618-9606-92317157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B06CA-4547-40D7-A192-656386C4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24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gRPC search-node 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4EE56-9A62-4BF2-8DF7-AE297BAA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51BD8-4BA0-4103-A41D-C009B160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76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coordinator fan-out and timeout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46B67-52BB-4D4C-B75C-5D6AA448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2F77FE-29E7-4FBF-B80A-89E01042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29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score-based result aggregation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9F29B4-3F5C-4C9E-AFE4-767446DA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F70FEE-5CF9-4DC3-8A64-EED50A3D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81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web/API result display with node 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954792-2730-4DB8-BB63-9A1F34C0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19700"/>
            <a:ext cx="628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F4D4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22944B-5F63-44E8-89AD-A51C1E95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72100"/>
            <a:ext cx="563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Shared contract: shard files, node indexes, global stats, QueryRequest, SearchResult</a:t>
            </a:r>
          </a:p>
        </p:txBody>
      </p:sp>
    </p:spTree>
    <p:extLst>
      <p:ext uri="{BB962C8B-B14F-4D97-AF65-F5344CB8AC3E}">
        <p14:creationId xmlns:p14="http://schemas.microsoft.com/office/powerpoint/2010/main" val="16092246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9E99B-E7FF-4936-8778-912A1156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Offline pipeline builds the data and index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77324-C07C-418E-A11F-E994E1C6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The FA-1 implementation prepares the files loaded by search nodes.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E507E-7C56-4289-8FC2-0EF28583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C5974-7CBD-437A-BEE9-6BE1EE69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9121B-4AAE-4334-AE48-57193964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8"/>
                </a:solidFill>
              </a:defRPr>
            </a:pPr>
            <a:r>
              <a:rPr sz="1050" b="1">
                <a:solidFill>
                  <a:srgbClr val="5D6B78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8ABC9-892A-488B-813A-1EBFA9BB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C7B"/>
                </a:solidFill>
              </a:defRPr>
            </a:pPr>
            <a:r>
              <a:rPr sz="1800" b="1">
                <a:solidFill>
                  <a:srgbClr val="0E7C7B"/>
                </a:solidFill>
              </a:rPr>
              <a:t>Crawler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A06B2-2AFC-40AB-812C-A10A0AF5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Visits allowed domains, respects robots/limits, saves raw HTML offline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C5825-CBB1-44EE-A4DD-946BECB3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955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295F9-D299-4309-86A0-B628E532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19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7B1"/>
                </a:solidFill>
              </a:defRPr>
            </a:pPr>
            <a:r>
              <a:rPr sz="1800" b="1">
                <a:solidFill>
                  <a:srgbClr val="3267B1"/>
                </a:solidFill>
              </a:rPr>
              <a:t>Parser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83215-E088-41A3-B072-4480069C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384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Extracts title, URL, source domain, visible text, and token 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94D6D-80B0-4611-A5E7-E641CC01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47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1AE3F-3EB2-493E-A907-35A31094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C5CE7"/>
                </a:solidFill>
              </a:defRPr>
            </a:pPr>
            <a:r>
              <a:rPr sz="1800" b="1">
                <a:solidFill>
                  <a:srgbClr val="6C5CE7"/>
                </a:solidFill>
              </a:rPr>
              <a:t>Partitioner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E83B1-C666-4FA8-B34C-A9B0260E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5760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Splits documents into node-owned shard files using range partitioning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FE0533-64C0-45B3-877F-5A3271B1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FA66B-C763-4588-BE3A-11A91B41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57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A93B"/>
                </a:solidFill>
              </a:defRPr>
            </a:pPr>
            <a:r>
              <a:rPr sz="1800" b="1">
                <a:solidFill>
                  <a:srgbClr val="F2A93B"/>
                </a:solidFill>
              </a:rPr>
              <a:t>Index builder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2FE9A-9322-47C3-8E14-CC8EAE49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767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Creates token postings, document metadata, and global IDF statistics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90655-8F48-4BCE-AE79-01509792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19210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78410-2C86-4691-812E-54B64B77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Partitioned indexing makes each node independent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53D22-23A6-4556-AF79-EDD3FF77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Each search node can load only its shard and its local index.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3EBF6-966C-4717-B38A-D472AE5C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D9EC4-0EDB-4F5A-BB3D-F2785CE7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1F636-1A07-4D62-BFE9-E260D857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8"/>
                </a:solidFill>
              </a:defRPr>
            </a:pPr>
            <a:r>
              <a:rPr sz="1050" b="1">
                <a:solidFill>
                  <a:srgbClr val="5D6B78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0C2EA-9174-44AA-A334-3EBBFC9F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A78B5-40D6-4708-8929-A5DB638C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28925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BB544-11A0-4061-B541-05A7EA99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28850"/>
            <a:ext cx="1238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shard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E2251-86D7-4EE6-BBB2-DBF9D604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52750"/>
            <a:ext cx="1238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shard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84937-40D0-4CDD-BD06-D15B7412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76650"/>
            <a:ext cx="1238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shard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793FE-E1DF-44B8-BAE9-91216DB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43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Range partitioning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E39AE-E841-4F2F-AF61-52F4FDC5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3810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396E3-AF2F-4453-AAFC-436A4DA0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90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7C7B"/>
                </a:solidFill>
              </a:defRPr>
            </a:pPr>
            <a:r>
              <a:rPr sz="1800" b="1">
                <a:solidFill>
                  <a:srgbClr val="0E7C7B"/>
                </a:solidFill>
              </a:rPr>
              <a:t>Local inverted index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4D8A4-A27A-4EC2-B7DB-976EB613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2420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term -&gt; [(doc_id, tf, positions)]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query terms are matched locally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scores use global_stats.json</a:t>
            </a:r>
          </a:p>
        </p:txBody>
      </p:sp>
    </p:spTree>
    <p:extLst>
      <p:ext uri="{BB962C8B-B14F-4D97-AF65-F5344CB8AC3E}">
        <p14:creationId xmlns:p14="http://schemas.microsoft.com/office/powerpoint/2010/main" val="10359466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15D1F-80EC-441D-95E4-541DC3F2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Core implementation follows a staged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69956-C0CD-4488-A556-34DFC551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The code keeps crawling, parsing, sharding, and indexing as separate steps.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8E5D0-8F1C-48BD-8483-1B1D96EA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D8D72-A3A3-4EAA-96EE-21664BE7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2781C-034B-443B-9A60-3D4D4D20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8"/>
                </a:solidFill>
              </a:defRPr>
            </a:pPr>
            <a:r>
              <a:rPr sz="1050" b="1">
                <a:solidFill>
                  <a:srgbClr val="5D6B78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A45FF-8FF5-4FD5-B239-5432857C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4876800" cy="36576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69258-6B59-43FB-9F37-EB689C86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Pipeline entry 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A084C-CDF3-4D11-B7D5-D37A2C3A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4000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def run_pipeline(args):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    crawl(config)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    parse_html(raw_dir, documents.jsonl)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    partition_documents(documents, shards, n)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    build_indexes(shards, indexes)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4977C-5E1E-431B-A91D-EE9BF0B0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C7B"/>
                </a:solidFill>
              </a:defRPr>
            </a:pPr>
            <a:r>
              <a:rPr sz="1650" b="1">
                <a:solidFill>
                  <a:srgbClr val="0E7C7B"/>
                </a:solidFill>
              </a:rPr>
              <a:t>Why this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1C59F-D6C1-45FB-B856-515E26E8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Each stage has a clear input and output, so failures are easier to locate and individual stages can be rerun.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BA739-774E-4062-AD77-E3F33F16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4171950" cy="36576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71F66-A166-4656-A407-4A717F61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47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Index 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BF354-44C7-479E-9848-E51222D4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38450"/>
            <a:ext cx="31432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index = {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  "node_id": "node_1",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  "documents": {...},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  "terms": {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    "query": [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      {"doc_id": "...", "tf": 2}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    ]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  }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F18E0-3808-4B6B-B61C-5234E5EB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05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This is the local state loaded by every search-node process.</a:t>
            </a:r>
          </a:p>
        </p:txBody>
      </p:sp>
    </p:spTree>
    <p:extLst>
      <p:ext uri="{BB962C8B-B14F-4D97-AF65-F5344CB8AC3E}">
        <p14:creationId xmlns:p14="http://schemas.microsoft.com/office/powerpoint/2010/main" val="10724624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A8993-24B8-40C7-9758-9C92C09E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Current output proves the offline layer is working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B1273-1193-44E4-8411-8468226B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These commands can be shown directly during evaluation.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E54FD-1C3F-4FFC-8AD1-F52737CC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2C35C-452C-43CC-8287-DF2D5683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ED735-D877-42C3-B860-6EF792A3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8"/>
                </a:solidFill>
              </a:defRPr>
            </a:pPr>
            <a:r>
              <a:rPr sz="1050" b="1">
                <a:solidFill>
                  <a:srgbClr val="5D6B78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BA7FB-0C3F-4D37-89AC-1FC701AC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49530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7B7A2-5B77-4387-9F2C-D3A4A1CD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47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python app.py stats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8051D-39D2-4D83-A33D-AFAAA17F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40767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Raw HTML pages: 1000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Metadata records: 1000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Parsed documents: 1000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Global indexed documents: 1000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node_1: 334 documents, 35803 terms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node_2: 334 documents, 13726 terms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node_3: 332 documents, 21854 terms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3C7E8-1D39-43EB-A204-7E4E4095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49530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62386-DE03-450D-A0C1-F4AA7949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47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python app.py search "parallel query processing"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7D450-DA01-486E-98DC-8C75E536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0350"/>
            <a:ext cx="3905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1. The Kubernetes API | Kubernetes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   Score: 0.9916 | Node: node_1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2. PostgreSQL 18.6, 17.11, 16.15...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   Score: 0.9632 | Node: node_2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3. Labels and Selectors | Kubernetes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   Score: 0.9484 | Node: node_1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D5176-93D9-4225-B5CE-8510B76B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339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B78"/>
                </a:solidFill>
              </a:defRPr>
            </a:pPr>
            <a:r>
              <a:rPr sz="1275" b="0">
                <a:solidFill>
                  <a:srgbClr val="5D6B78"/>
                </a:solidFill>
              </a:rPr>
              <a:t>The result list shows which partition produced each match.</a:t>
            </a:r>
          </a:p>
        </p:txBody>
      </p:sp>
    </p:spTree>
    <p:extLst>
      <p:ext uri="{BB962C8B-B14F-4D97-AF65-F5344CB8AC3E}">
        <p14:creationId xmlns:p14="http://schemas.microsoft.com/office/powerpoint/2010/main" val="15939987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E1E14-CBB8-4FEA-88D9-2990AD70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Distributed query runtime serves the prepared indexes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81406-F0F9-432A-AC2C-7EBFCD5E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This layer turns local shard indexes into one searchable service.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324D2-B5DB-4422-9320-A6EC204D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41383-B796-4F62-9B28-E860B93B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C4424-43BE-47D8-8733-70AE202A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8"/>
                </a:solidFill>
              </a:defRPr>
            </a:pPr>
            <a:r>
              <a:rPr sz="1050" b="1">
                <a:solidFill>
                  <a:srgbClr val="5D6B78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15353-D445-475A-880D-10C65AD9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24050"/>
            <a:ext cx="1000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DB265-ECF7-4ACC-985E-D33503EA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76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267B1"/>
                </a:solidFill>
              </a:defRPr>
            </a:pPr>
            <a:r>
              <a:rPr sz="1650" b="1">
                <a:solidFill>
                  <a:srgbClr val="3267B1"/>
                </a:solidFill>
              </a:rPr>
              <a:t>Search node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94442-24D0-4061-AAFC-52B5135C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Loads one shard and local index; tokenizes query; returns local top-K 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373A3-854C-4773-88D8-52F1C944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1000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6FDD0-C0F3-420A-92EF-40B46DA4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33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Coordinator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81078-4DE9-403E-9D17-F42B4007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52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Receives query; calls all nodes in parallel; handles timeout; merges results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3B221-42E9-4B9E-BEB3-8FBF10C9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1000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1C5BD-EF6F-4B14-9C76-D2F01B69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D32"/>
                </a:solidFill>
              </a:defRPr>
            </a:pPr>
            <a:r>
              <a:rPr sz="1650" b="1">
                <a:solidFill>
                  <a:srgbClr val="2E7D32"/>
                </a:solidFill>
              </a:rPr>
              <a:t>API / Web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BD829-4250-4140-A9D3-C20014E4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Accepts user input; displays ranked results, source URLs, scores, and node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F7E54-C75C-4530-8843-D1C499ED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95800"/>
            <a:ext cx="1000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2A14A5-524C-45C2-98B8-022394E4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C5CE7"/>
                </a:solidFill>
              </a:defRPr>
            </a:pPr>
            <a:r>
              <a:rPr sz="1650" b="1">
                <a:solidFill>
                  <a:srgbClr val="6C5CE7"/>
                </a:solidFill>
              </a:rPr>
              <a:t>Config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E7C3BC-E8F4-452D-BF27-F0AA08AD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672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Stores node IDs, host addresses, ports, shard assignments, and timeouts</a:t>
            </a:r>
          </a:p>
        </p:txBody>
      </p:sp>
    </p:spTree>
    <p:extLst>
      <p:ext uri="{BB962C8B-B14F-4D97-AF65-F5344CB8AC3E}">
        <p14:creationId xmlns:p14="http://schemas.microsoft.com/office/powerpoint/2010/main" val="16714283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07404-98C7-4A0C-B7F3-C2DBFB8C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gRPC defines the communication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F7C1A-BBF1-495B-9A30-E665AF31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The coordinator and search nodes communicate through request and response messages.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CCA2B-AD81-4944-9435-DFC0CF8E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61E1F-50CF-47FA-9B90-DD65DBC0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6C6C1-B012-4729-AA3D-8C76B118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8"/>
                </a:solidFill>
              </a:defRPr>
            </a:pPr>
            <a:r>
              <a:rPr sz="1050" b="1">
                <a:solidFill>
                  <a:srgbClr val="5D6B78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169DC-2AEF-4844-80A4-7EBFEB6E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43434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FFFB3-973D-43B8-9E51-8A320149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43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7B1"/>
                </a:solidFill>
              </a:defRPr>
            </a:pPr>
            <a:r>
              <a:rPr sz="1800" b="1">
                <a:solidFill>
                  <a:srgbClr val="3267B1"/>
                </a:solidFill>
              </a:rPr>
              <a:t>QueryRequest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6007F-3BD6-4502-AF52-826A85A8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247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query_text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top_k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request_id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timeout_ms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14F70-B40C-46B3-A76D-F9A04234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00250"/>
            <a:ext cx="43434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4F63C-2F66-48C5-BBF2-5CD7DDAD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43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C7B"/>
                </a:solidFill>
              </a:defRPr>
            </a:pPr>
            <a:r>
              <a:rPr sz="1800" b="1">
                <a:solidFill>
                  <a:srgbClr val="0E7C7B"/>
                </a:solidFill>
              </a:rPr>
              <a:t>SearchResponse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CEE36-E9A4-44D3-BA86-35ECEE77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247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node_id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results[]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latency_ms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78822-AA3E-456A-BD14-3CE261AD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05200"/>
            <a:ext cx="7429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67083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44189-FA7A-49C3-8B5A-4A76D621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Coordinator controls fan-out, timeout, and merge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14CCE-6A15-4EBF-81A9-0202E13B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The coordinator is the central runtime component in the online layer.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EC2E8-517B-48A2-997F-56B15AF7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32CAF-CE47-400F-B037-E1EA0272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D6CAD-2B5E-4DA5-BA62-2B9F4FD6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8"/>
                </a:solidFill>
              </a:defRPr>
            </a:pPr>
            <a:r>
              <a:rPr sz="1050" b="1">
                <a:solidFill>
                  <a:srgbClr val="5D6B78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71F5C-0CF4-4FDD-B375-11B31FED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478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E1B9E-8FEE-440D-9292-EF3666DD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240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receive query and top-K limit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26DA5-67D5-48E6-B931-6523EA73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908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96893-16F2-4905-B990-8804551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670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send QueryRequest to all nodes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AF69C-612C-4D64-BCC3-D0FDB4DC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337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75EF9-D9A7-48D4-8D65-D30DE1A2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09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wait with per-node timeout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F6038-541F-4C91-8484-17135A50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767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0384DE-C42F-449D-B228-4BD77B47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merge local top-K results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18CCC-8A0D-4FB1-990C-23A65140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66634-9779-45C4-9726-3295D32C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5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return ranked response with node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FA5DF-3642-4ECC-AD69-6FA6AEFC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43150"/>
            <a:ext cx="31432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DFD92-2241-4694-84BC-ACA99E32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05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Merge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B65F2-1062-4D9A-9B93-85222AB1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623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combine node results</a:t>
            </a:r>
          </a:p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sort by score</a:t>
            </a:r>
          </a:p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remove duplicate URLs</a:t>
            </a:r>
          </a:p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apply top-K cut-off</a:t>
            </a:r>
          </a:p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show node status</a:t>
            </a:r>
          </a:p>
        </p:txBody>
      </p:sp>
    </p:spTree>
    <p:extLst>
      <p:ext uri="{BB962C8B-B14F-4D97-AF65-F5344CB8AC3E}">
        <p14:creationId xmlns:p14="http://schemas.microsoft.com/office/powerpoint/2010/main" val="2104067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CFD63A-7CD0-44E3-9543-E74298B3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Each search node performs local 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D4417-945A-4303-B23F-30E4DF5F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Nodes do not need the full corpus; they search only their own partition.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BB66C-42FE-41DC-89FC-8CEE6E9C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7E662-45D6-41DA-B49A-9A8DD375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4DE1B-D322-4602-8D36-76F35AAF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8"/>
                </a:solidFill>
              </a:defRPr>
            </a:pPr>
            <a:r>
              <a:rPr sz="1050" b="1">
                <a:solidFill>
                  <a:srgbClr val="5D6B78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F8712-43F4-4394-8871-D3928BE5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7B1"/>
                </a:solidFill>
              </a:defRPr>
            </a:pPr>
            <a:r>
              <a:rPr sz="1800" b="1">
                <a:solidFill>
                  <a:srgbClr val="3267B1"/>
                </a:solidFill>
              </a:rPr>
              <a:t>Node startup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A9DDD-64BB-4A19-B27A-4507FC28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05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51FAA-2F6F-448F-B548-723F266A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289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load assigned shard 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73427-DDA2-4C75-ABFE-93B748C8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57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98B56-E3B7-4409-985C-420FFD7A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81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load local inverted index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E67A1-423C-493D-BD7C-A6BB3699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1E832-423F-4E82-9677-57A10C39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33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register node_id and address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6C3AA-D0DA-4C65-B841-06856525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C7B"/>
                </a:solidFill>
              </a:defRPr>
            </a:pPr>
            <a:r>
              <a:rPr sz="1800" b="1">
                <a:solidFill>
                  <a:srgbClr val="0E7C7B"/>
                </a:solidFill>
              </a:rPr>
              <a:t>Query handling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B398D-A392-42C8-B3E3-C49618F4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D18AB-5FD9-456E-8557-F318B67F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289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tokenize incoming query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69988-3288-4223-820C-E1771E3A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71DB9-4684-4F26-B8D5-EA6F4BB2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81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lookup postings in local index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673BD-9407-425F-8C72-23EF1A06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4BC4F-4FE5-447D-8736-C366B687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33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return local top-K results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E5358-7075-4EA1-8B6F-C628D850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53000"/>
            <a:ext cx="689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F4D49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34D13A-8C7B-4978-82FE-8C60D889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62550"/>
            <a:ext cx="613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This design supports scalability because adding a node means assigning another partition.</a:t>
            </a:r>
          </a:p>
        </p:txBody>
      </p:sp>
    </p:spTree>
    <p:extLst>
      <p:ext uri="{BB962C8B-B14F-4D97-AF65-F5344CB8AC3E}">
        <p14:creationId xmlns:p14="http://schemas.microsoft.com/office/powerpoint/2010/main" val="5990629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8261D4-C6BE-4761-ACF6-D9504256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UI and fault handling make the system demonstrable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02628-403B-450F-B7A1-2A2D32BA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The faculty demo should show normal results and unavailable-node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CC8D3-049B-493B-803A-C348B813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F309C-EB72-4C56-ACE2-000B9091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9503B-ABDF-43A8-B97D-B6223448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8"/>
                </a:solidFill>
              </a:defRPr>
            </a:pPr>
            <a:r>
              <a:rPr sz="1050" b="1">
                <a:solidFill>
                  <a:srgbClr val="5D6B78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4FBF5-F449-4446-840B-B0218F86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D32"/>
                </a:solidFill>
              </a:defRPr>
            </a:pPr>
            <a:r>
              <a:rPr sz="1800" b="1">
                <a:solidFill>
                  <a:srgbClr val="2E7D32"/>
                </a:solidFill>
              </a:rPr>
              <a:t>Web/API display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E5676-E862-4F77-AB0E-0CFB8C57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81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F09BE-02B9-4413-A88E-31148970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05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query input 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B63F9-729B-452B-93F8-86C04D50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7FCF2-E24B-4392-AE8D-4A25E890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ranked result 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6622F-DF64-47AC-9AF1-D46F7BFD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1E5B6-E139-4E13-B208-87FDBD2F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10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source URL and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15CB5-6BB8-41AE-9CF8-CEFF2DBB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04FAE-8625-4737-A75F-020131CC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node status/latency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F154A-18A1-464D-9C70-F8981561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38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2413A"/>
                </a:solidFill>
              </a:defRPr>
            </a:pPr>
            <a:r>
              <a:rPr sz="1800" b="1">
                <a:solidFill>
                  <a:srgbClr val="C2413A"/>
                </a:solidFill>
              </a:rPr>
              <a:t>Failure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ACA01-1E88-4558-9A79-4ED2EFAA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81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28583-C88F-4A5C-8295-1E47F25D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051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set deadline per node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82C10-B73D-42E3-9C8B-F338B350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5D2AC-8B4C-4793-9237-77484031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57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skip failed node response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A47A70-ADA6-41B1-84F5-20BB2569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C512F-9CEB-4806-9DCF-E2A0DD77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10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return partial results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E0AC4E-1875-432A-9B0B-5E3FFBAB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38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006C0-F35E-477B-9507-6B1BAB98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624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show which node failed</a:t>
            </a:r>
          </a:p>
        </p:txBody>
      </p:sp>
    </p:spTree>
    <p:extLst>
      <p:ext uri="{BB962C8B-B14F-4D97-AF65-F5344CB8AC3E}">
        <p14:creationId xmlns:p14="http://schemas.microsoft.com/office/powerpoint/2010/main" val="13424760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C9A3F-18A3-4CB9-A63A-C77280C7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FA-1 concepts are visible across the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0A787-A7D5-4230-90C1-2DC5E02A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The project maps to Unit 1 and Unit 2 through concrete implementation choices.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011F3-8147-47ED-961D-87DA7F0B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9D524-FADA-422D-9880-91095E7F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7A4F2-DABD-4D08-B6B8-91D02454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8"/>
                </a:solidFill>
              </a:defRPr>
            </a:pPr>
            <a:r>
              <a:rPr sz="1050" b="1">
                <a:solidFill>
                  <a:srgbClr val="5D6B78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BE6A1-6A24-4B65-81BE-DEA24FF7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57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C7B"/>
                </a:solidFill>
              </a:defRPr>
            </a:pPr>
            <a:r>
              <a:rPr sz="1875" b="1">
                <a:solidFill>
                  <a:srgbClr val="0E7C7B"/>
                </a:solidFill>
              </a:rPr>
              <a:t>Unit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BF5C4-B0FB-4016-B3CF-177B0E49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08AB8-93C7-471A-8C5D-45443BF3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architecture: coordinator + search nodes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7779E-D152-444A-8506-C4C7DD7D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72B48-68CF-4442-A2E2-74C17FD4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76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design issue: partitioning + ranking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FC72B-0613-4ECA-8B59-5AE2C748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684E2-B53A-4B9E-8BF2-4D17CFDA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29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scalability through sharding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B8E7A-2CC5-45C4-9876-DF7AD5F4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897EF-4063-4CE7-B4D0-C0E86631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81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middleware boundary between 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910C7-1381-4E4E-95A9-3A168708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267B1"/>
                </a:solidFill>
              </a:defRPr>
            </a:pPr>
            <a:r>
              <a:rPr sz="1875" b="1">
                <a:solidFill>
                  <a:srgbClr val="3267B1"/>
                </a:solidFill>
              </a:rPr>
              <a:t>Unit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87650-9B6B-4AD5-8B31-E0EBF781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55EA5-6373-4A94-8D98-2ACF1943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241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RPC using gRPC service calls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AC199-DD18-4A0D-BAB7-F940CE30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BCEE8-1DD8-48A0-8523-82E36AD8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request/response message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48D20-7B6C-4C58-89A7-0030071C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87FB2B-82BE-46F7-A5B6-A24FEED8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29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node identifiers and addresses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9E509-333F-4B30-9A5D-5F2FAD18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6B471A-8C55-473A-8D31-470433AD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81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timeouts for partial results</a:t>
            </a:r>
          </a:p>
        </p:txBody>
      </p:sp>
    </p:spTree>
    <p:extLst>
      <p:ext uri="{BB962C8B-B14F-4D97-AF65-F5344CB8AC3E}">
        <p14:creationId xmlns:p14="http://schemas.microsoft.com/office/powerpoint/2010/main" val="807585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88C0C-97A4-422F-8CEB-FD0C49A0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Evaluation demo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1BA91-385D-47BA-9ECD-089C9C60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The demo should prove that the offline and online layers connect into one system.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F2DFC-A972-4F1A-A100-4FBEA619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D8AD4-6923-4CB6-BA9E-92849990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Distributed Search Engine | FA-1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9D102-3663-4B00-8A72-2FFE2ED3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8"/>
                </a:solidFill>
              </a:defRPr>
            </a:pPr>
            <a:r>
              <a:rPr sz="1050" b="1">
                <a:solidFill>
                  <a:srgbClr val="5D6B78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B91B6-34F2-4BA8-A4F7-1AD6B74B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53D57-CAF1-41B3-8EC4-940C09AF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771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Run offline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7BAAE-C165-4745-B7F2-7A67724B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8"/>
                </a:solidFill>
              </a:defRPr>
            </a:pPr>
            <a:r>
              <a:rPr sz="1425" b="0">
                <a:solidFill>
                  <a:srgbClr val="5D6B78"/>
                </a:solidFill>
              </a:rPr>
              <a:t>generate documents, shards, indexes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380AF-4F64-4180-B025-779A6617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622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4B58A-0590-4CFF-9288-7C57106E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81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Share generated artifacts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F1169-8CF9-4FEC-ACDA-6DB2E4CA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19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8"/>
                </a:solidFill>
              </a:defRPr>
            </a:pPr>
            <a:r>
              <a:rPr sz="1425" b="0">
                <a:solidFill>
                  <a:srgbClr val="5D6B78"/>
                </a:solidFill>
              </a:rPr>
              <a:t>use data/shards and indexes from the offline repo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B98DD-6387-47D9-B257-6268C136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CF7BD-0801-4BB5-804E-4005B8BE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90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Start search-node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506BA-913D-450C-9E78-9018D994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28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8"/>
                </a:solidFill>
              </a:defRPr>
            </a:pPr>
            <a:r>
              <a:rPr sz="1425" b="0">
                <a:solidFill>
                  <a:srgbClr val="5D6B78"/>
                </a:solidFill>
              </a:rPr>
              <a:t>each node loads one shard and index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F3B42-31E1-4AF5-80F3-ECCFF0C8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A61FE-C19C-41B3-8B37-9C3E5057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00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Start coordinator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75AC0-4733-4D62-A846-CF73AFF0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8"/>
                </a:solidFill>
              </a:defRPr>
            </a:pPr>
            <a:r>
              <a:rPr sz="1425" b="0">
                <a:solidFill>
                  <a:srgbClr val="5D6B78"/>
                </a:solidFill>
              </a:rPr>
              <a:t>register node addresses and send fan-out query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EA630-609C-4D96-BB6C-465B10C2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4C375-478A-42AC-B977-D904602E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10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Search from UI/API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F41BE-BD4C-43AE-9691-2F2D9C47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4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8"/>
                </a:solidFill>
              </a:defRPr>
            </a:pPr>
            <a:r>
              <a:rPr sz="1425" b="0">
                <a:solidFill>
                  <a:srgbClr val="5D6B78"/>
                </a:solidFill>
              </a:rPr>
              <a:t>display merged ranked results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A4979-D048-43B7-BCA2-25E3421F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BB3C9C-D379-482F-B42F-EDC51904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19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Stop one node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A9622-DD4E-4109-985F-40BF25EE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57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8"/>
                </a:solidFill>
              </a:defRPr>
            </a:pPr>
            <a:r>
              <a:rPr sz="1425" b="0">
                <a:solidFill>
                  <a:srgbClr val="5D6B78"/>
                </a:solidFill>
              </a:rPr>
              <a:t>show timeout and partial result behavior</a:t>
            </a:r>
          </a:p>
        </p:txBody>
      </p:sp>
    </p:spTree>
    <p:extLst>
      <p:ext uri="{BB962C8B-B14F-4D97-AF65-F5344CB8AC3E}">
        <p14:creationId xmlns:p14="http://schemas.microsoft.com/office/powerpoint/2010/main" val="882471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2026-09-02T18:13:29.9110000Z</dcterms:created>
  <dcterms:modified xsi:type="dcterms:W3CDTF">2026-09-02T18:13:29.9110000Z</dcterms:modified>
</coreProperties>
</file>