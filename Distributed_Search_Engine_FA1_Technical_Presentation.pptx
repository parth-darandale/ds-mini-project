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942d17ef5345fb" /><Relationship Type="http://schemas.openxmlformats.org/officeDocument/2006/relationships/extended-properties" Target="/docProps/app.xml" Id="Ra62544b154ee40f8" /><Relationship Type="http://schemas.openxmlformats.org/officeDocument/2006/relationships/officeDocument" Target="/ppt/presentation.xml" Id="Rc168f773822847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807b14650d469d"/>
  </p:sldMasterIdLst>
  <p:notesMasterIdLst>
    <p:notesMasterId xmlns:r="http://schemas.openxmlformats.org/officeDocument/2006/relationships" r:id="R6ad1c22f67c945c2"/>
  </p:notesMasterIdLst>
  <p:sldIdLst>
    <p:sldId xmlns:r="http://schemas.openxmlformats.org/officeDocument/2006/relationships" id="256" r:id="R1964ffa22ab44d88"/>
    <p:sldId xmlns:r="http://schemas.openxmlformats.org/officeDocument/2006/relationships" id="257" r:id="Rcbd0dfd172174a64"/>
    <p:sldId xmlns:r="http://schemas.openxmlformats.org/officeDocument/2006/relationships" id="258" r:id="R2dc401371a2d49f5"/>
    <p:sldId xmlns:r="http://schemas.openxmlformats.org/officeDocument/2006/relationships" id="259" r:id="Rd0e388f9d4714175"/>
    <p:sldId xmlns:r="http://schemas.openxmlformats.org/officeDocument/2006/relationships" id="260" r:id="Rd9e1d00370d443e1"/>
    <p:sldId xmlns:r="http://schemas.openxmlformats.org/officeDocument/2006/relationships" id="261" r:id="R4a0f30c9e5fa4995"/>
    <p:sldId xmlns:r="http://schemas.openxmlformats.org/officeDocument/2006/relationships" id="262" r:id="Re1181825c27b4df1"/>
    <p:sldId xmlns:r="http://schemas.openxmlformats.org/officeDocument/2006/relationships" id="263" r:id="R6f92070000d54b7f"/>
    <p:sldId xmlns:r="http://schemas.openxmlformats.org/officeDocument/2006/relationships" id="264" r:id="R76261e63c52746b0"/>
    <p:sldId xmlns:r="http://schemas.openxmlformats.org/officeDocument/2006/relationships" id="265" r:id="R76d74e422a554a83"/>
    <p:sldId xmlns:r="http://schemas.openxmlformats.org/officeDocument/2006/relationships" id="266" r:id="R20627bdb17c1429a"/>
    <p:sldId xmlns:r="http://schemas.openxmlformats.org/officeDocument/2006/relationships" id="267" r:id="Rac492dea374a4988"/>
    <p:sldId xmlns:r="http://schemas.openxmlformats.org/officeDocument/2006/relationships" id="268" r:id="R811c9e38ae8c4f08"/>
    <p:sldId xmlns:r="http://schemas.openxmlformats.org/officeDocument/2006/relationships" id="269" r:id="R3b64f24acd5f42a0"/>
    <p:sldId xmlns:r="http://schemas.openxmlformats.org/officeDocument/2006/relationships" id="270" r:id="R3a199f9526c9426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142110cc6d451a" /><Relationship Type="http://schemas.openxmlformats.org/officeDocument/2006/relationships/slideMaster" Target="/ppt/slideMasters/slideMaster1.xml" Id="Rc0807b14650d469d" /><Relationship Type="http://schemas.openxmlformats.org/officeDocument/2006/relationships/notesMaster" Target="/ppt/notesMasters/notesMaster1.xml" Id="R6ad1c22f67c945c2" /><Relationship Type="http://schemas.openxmlformats.org/officeDocument/2006/relationships/presProps" Target="/ppt/presProps.xml" Id="R69ea90d0b4d54e24" /><Relationship Type="http://schemas.openxmlformats.org/officeDocument/2006/relationships/tableStyles" Target="/ppt/tableStyles.xml" Id="Ref3c84f043564e5c" /><Relationship Type="http://schemas.openxmlformats.org/officeDocument/2006/relationships/slide" Target="/ppt/slides/slide1.xml" Id="R1964ffa22ab44d88" /><Relationship Type="http://schemas.openxmlformats.org/officeDocument/2006/relationships/slide" Target="/ppt/slides/slide2.xml" Id="Rcbd0dfd172174a64" /><Relationship Type="http://schemas.openxmlformats.org/officeDocument/2006/relationships/slide" Target="/ppt/slides/slide3.xml" Id="R2dc401371a2d49f5" /><Relationship Type="http://schemas.openxmlformats.org/officeDocument/2006/relationships/slide" Target="/ppt/slides/slide4.xml" Id="Rd0e388f9d4714175" /><Relationship Type="http://schemas.openxmlformats.org/officeDocument/2006/relationships/slide" Target="/ppt/slides/slide5.xml" Id="Rd9e1d00370d443e1" /><Relationship Type="http://schemas.openxmlformats.org/officeDocument/2006/relationships/slide" Target="/ppt/slides/slide6.xml" Id="R4a0f30c9e5fa4995" /><Relationship Type="http://schemas.openxmlformats.org/officeDocument/2006/relationships/slide" Target="/ppt/slides/slide7.xml" Id="Re1181825c27b4df1" /><Relationship Type="http://schemas.openxmlformats.org/officeDocument/2006/relationships/slide" Target="/ppt/slides/slide8.xml" Id="R6f92070000d54b7f" /><Relationship Type="http://schemas.openxmlformats.org/officeDocument/2006/relationships/slide" Target="/ppt/slides/slide9.xml" Id="R76261e63c52746b0" /><Relationship Type="http://schemas.openxmlformats.org/officeDocument/2006/relationships/slide" Target="/ppt/slides/slide10.xml" Id="R76d74e422a554a83" /><Relationship Type="http://schemas.openxmlformats.org/officeDocument/2006/relationships/slide" Target="/ppt/slides/slide11.xml" Id="R20627bdb17c1429a" /><Relationship Type="http://schemas.openxmlformats.org/officeDocument/2006/relationships/slide" Target="/ppt/slides/slide12.xml" Id="Rac492dea374a4988" /><Relationship Type="http://schemas.openxmlformats.org/officeDocument/2006/relationships/slide" Target="/ppt/slides/slide13.xml" Id="R811c9e38ae8c4f08" /><Relationship Type="http://schemas.openxmlformats.org/officeDocument/2006/relationships/slide" Target="/ppt/slides/slide14.xml" Id="R3b64f24acd5f42a0" /><Relationship Type="http://schemas.openxmlformats.org/officeDocument/2006/relationships/slide" Target="/ppt/slides/slide15.xml" Id="R3a199f9526c942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87826ee479d4b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13176c7a3a4f40" /><Relationship Type="http://schemas.openxmlformats.org/officeDocument/2006/relationships/notesMaster" Target="/ppt/notesMasters/notesMaster1.xml" Id="Rb49422f08e0443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8a4eb3c9f34df1" /><Relationship Type="http://schemas.openxmlformats.org/officeDocument/2006/relationships/notesMaster" Target="/ppt/notesMasters/notesMaster1.xml" Id="R19acc16f4d5a43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a80e094e564909" /><Relationship Type="http://schemas.openxmlformats.org/officeDocument/2006/relationships/notesMaster" Target="/ppt/notesMasters/notesMaster1.xml" Id="Ra7c7021cc51546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59bf5400ef4c8c" /><Relationship Type="http://schemas.openxmlformats.org/officeDocument/2006/relationships/notesMaster" Target="/ppt/notesMasters/notesMaster1.xml" Id="Rf306c1db4d354f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ebc84a1e974549" /><Relationship Type="http://schemas.openxmlformats.org/officeDocument/2006/relationships/notesMaster" Target="/ppt/notesMasters/notesMaster1.xml" Id="Ra31ef4c9d3294c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a94bd207ca4a92" /><Relationship Type="http://schemas.openxmlformats.org/officeDocument/2006/relationships/notesMaster" Target="/ppt/notesMasters/notesMaster1.xml" Id="R9db97b0c239448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af651c50a4745b8" /><Relationship Type="http://schemas.openxmlformats.org/officeDocument/2006/relationships/notesMaster" Target="/ppt/notesMasters/notesMaster1.xml" Id="R9298e38efad84b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f97375355040b8" /><Relationship Type="http://schemas.openxmlformats.org/officeDocument/2006/relationships/notesMaster" Target="/ppt/notesMasters/notesMaster1.xml" Id="R0b3d06d109c440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262c30680c64f6d" /><Relationship Type="http://schemas.openxmlformats.org/officeDocument/2006/relationships/notesMaster" Target="/ppt/notesMasters/notesMaster1.xml" Id="R93d9cd75b7e842a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0ab77997b74c99" /><Relationship Type="http://schemas.openxmlformats.org/officeDocument/2006/relationships/notesMaster" Target="/ppt/notesMasters/notesMaster1.xml" Id="R6a7126f60bd043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0c61bb0f0504beb" /><Relationship Type="http://schemas.openxmlformats.org/officeDocument/2006/relationships/notesMaster" Target="/ppt/notesMasters/notesMaster1.xml" Id="R4a5f7dd1a57d4f8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8803ae6ee98493c" /><Relationship Type="http://schemas.openxmlformats.org/officeDocument/2006/relationships/notesMaster" Target="/ppt/notesMasters/notesMaster1.xml" Id="R79c027de1381475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e276db3b4e44d74" /><Relationship Type="http://schemas.openxmlformats.org/officeDocument/2006/relationships/notesMaster" Target="/ppt/notesMasters/notesMaster1.xml" Id="R02248320ca1a4f5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5f7b0855dc5454a" /><Relationship Type="http://schemas.openxmlformats.org/officeDocument/2006/relationships/notesMaster" Target="/ppt/notesMasters/notesMaster1.xml" Id="R32c13347ad6c41e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6671e3f3f984e0e" /><Relationship Type="http://schemas.openxmlformats.org/officeDocument/2006/relationships/notesMaster" Target="/ppt/notesMasters/notesMaster1.xml" Id="Rbd97eceef4c943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stating that the presentation covers the complete distributed search engine, from offline data preparation to online query processing.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project motivation using distributed-systems terms: scalability, parallel processing, and fault tolerance.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linked-system overview. The deck should not look like separate files; it should show a continuous architecture.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this as a codebase decomposition. The important point is that the online runtime depends on the offline artifact contract, not on rerunning a separate crawl.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this as the offline indexing layer. Mention that generated artifacts are stored and can be inspected before the runtime starts.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independent shards are important for search-node processes. Each node can load one partition instead of the full corpus.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a small code-level view without overwhelming the presentation. The snippet is simplified from app.py and the generated index structure.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concrete project evidence. The stats and search output were captured from the current local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explains the online runtime components: search-node services, coordinator, interface, and configuration.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Map this to Unit 2 RPC and message-oriented communication: the proto schema becomes the formal interface between processes.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coordinator algorithm in viva terms. This is the part where parallel query processing is managed.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Discuss search-node responsibility and scalability. The node has local state and a small RPC interface.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explains the user-facing and fault-tolerant pieces of the online layer. It links to Unit 2 fault-tolerance self-study.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direct mapping to the FA-1 syllabus expected by faculty.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exact demonstration plan. It shows two separate repositories connected by copied/generated artifacts and then demonstrates degraded-mode query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D:/Engg/diss/distributed_search_engine_project_context.md</a:t>
            </a:r>
          </a:p>
          <a:p xmlns:a="http://schemas.openxmlformats.org/drawingml/2006/main">
            <a:r>
              <a:t>D:/Engg/diss/distributed-search-engine/README.md</a:t>
            </a:r>
          </a:p>
          <a:p xmlns:a="http://schemas.openxmlformats.org/drawingml/2006/main">
            <a:r>
              <a:t>D:/Engg/diss/distributed-search-engine/app.py</a:t>
            </a:r>
          </a:p>
          <a:p xmlns:a="http://schemas.openxmlformats.org/drawingml/2006/main">
            <a:r>
              <a:t>D:/Engg/diss/distributed-search-engine/crawler/crawler.py</a:t>
            </a:r>
          </a:p>
          <a:p xmlns:a="http://schemas.openxmlformats.org/drawingml/2006/main">
            <a:r>
              <a:t>D:/Engg/diss/distributed-search-engine/parser/html_parser.py</a:t>
            </a:r>
          </a:p>
          <a:p xmlns:a="http://schemas.openxmlformats.org/drawingml/2006/main">
            <a:r>
              <a:t>D:/Engg/diss/distributed-search-engine/indexing/partitioner.py</a:t>
            </a:r>
          </a:p>
          <a:p xmlns:a="http://schemas.openxmlformats.org/drawingml/2006/main">
            <a:r>
              <a:t>D:/Engg/diss/distributed-search-engine/indexing/index_builder.py</a:t>
            </a:r>
          </a:p>
          <a:p xmlns:a="http://schemas.openxmlformats.org/drawingml/2006/main">
            <a:r>
              <a:t>Verified local command: python app.py stats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28557113934b9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edcb33f6264ab6" /><Relationship Type="http://schemas.openxmlformats.org/officeDocument/2006/relationships/slideLayout" Target="/ppt/slideLayouts/slideLayout1.xml" Id="R5dbad5382e754a1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bad5382e754a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8302e75f44c8f" /><Relationship Type="http://schemas.openxmlformats.org/officeDocument/2006/relationships/notesSlide" Target="/ppt/notesSlides/notesSlide1.xml" Id="R9190e83f4ee240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1044c8758c451b" /><Relationship Type="http://schemas.openxmlformats.org/officeDocument/2006/relationships/notesSlide" Target="/ppt/notesSlides/notesSlide2.xml" Id="R77307c1b064e47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10d003972c4d10" /><Relationship Type="http://schemas.openxmlformats.org/officeDocument/2006/relationships/notesSlide" Target="/ppt/notesSlides/notesSlide3.xml" Id="R6a424eacac174d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089e8ece145a1" /><Relationship Type="http://schemas.openxmlformats.org/officeDocument/2006/relationships/notesSlide" Target="/ppt/notesSlides/notesSlide4.xml" Id="R76f0d866af3f4c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40b0852994f73" /><Relationship Type="http://schemas.openxmlformats.org/officeDocument/2006/relationships/notesSlide" Target="/ppt/notesSlides/notesSlide5.xml" Id="R736864db62ab45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04c9167ac943c9" /><Relationship Type="http://schemas.openxmlformats.org/officeDocument/2006/relationships/notesSlide" Target="/ppt/notesSlides/notesSlide6.xml" Id="R58450c887de44b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a8698b235b402c" /><Relationship Type="http://schemas.openxmlformats.org/officeDocument/2006/relationships/notesSlide" Target="/ppt/notesSlides/notesSlide7.xml" Id="R503df6d5df7b4c3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35435e67f4ffb" /><Relationship Type="http://schemas.openxmlformats.org/officeDocument/2006/relationships/notesSlide" Target="/ppt/notesSlides/notesSlide8.xml" Id="Rf78ffeff18184d9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be02e834b4e0c" /><Relationship Type="http://schemas.openxmlformats.org/officeDocument/2006/relationships/notesSlide" Target="/ppt/notesSlides/notesSlide9.xml" Id="Rfb158631c8c54f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9a661173d644e7" /><Relationship Type="http://schemas.openxmlformats.org/officeDocument/2006/relationships/notesSlide" Target="/ppt/notesSlides/notesSlide10.xml" Id="Rd12d088d440049c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b9c120e2554d4b" /><Relationship Type="http://schemas.openxmlformats.org/officeDocument/2006/relationships/notesSlide" Target="/ppt/notesSlides/notesSlide11.xml" Id="R66c0e85410794ed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c6608a58f4dcf" /><Relationship Type="http://schemas.openxmlformats.org/officeDocument/2006/relationships/notesSlide" Target="/ppt/notesSlides/notesSlide12.xml" Id="R0b88d377d95b4f9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aa49836f14583" /><Relationship Type="http://schemas.openxmlformats.org/officeDocument/2006/relationships/notesSlide" Target="/ppt/notesSlides/notesSlide13.xml" Id="Rfd6380d0bbce4c6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31aad7f6e8465d" /><Relationship Type="http://schemas.openxmlformats.org/officeDocument/2006/relationships/notesSlide" Target="/ppt/notesSlides/notesSlide14.xml" Id="R12619ae3705542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8b34fe67574bac" /><Relationship Type="http://schemas.openxmlformats.org/officeDocument/2006/relationships/notesSlide" Target="/ppt/notesSlides/notesSlide15.xml" Id="Rd753d5c3dc42439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56D427-0D54-456E-A557-B017D8B6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84C8C-60C4-4829-A65F-AAB975C6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19200"/>
            <a:ext cx="8096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Fault-Tolerant Distributed Search Engine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CB46F8-63A4-4461-8B97-39924D67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D6B78"/>
                </a:solidFill>
              </a:defRPr>
            </a:pPr>
            <a:r>
              <a:rPr sz="1800" b="0">
                <a:solidFill>
                  <a:srgbClr val="5D6B78"/>
                </a:solidFill>
              </a:rPr>
              <a:t>Partitioned indexing and parallel query processing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3C411B-9F20-477A-9132-1032A736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7C7B"/>
                </a:solidFill>
              </a:defRPr>
            </a:pPr>
            <a:r>
              <a:rPr sz="1500" b="1">
                <a:solidFill>
                  <a:srgbClr val="0E7C7B"/>
                </a:solidFill>
              </a:rPr>
              <a:t>FA-1 Technical Presentation | Distributed Systems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F3F1C0-623D-4876-9642-702671ABB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71650"/>
            <a:ext cx="2724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9D872B-729A-47D7-AF45-A85E8F69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336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D59542-FDBE-46C8-A55D-EF55D067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527F6B-A1E1-459E-868B-A1D3080B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offline indexing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6D81F3-FAC3-4602-8D8F-D79F3181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95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EA9E8F-7769-45C2-849E-960D23B6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194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online query 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F61B99-7F7B-4C23-B5BD-9074EEAB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81EA4B-ABDB-4B6D-9198-5F4D8D33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265667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2FD129-59DA-4E05-998C-CDDB36D5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Why search is a distributed-systems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E1D618-AA0C-4903-858F-A7DBD998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A centralized search system limits scalability and availability.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4E1687-7C6D-4C84-9FF5-E005783C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FCA1B-D145-42BA-AF9D-AC2F0BE8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2F1033-CA86-4DDC-81E0-747855C8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2344E4-5F3B-4AF4-B9A4-016AFAFC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002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Centralized 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6E2464-A289-49E2-8CCF-C1242480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8130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all documents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A936D-89C3-4984-93D6-4DF5949E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05125"/>
            <a:ext cx="5334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E5BD88-F998-44A2-BF57-CFBB578B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28900"/>
            <a:ext cx="20002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single index</a:t>
            </a:r>
          </a:p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single query processor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761226-B34D-4DD4-9C29-D7386A54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43400"/>
            <a:ext cx="2857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bottleneck / single failure point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59A36B-2984-44CE-91A5-8E45FD8A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1054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one machine handles indexing and queries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1ADF33-DAC1-4696-9754-849A7FC2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002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43"/>
                </a:solidFill>
              </a:defRPr>
            </a:pPr>
            <a:r>
              <a:rPr sz="1875" b="1">
                <a:solidFill>
                  <a:srgbClr val="102A43"/>
                </a:solidFill>
              </a:rPr>
              <a:t>Distributed 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93D0F6-9769-4C39-BD1B-48744AD0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Coordinator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FC779E-5F8F-41EC-A585-9BDED28D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718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fan-out query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4EDC9-73DE-46E7-B825-0BBC4629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52800"/>
            <a:ext cx="6286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B9EC78-27C8-4F89-9FAD-214C5385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1314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80F368-9C9B-4E3A-9261-F54C16BA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371850"/>
            <a:ext cx="1314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A1E44E-45F8-4764-9310-34C82718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114800"/>
            <a:ext cx="1314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Node 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8AF025-9E8D-4140-AFCF-208AC277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8387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E7C7B"/>
                </a:solidFill>
              </a:defRPr>
            </a:pPr>
            <a:r>
              <a:rPr sz="1350" b="1">
                <a:solidFill>
                  <a:srgbClr val="0E7C7B"/>
                </a:solidFill>
              </a:rPr>
              <a:t>parallel local 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D85064-AC20-4FB8-958C-E609813B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5780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Data is partitioned and query work is sent to multiple nodes in parallel.</a:t>
            </a:r>
          </a:p>
        </p:txBody>
      </p:sp>
    </p:spTree>
    <p:extLst>
      <p:ext uri="{BB962C8B-B14F-4D97-AF65-F5344CB8AC3E}">
        <p14:creationId xmlns:p14="http://schemas.microsoft.com/office/powerpoint/2010/main" val="17803368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13A86C-BAB3-41B6-B8F2-39B99095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Architecture has an offline layer and an online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8A8FE6-B677-4DAE-A10C-B243C309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offline layer prepares shard/index files; the online layer serves distributed queries using those files.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FEFAE4-228B-41E5-91E1-E51EED71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A57E63-28AD-48FC-8444-AC9E8F8E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6FC7A-C323-459F-A7B5-3D7063A6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BF44C-7B5E-4D37-A4F0-9FE72731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Crawl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0A7B4-5DEF-4118-8286-F5A800D3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0099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37C036-DE00-4BC1-A862-05263E58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C9EE22-3EE6-4103-AF88-2F397E90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099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2461A9-087F-4B68-A4D1-D0FF91D1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Shard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8AA567-E46C-43F3-9CD7-18F17CD4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099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C1E2B8-3504-4E68-B355-AD5873DD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Index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0EBFF7-BE06-4540-88B7-8AC442A0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099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5E0674-9711-4049-A3E8-72643C03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Search nodes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391DA-8364-41CE-B932-CC6BD9371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99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B083D3-E06B-4EE7-AA59-E086BDE5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Coordinator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E7D386-111E-4C10-8384-7B686296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0099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605F53-41E0-4FF9-B8B0-1C79447E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857500"/>
            <a:ext cx="11620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Web UI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B8C6E6-66AC-47C2-90CD-3DF58AB0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717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Offline layer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F57DCE-BA29-4902-A325-1A12A228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717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Online layer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30E6E0-83F3-47E7-A5EA-19DDAFE3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910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8F5F4"/>
          </a:solidFill>
          <a:ln xmlns:a="http://schemas.openxmlformats.org/drawingml/2006/main" w="9525">
            <a:solidFill>
              <a:srgbClr val="B8DE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354A55-6C85-4998-861E-1151BAA8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0550"/>
            <a:ext cx="415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Offline output: raw pages, documents.jsonl, shard files, index files, global statistics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E94648-A811-4168-8203-3BB21209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910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EF3FA"/>
          </a:solidFill>
          <a:ln xmlns:a="http://schemas.openxmlformats.org/drawingml/2006/main" w="9525">
            <a:solidFill>
              <a:srgbClr val="BDD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9C137B-90F2-4C50-84E9-F1C48091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00550"/>
            <a:ext cx="415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Runtime output: user query, parallel node responses, merged ranked result list</a:t>
            </a:r>
          </a:p>
        </p:txBody>
      </p:sp>
    </p:spTree>
    <p:extLst>
      <p:ext uri="{BB962C8B-B14F-4D97-AF65-F5344CB8AC3E}">
        <p14:creationId xmlns:p14="http://schemas.microsoft.com/office/powerpoint/2010/main" val="7021978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5A46B-7501-4197-9850-A9737EFF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Implementation is split across two connected repositories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079B3B-0C48-485C-A727-3683BE06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offline repository prepares data artifacts; the runtime repository consumes them through a fixed contract.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54130-700F-40C1-8A82-F56A3CC8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41CDEB-F608-455D-8A8B-C3FE4B5B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ED877-422C-4246-BE0F-0052FE64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7E56D5-185F-4CA0-B9BD-0747B662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574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Offline repository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FFBBB2-6FBE-443D-9BD1-C77D51AC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277E8E-9570-4BDE-8B74-5BD6D20F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controlled crawling from allowed domains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F6D724-5103-4C59-A456-1EBF831BB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1E7DDC-CC53-4750-9C4F-FFC60727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76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HTML parsing into documents.jsonl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7EF02F-8CDE-49E6-8C08-E20D52B48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9EBDAD-235E-4C1F-88BC-4417F2E7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partitioned shard files for nodes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288FC1-6334-467F-8097-2DAD990C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1468F7-D355-4DEE-9F26-5DE7DC0C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81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node index folders plus global_stats.json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BAD2FC-0D78-47E5-AD6B-C4119937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574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Runtime repository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322557-4A88-4D1C-80B2-9671BC1E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1CC52A-EAAF-4A26-A61B-BC78E587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24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gRPC search-node services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14C35B-791A-48C9-8C8F-BA60CD51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12A882-9D98-49A1-B6EB-95DB2008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76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coordinator fan-out and timeout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453FD1-894D-4FCD-892B-B7368B93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9065CD-02F0-458F-BB15-A75AC165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290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score-based result aggregation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22EEC1-B2D0-4F3F-A414-B090489A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69B474-4C4B-4D08-9E54-FA32A824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81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web/API result display with node status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D4CDCF-7BD4-4452-BA84-291ABD4A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219700"/>
            <a:ext cx="6286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F4D49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851429-D937-43BC-AD86-7B727AC2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3721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Shared contract: shard files, node indexes, global stats, QueryRequest, SearchResult</a:t>
            </a:r>
          </a:p>
        </p:txBody>
      </p:sp>
    </p:spTree>
    <p:extLst>
      <p:ext uri="{BB962C8B-B14F-4D97-AF65-F5344CB8AC3E}">
        <p14:creationId xmlns:p14="http://schemas.microsoft.com/office/powerpoint/2010/main" val="15779602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411AE1-A4F1-4641-9D09-9D3585FC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Offline pipeline builds the data and index 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7BBA03-11EC-4302-B93D-D6BCAFEA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FA-1 implementation prepares the files loaded by search nodes.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8AD5D6-C5E5-4C59-A472-2A98BFBA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9A87C1-E867-4538-8AE9-36515ED1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315679-BC8D-4F4C-ABEB-2F6A5B8A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8BEF5B-3B81-4C63-B7C6-929C69EE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Crawler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C319B4-AC6A-4DEA-B627-F9F3688A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1930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Visits allowed domains, respects robots/limits, saves raw HTML offline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00E408-B29A-4023-A34F-7A3B03D0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9555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8362C0-F989-45A3-AC3A-3A4ADB47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19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Parser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523408-7A53-4A61-A73A-92A07CDF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3845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Extracts title, URL, source domain, visible text, and token count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8E389A-E67B-42C3-AAB2-B8A6B805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147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7477E5-E7B2-43C7-ACA9-B6422EB8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C5CE7"/>
                </a:solidFill>
              </a:defRPr>
            </a:pPr>
            <a:r>
              <a:rPr sz="1800" b="1">
                <a:solidFill>
                  <a:srgbClr val="6C5CE7"/>
                </a:solidFill>
              </a:rPr>
              <a:t>Partitioner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04D348-8ADD-45B0-B466-B8DEA292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5760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Splits documents into node-owned shard files using range partitioning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32FEA1-8F72-474C-B048-34ADE9C5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3385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D06FCC-6DA0-4B41-AE77-D82F606D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A93B"/>
                </a:solidFill>
              </a:defRPr>
            </a:pPr>
            <a:r>
              <a:rPr sz="1800" b="1">
                <a:solidFill>
                  <a:srgbClr val="F2A93B"/>
                </a:solidFill>
              </a:rPr>
              <a:t>Index builder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F17100-62D8-40CF-8D07-342D179D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476750"/>
            <a:ext cx="657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Creates token postings, document metadata, and global IDF statistics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4E82F3-67C8-4A95-8C55-B225D7C3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530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227854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5BD4DD-1E3D-4169-8C25-2C56FCFF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Partitioned indexing makes each node independent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797EE-8279-457E-BDE4-A30E073A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Each search node can load only its shard and its local index.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F23820-C8F3-4FA6-A6AB-1CAC9851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3402F3-A8A8-4FD3-B1B4-7EE53455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0CB2C1-57F2-45C7-9D77-69CEF6AC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ECF0E-DFA9-41AB-9A1B-7BA91FD9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documents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34C16D-D7EB-42AE-8C6F-538795BC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28925"/>
            <a:ext cx="6096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002394-F933-4C6D-8EE8-E7A03CDC3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288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F0ACA7-F4D1-46F7-A9B4-F27D671C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9527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D4A9DF-EFB2-40CE-BA2B-544B9407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676650"/>
            <a:ext cx="1238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shard 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47A1C9-C031-4CD2-A114-AD2810832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434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Range partitioning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F19B05-4C05-4626-B9F9-E9B73AAE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09800"/>
            <a:ext cx="38100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76FCB7-9A5E-49E5-887E-49511A4B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908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Local inverted index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A7B3AA-8D68-42DF-BB23-1C2EA8AE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124200"/>
            <a:ext cx="295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term -&gt; [(doc_id, tf, positions)]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query terms are matched locally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scores use global_stats.json</a:t>
            </a:r>
          </a:p>
        </p:txBody>
      </p:sp>
    </p:spTree>
    <p:extLst>
      <p:ext uri="{BB962C8B-B14F-4D97-AF65-F5344CB8AC3E}">
        <p14:creationId xmlns:p14="http://schemas.microsoft.com/office/powerpoint/2010/main" val="13105535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62EFA5-A8F2-4434-9D2C-038FD014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Core implementation follows a staged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A6872-82D1-4B49-BDB7-29D46A57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code keeps crawling, parsing, sharding, and indexing as separate steps.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987A52-C957-4D37-9B52-E42DA087E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7E6F12-5982-4D0A-A762-CAB69045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F176B6-320B-41CD-B6BD-D0EEB5A8E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8C8C97-7C1F-4523-9FAB-28F61701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4876800" cy="365760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2E768C-1604-47E7-95EA-22F131D8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47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Pipeline entry point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81BC70-BF1C-446B-8467-49EDCEDF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76550"/>
            <a:ext cx="40005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def run_pipeline(args):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    crawl(config)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    parse_html(raw_dir, documents.jsonl)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    partition_documents(documents, shards, n)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</a:defRPr>
            </a:pPr>
            <a:r>
              <a:rPr sz="1500" b="0">
                <a:solidFill>
                  <a:srgbClr val="17212B"/>
                </a:solidFill>
              </a:rPr>
              <a:t>    build_indexes(shards, indexes)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A5BBDB-8558-4C4F-BA13-73E9E77D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7B"/>
                </a:solidFill>
              </a:defRPr>
            </a:pPr>
            <a:r>
              <a:rPr sz="1650" b="1">
                <a:solidFill>
                  <a:srgbClr val="0E7C7B"/>
                </a:solidFill>
              </a:rPr>
              <a:t>Why this matters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F9140-AB02-45B8-BD69-62467554B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8635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Each stage has a clear input and output, so failures are easier to locate and individual stages can be rerun.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DCC08D-F7D6-41DB-BE9E-9B4788B6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62150"/>
            <a:ext cx="4171950" cy="3657600"/>
          </a:xfrm>
          <a:prstGeom xmlns:a="http://schemas.openxmlformats.org/drawingml/2006/main" prst="roundRect">
            <a:avLst>
              <a:gd name="adj" fmla="val 20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AB667D-D414-443E-B473-633D918D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Index structure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F2FD71-ACBD-460A-8AC0-1DB331AB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38450"/>
            <a:ext cx="314325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index = {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"node_id": "node_1",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"documents": {...},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"terms": {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 "query": [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   {"doc_id": "...", "tf": 2}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 ]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}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A5E78-30B3-4AA2-8BF0-0ABCCA3C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105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This is the local state loaded by every search-node process.</a:t>
            </a:r>
          </a:p>
        </p:txBody>
      </p:sp>
    </p:spTree>
    <p:extLst>
      <p:ext uri="{BB962C8B-B14F-4D97-AF65-F5344CB8AC3E}">
        <p14:creationId xmlns:p14="http://schemas.microsoft.com/office/powerpoint/2010/main" val="20654154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D0D935-9E6B-4003-A089-A3CC494C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Current output proves the offline layer is working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4495D-C6B9-4607-9E08-DFBABFB8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These commands can be shown directly during evaluation.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418B78-F897-4DC6-8DA5-DE638203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D4C568-A08C-4FC8-AF10-6EC9E7D6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4E3D85-5A81-42F1-9E61-588A9864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288EBB-7F8C-4E5B-925B-53EB15A5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495300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102A4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8B51C3-AF9A-4247-9388-D21BC2B4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47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python app.py stats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721059-2C28-4D35-9082-2F74DDE6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81300"/>
            <a:ext cx="40767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Raw HTML pages: 1000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Metadata records: 1000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Parsed documents: 1000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Global indexed documents: 1000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node_1: 334 documents, 35803 terms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node_2: 334 documents, 13726 terms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node_3: 332 documents, 21854 terms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6A8CDB-58D9-412D-808A-B756D071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43100"/>
            <a:ext cx="495300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5D084C-104A-4735-A68D-702702A4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479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A43"/>
                </a:solidFill>
              </a:defRPr>
            </a:pPr>
            <a:r>
              <a:rPr sz="1575" b="1">
                <a:solidFill>
                  <a:srgbClr val="102A43"/>
                </a:solidFill>
              </a:rPr>
              <a:t>python app.py search "parallel query processing"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213982-5AFB-4595-93E5-89D48B53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800350"/>
            <a:ext cx="390525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1. The Kubernetes API | Kubernetes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Score: 0.9916 | Node: node_1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2. PostgreSQL 18.6, 17.11, 16.15...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Score: 0.9632 | Node: node_2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3. Labels and Selectors | Kubernetes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   Score: 0.9484 | Node: node_1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47F0D0-39FB-4EBB-81FB-8D0E8048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93395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B78"/>
                </a:solidFill>
              </a:defRPr>
            </a:pPr>
            <a:r>
              <a:rPr sz="1275" b="0">
                <a:solidFill>
                  <a:srgbClr val="5D6B78"/>
                </a:solidFill>
              </a:rPr>
              <a:t>The result list shows which partition produced each match.</a:t>
            </a:r>
          </a:p>
        </p:txBody>
      </p:sp>
    </p:spTree>
    <p:extLst>
      <p:ext uri="{BB962C8B-B14F-4D97-AF65-F5344CB8AC3E}">
        <p14:creationId xmlns:p14="http://schemas.microsoft.com/office/powerpoint/2010/main" val="981008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5C4E9F-ACBE-4375-8BD9-62A68D56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Distributed query runtime serves the prepared indexes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366130-CBBD-44D0-A4F8-22707317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This layer turns local shard indexes into one searchable service.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F1B499-3677-4D81-8AB7-7FE42586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FFE23-9477-4559-8D81-6B376DE7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90FEF-C706-40F0-BEF2-08FC1880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A04B3F-BECC-42E3-AB07-1A29F18B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2405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8900F5-A1B9-4F62-9D1C-957D4396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764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267B1"/>
                </a:solidFill>
              </a:defRPr>
            </a:pPr>
            <a:r>
              <a:rPr sz="1650" b="1">
                <a:solidFill>
                  <a:srgbClr val="3267B1"/>
                </a:solidFill>
              </a:rPr>
              <a:t>Search node service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01907-5E09-46D6-B948-3317F9C4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955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Loads one shard and local index; tokenizes query; returns local top-K results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A960DF-303D-47B1-889F-09FA3514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8130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A7F775-DE01-4555-A81E-01CECCAC6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Coordinator service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86BB2D-9144-43DA-93A9-61906E13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527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Receives query; calls all nodes in parallel; handles timeout; merges results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F89CDB-77FC-4A47-A30E-308AFF09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3855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B32EAD-60AD-4BEF-85B8-297FDA64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90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7D32"/>
                </a:solidFill>
              </a:defRPr>
            </a:pPr>
            <a:r>
              <a:rPr sz="1650" b="1">
                <a:solidFill>
                  <a:srgbClr val="2E7D32"/>
                </a:solidFill>
              </a:rPr>
              <a:t>API / Web UI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F072E-D304-462F-983A-A80C10E4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100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Accepts user input; displays ranked results, source URLs, scores, and node 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45682C-425C-4B3B-86B8-1FC82D76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95800"/>
            <a:ext cx="1000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C51171-C5D8-4E19-BB24-8CD1A4BD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482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C5CE7"/>
                </a:solidFill>
              </a:defRPr>
            </a:pPr>
            <a:r>
              <a:rPr sz="1650" b="1">
                <a:solidFill>
                  <a:srgbClr val="6C5CE7"/>
                </a:solidFill>
              </a:rPr>
              <a:t>Config layer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7C3DF3-9C36-420A-8AB6-7D81CB91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Stores node IDs, host addresses, ports, shard assignments, and timeouts</a:t>
            </a:r>
          </a:p>
        </p:txBody>
      </p:sp>
    </p:spTree>
    <p:extLst>
      <p:ext uri="{BB962C8B-B14F-4D97-AF65-F5344CB8AC3E}">
        <p14:creationId xmlns:p14="http://schemas.microsoft.com/office/powerpoint/2010/main" val="11496083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D537F6-1D2E-4FD2-9C0C-2B335C79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gRPC defines the communication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938599-4EAB-43EA-8ECA-9B17D234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coordinator and search nodes communicate through request and response messages.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1255A-70CA-4CA9-BDE4-798FE938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0C84E-7AB9-49B0-897F-F430B5134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964A19-5979-4125-9CE2-38C7C521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AE8DBB-E164-41A3-A0AD-BA1843C4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43434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0A4F43-3734-4700-BA9B-3082DB86A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343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QueryRequest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02E63-AF08-49D1-974E-247D6040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14650"/>
            <a:ext cx="2476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query_text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top_k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request_id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timeout_ms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533E13-BFDA-44D1-B0CC-FC202179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00250"/>
            <a:ext cx="43434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FB6070-EC02-491C-8806-DF0CEBF8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SearchResponse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51D682-34D0-4614-959E-69B05131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14650"/>
            <a:ext cx="2476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node_id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status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results[]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212B"/>
                </a:solidFill>
              </a:defRPr>
            </a:pPr>
            <a:r>
              <a:rPr sz="1575" b="0">
                <a:solidFill>
                  <a:srgbClr val="17212B"/>
                </a:solidFill>
              </a:rPr>
              <a:t>latency_ms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AA35D1-E68A-40BC-B52B-3A943C03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505200"/>
            <a:ext cx="7429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D6B7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613243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73E2E6-5029-4161-AFA7-830FAE0D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Coordinator controls fan-out, timeout, and merge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4DF38-4449-41EF-AB08-5163B416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coordinator is the central runtime component in the online layer.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9E9E2C-FC3B-4E91-A40B-4CD289A7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655FE-671C-4681-A7B8-C2AC02E6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0D8CE3-26A2-46EE-AB40-D9BDA305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09FB15-CCAA-4799-905A-207128E5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FECFFD-27A5-4FED-A1B0-01D97D8D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9240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receive query and top-K limit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CE5C48-8058-417A-B530-B63638C5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908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FF2F8A-5063-4ECE-8A24-3FCA198C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670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send QueryRequest to all nodes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A1C6D8-8FE8-4219-B723-37DB21B6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337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98942E-DF41-4ED5-BD14-3929014E2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4099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wait with per-node timeout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3D863C-9E03-4FA0-ADC6-20987F30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767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E035D7-1B56-4704-9B6C-55C13F8C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1529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merge local top-K results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1CF588-33CA-4070-8BBD-674E1EB5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19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4ECB12-CF1C-4301-BC8F-928B6A43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</a:defRPr>
            </a:pPr>
            <a:r>
              <a:rPr sz="1650" b="0">
                <a:solidFill>
                  <a:srgbClr val="17212B"/>
                </a:solidFill>
              </a:rPr>
              <a:t>return ranked response with node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EA01F2-620B-4EDB-A5F9-B3426360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43150"/>
            <a:ext cx="3143250" cy="232410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9344C9-B9CF-4F18-B3E4-DF5971A3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05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43"/>
                </a:solidFill>
              </a:defRPr>
            </a:pPr>
            <a:r>
              <a:rPr sz="1800" b="1">
                <a:solidFill>
                  <a:srgbClr val="102A43"/>
                </a:solidFill>
              </a:rPr>
              <a:t>Merge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C3A993-700C-434E-BCB4-6B791D39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62300"/>
            <a:ext cx="2381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combine node results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sort by score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remove duplicate URLs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apply top-K cut-off</a:t>
            </a:r>
          </a:p>
          <a:p xmlns:a="http://schemas.openxmlformats.org/drawingml/2006/main">
            <a:pPr algn="ctr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show node status</a:t>
            </a:r>
          </a:p>
        </p:txBody>
      </p:sp>
    </p:spTree>
    <p:extLst>
      <p:ext uri="{BB962C8B-B14F-4D97-AF65-F5344CB8AC3E}">
        <p14:creationId xmlns:p14="http://schemas.microsoft.com/office/powerpoint/2010/main" val="7979676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63C342-BDDA-45A7-A108-7B388856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Each search node performs local retrieval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C8B49C-FA1B-4AAD-BC74-EDB5DF87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Nodes do not need the full corpus; they search only their own partition.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A55EF-C9BE-49EE-8FA9-1E55CE6E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1D5C6-8131-439C-8460-48894A67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8DA9C-1368-4CC0-815A-266B9AD9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0BBACB-B918-45C2-B795-1917D355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62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267B1"/>
                </a:solidFill>
              </a:defRPr>
            </a:pPr>
            <a:r>
              <a:rPr sz="1800" b="1">
                <a:solidFill>
                  <a:srgbClr val="3267B1"/>
                </a:solidFill>
              </a:rPr>
              <a:t>Node startup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11E25-EDD5-41F9-8A74-35DFB6E8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05A2AD-5026-4074-8E8B-700FC76A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628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 assigned shard 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9673E5-DB08-4022-8066-7D186A60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BDE9AD-114E-4B0F-892A-8A396C57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1813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load local inverted index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D84AA-A4E1-4CAC-A1EF-5551DA99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9A2AE9-26BB-4462-8853-0CE744D3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7338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register node_id and address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BB4321-956B-4D21-B25C-C0E54A95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62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B"/>
                </a:solidFill>
              </a:defRPr>
            </a:pPr>
            <a:r>
              <a:rPr sz="1800" b="1">
                <a:solidFill>
                  <a:srgbClr val="0E7C7B"/>
                </a:solidFill>
              </a:rPr>
              <a:t>Query handling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1884E1-B998-49BB-B16B-AB9828F1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EDC019-DC50-42AE-9E3A-E10B25F4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628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tokenize incoming query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DDE839-12BF-46C1-AFDC-F850A37CD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57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995157-CA16-43DE-8B20-3DE14075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813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lookup postings in local index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3843CA-5783-41D8-BEE4-09D053A5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0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353829-DFD8-4210-8542-AE75B9DA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338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return local top-K results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96C23B-05C7-4304-A5B8-DB2E512B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53000"/>
            <a:ext cx="68961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8EA"/>
          </a:solidFill>
          <a:ln xmlns:a="http://schemas.openxmlformats.org/drawingml/2006/main" w="9525">
            <a:solidFill>
              <a:srgbClr val="F4D49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5A739A-AAA6-4F98-812E-42F45DDE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162550"/>
            <a:ext cx="6134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7212B"/>
                </a:solidFill>
              </a:defRPr>
            </a:pPr>
            <a:r>
              <a:rPr sz="1350" b="0">
                <a:solidFill>
                  <a:srgbClr val="17212B"/>
                </a:solidFill>
              </a:rPr>
              <a:t>This design supports scalability because adding a node means assigning another partition.</a:t>
            </a:r>
          </a:p>
        </p:txBody>
      </p:sp>
    </p:spTree>
    <p:extLst>
      <p:ext uri="{BB962C8B-B14F-4D97-AF65-F5344CB8AC3E}">
        <p14:creationId xmlns:p14="http://schemas.microsoft.com/office/powerpoint/2010/main" val="35965232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6AB431-10F3-41DA-8CD7-72C15929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UI and fault handling make the system demonstrable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51EF9C-F25B-46ED-A142-E56750DA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faculty demo should show normal results and unavailable-node behavior.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0D02FE-4BC0-48B5-AD0A-2F19CC6B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253DC-6697-44B2-B0BE-85361DC4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999CD4-236F-4E28-978F-8839816C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443F80-4B74-4910-A928-B1B8D57F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7D32"/>
                </a:solidFill>
              </a:defRPr>
            </a:pPr>
            <a:r>
              <a:rPr sz="1800" b="1">
                <a:solidFill>
                  <a:srgbClr val="2E7D32"/>
                </a:solidFill>
              </a:rPr>
              <a:t>Web/API display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41718D-0B79-48E3-809B-087329D1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81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EEC9DF-3E87-48CD-A822-5363AA0BC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7051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query input box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6A55B2-C67F-489A-B3F2-89313F495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474B52-83CF-4D1B-B2D1-7577A9E6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2575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ranked result list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54C0A-8759-4EAC-BDAF-73A72AB8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86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6DC7FF-4ECB-4858-BDB1-F3389793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100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source URL and 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09279C-7BFB-4893-BB0E-93570039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38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7D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92D58D-251C-487F-9B9F-B4D710ED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624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node status/latency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97F8F9-003C-4648-92FD-C2481546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38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2413A"/>
                </a:solidFill>
              </a:defRPr>
            </a:pPr>
            <a:r>
              <a:rPr sz="1800" b="1">
                <a:solidFill>
                  <a:srgbClr val="C2413A"/>
                </a:solidFill>
              </a:rPr>
              <a:t>Failure behavior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F2B33E-55A9-4C60-B145-8F92D429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81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E5789A-E375-48E1-B82E-64740483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051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set deadline per node call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312C2D-BCB5-4063-9064-EDE4A790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4035D1-7B79-4A78-86C6-763357D2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575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skip failed node response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58B40C-A631-4605-A466-15A3B0B9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86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A43CC6-2CF3-4A1C-BC7F-A6D6C3D4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8100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return partial results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C8EE79-ADF4-410F-A3D6-908AE0E8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38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207350-42D5-47B9-9EEB-41062BCD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3624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show which node failed</a:t>
            </a:r>
          </a:p>
        </p:txBody>
      </p:sp>
    </p:spTree>
    <p:extLst>
      <p:ext uri="{BB962C8B-B14F-4D97-AF65-F5344CB8AC3E}">
        <p14:creationId xmlns:p14="http://schemas.microsoft.com/office/powerpoint/2010/main" val="120421631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6D833F-98CE-4002-867F-B3FC37EA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FA-1 concepts are visible across the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A63265-E791-4C14-8967-7B63F146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project maps to Unit 1 and Unit 2 through concrete implementation choices.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AA57E9-4CD1-412D-99AD-DDC4295BF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0F114-C200-427F-88E1-6691D6E5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55418-D608-474D-858E-5EFD8637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0F58CD-7577-4696-BA49-DB7271DC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57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7C7B"/>
                </a:solidFill>
              </a:defRPr>
            </a:pPr>
            <a:r>
              <a:rPr sz="1875" b="1">
                <a:solidFill>
                  <a:srgbClr val="0E7C7B"/>
                </a:solidFill>
              </a:rPr>
              <a:t>Unit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1FB41C-E020-41F0-925B-53FEF492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572722-2873-4D6D-834C-5995493D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7241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architecture: coordinator + search nodes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80D6FC-05FF-470C-B67C-9CAA42CA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9F8498-A222-48E5-8CB8-8400519D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276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design issue: partitioning + ranking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AD1477-F456-46A2-996C-98A0CDEB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D80F1-42F6-4100-8320-D6A05772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8290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scalability through sharding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478A4A-E106-4420-B0F5-A2D6D970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7EF49-469F-4F90-A378-32097D48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3815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middleware boundary between services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9CEC26-24D9-4B3A-8643-27DC7642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267B1"/>
                </a:solidFill>
              </a:defRPr>
            </a:pPr>
            <a:r>
              <a:rPr sz="1875" b="1">
                <a:solidFill>
                  <a:srgbClr val="3267B1"/>
                </a:solidFill>
              </a:rPr>
              <a:t>Unit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66DD05-4322-482A-9B98-264BAE1A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00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49102D-E7C9-4337-B9CB-720CDAC7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241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RPC using gRPC service calls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6E36EC-FFD0-4243-A358-471F3F2D7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030BC7-4D12-42E5-B60C-48045FEE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766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request/response message schema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5ED9DC-0A9F-445E-B11C-9696AEA2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08B62B-8D9B-4712-828B-46E5A35B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290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node identifiers and addresses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0C3239-DA41-4ADC-A4CF-268BFEEF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57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7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30DF5D-28B7-4A8F-AEB2-14CE3ACF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81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timeouts for partial results</a:t>
            </a:r>
          </a:p>
        </p:txBody>
      </p:sp>
    </p:spTree>
    <p:extLst>
      <p:ext uri="{BB962C8B-B14F-4D97-AF65-F5344CB8AC3E}">
        <p14:creationId xmlns:p14="http://schemas.microsoft.com/office/powerpoint/2010/main" val="36930317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79A5BD-BA52-41A1-9000-6CE0F07D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Evaluation demo sequence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B677B0-932A-406E-B155-4AD8A7E2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78"/>
                </a:solidFill>
              </a:defRPr>
            </a:pPr>
            <a:r>
              <a:rPr sz="1350" b="0">
                <a:solidFill>
                  <a:srgbClr val="5D6B78"/>
                </a:solidFill>
              </a:rPr>
              <a:t>The demo should prove that the offline and online layers connect into one system.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20A63-47C3-4ED5-B0E7-C267941B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1066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DCA52C-770C-437F-9170-FD2E7382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5151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B78"/>
                </a:solidFill>
              </a:defRPr>
            </a:pPr>
            <a:r>
              <a:rPr sz="975" b="0">
                <a:solidFill>
                  <a:srgbClr val="5D6B78"/>
                </a:solidFill>
              </a:rPr>
              <a:t>Distributed Search Engine | FA-1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50E19C-D394-4F0E-82F1-4CFB8CAF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D6B78"/>
                </a:solidFill>
              </a:defRPr>
            </a:pPr>
            <a:r>
              <a:rPr sz="1050" b="1">
                <a:solidFill>
                  <a:srgbClr val="5D6B78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1C03D2-B95C-4F17-BA73-0F8DCFF2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526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7DDA25-C522-4DE5-909A-7A3A1917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7716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Run offline pipeline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100202-F6EB-4872-84A8-15A3DDDD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8097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generate documents, shards, indexes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1ED8C4-3A04-4EC2-AC12-B266D906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622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1672A4-315E-4095-873B-0E249610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3812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Share generated artifacts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E4CD87-C9FE-4E31-9464-6CC6CB7A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193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use data/shards and indexes from the offline repo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DAA589-9DEB-444D-A6DE-AF9E63EB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718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645837-2C94-43D9-A62C-5227BAAA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908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Start search-node services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CAA340-7F66-40BD-B515-2CD86A686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028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each node loads one shard and index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EE6EFA-336F-43C6-9C57-78D6D8B3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814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5FA955-7442-4E4E-BA84-8E8B48EC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600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Start coordinator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3B50D1-7295-41FD-9035-E8A7B80D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385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register node addresses and send fan-out query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40C0EC-8C8A-4970-969E-463A7ACC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910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E8DB97-D182-4A43-8651-DCD1E494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2100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Search from UI/API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B8BFE3-BF93-421D-9B95-1D6972A2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2481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display merged ranked results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CC20AB-F633-4D69-9CE0-264D6C5F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2413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72C0DF-246F-4ABD-8E8D-85B127ED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8196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Stop one node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599A1B-7BEB-4A4E-8C83-D72818E1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577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B78"/>
                </a:solidFill>
              </a:defRPr>
            </a:pPr>
            <a:r>
              <a:rPr sz="1425" b="0">
                <a:solidFill>
                  <a:srgbClr val="5D6B78"/>
                </a:solidFill>
              </a:rPr>
              <a:t>show timeout and partial result behavior</a:t>
            </a:r>
          </a:p>
        </p:txBody>
      </p:sp>
    </p:spTree>
    <p:extLst>
      <p:ext uri="{BB962C8B-B14F-4D97-AF65-F5344CB8AC3E}">
        <p14:creationId xmlns:p14="http://schemas.microsoft.com/office/powerpoint/2010/main" val="280900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2026-09-02T17:55:20.2270000Z</dcterms:created>
  <dcterms:modified xsi:type="dcterms:W3CDTF">2026-09-02T17:55:20.2270000Z</dcterms:modified>
</coreProperties>
</file>